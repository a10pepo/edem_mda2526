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6858000" cx="12192000"/>
  <p:notesSz cx="12192000" cy="6858000"/>
  <p:embeddedFontLst>
    <p:embeddedFont>
      <p:font typeface="Candara"/>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3E3935-D004-4B47-B57F-3D0A233C232D}">
  <a:tblStyle styleId="{313E3935-D004-4B47-B57F-3D0A233C232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2F27DF3-DFDB-4867-B384-2E589A40817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Candar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andara-italic.fntdata"/><Relationship Id="rId50" Type="http://schemas.openxmlformats.org/officeDocument/2006/relationships/font" Target="fonts/Candara-bold.fntdata"/><Relationship Id="rId52" Type="http://schemas.openxmlformats.org/officeDocument/2006/relationships/font" Target="fonts/Candara-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a4bbfcd403_0_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g3a4bbfcd403_0_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a57316d6c9_0_280: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a57316d6c9_0_28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a57316d6c9_0_32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a57316d6c9_0_32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4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4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5914f0248_0_28: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a5914f0248_0_2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3" name="Shape 13"/>
        <p:cNvGrpSpPr/>
        <p:nvPr/>
      </p:nvGrpSpPr>
      <p:grpSpPr>
        <a:xfrm>
          <a:off x="0" y="0"/>
          <a:ext cx="0" cy="0"/>
          <a:chOff x="0" y="0"/>
          <a:chExt cx="0" cy="0"/>
        </a:xfrm>
      </p:grpSpPr>
      <p:sp>
        <p:nvSpPr>
          <p:cNvPr id="14" name="Google Shape;14;p2"/>
          <p:cNvSpPr txBox="1"/>
          <p:nvPr>
            <p:ph idx="11" type="ftr"/>
          </p:nvPr>
        </p:nvSpPr>
        <p:spPr>
          <a:xfrm>
            <a:off x="5835172" y="6582022"/>
            <a:ext cx="523800" cy="139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9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lvl1pPr indent="0" lvl="0" marL="38100">
              <a:lnSpc>
                <a:spcPct val="104761"/>
              </a:lnSpc>
              <a:spcBef>
                <a:spcPts val="0"/>
              </a:spcBef>
              <a:buNone/>
              <a:defRPr b="0" i="0" sz="1050">
                <a:solidFill>
                  <a:schemeClr val="lt1"/>
                </a:solidFill>
                <a:latin typeface="Calibri"/>
                <a:ea typeface="Calibri"/>
                <a:cs typeface="Calibri"/>
                <a:sym typeface="Calibri"/>
              </a:defRPr>
            </a:lvl1pPr>
            <a:lvl2pPr indent="0" lvl="1" marL="38100">
              <a:lnSpc>
                <a:spcPct val="104761"/>
              </a:lnSpc>
              <a:spcBef>
                <a:spcPts val="0"/>
              </a:spcBef>
              <a:buNone/>
              <a:defRPr b="0" i="0" sz="1050">
                <a:solidFill>
                  <a:schemeClr val="lt1"/>
                </a:solidFill>
                <a:latin typeface="Calibri"/>
                <a:ea typeface="Calibri"/>
                <a:cs typeface="Calibri"/>
                <a:sym typeface="Calibri"/>
              </a:defRPr>
            </a:lvl2pPr>
            <a:lvl3pPr indent="0" lvl="2" marL="38100">
              <a:lnSpc>
                <a:spcPct val="104761"/>
              </a:lnSpc>
              <a:spcBef>
                <a:spcPts val="0"/>
              </a:spcBef>
              <a:buNone/>
              <a:defRPr b="0" i="0" sz="1050">
                <a:solidFill>
                  <a:schemeClr val="lt1"/>
                </a:solidFill>
                <a:latin typeface="Calibri"/>
                <a:ea typeface="Calibri"/>
                <a:cs typeface="Calibri"/>
                <a:sym typeface="Calibri"/>
              </a:defRPr>
            </a:lvl3pPr>
            <a:lvl4pPr indent="0" lvl="3" marL="38100">
              <a:lnSpc>
                <a:spcPct val="104761"/>
              </a:lnSpc>
              <a:spcBef>
                <a:spcPts val="0"/>
              </a:spcBef>
              <a:buNone/>
              <a:defRPr b="0" i="0" sz="1050">
                <a:solidFill>
                  <a:schemeClr val="lt1"/>
                </a:solidFill>
                <a:latin typeface="Calibri"/>
                <a:ea typeface="Calibri"/>
                <a:cs typeface="Calibri"/>
                <a:sym typeface="Calibri"/>
              </a:defRPr>
            </a:lvl4pPr>
            <a:lvl5pPr indent="0" lvl="4" marL="38100">
              <a:lnSpc>
                <a:spcPct val="104761"/>
              </a:lnSpc>
              <a:spcBef>
                <a:spcPts val="0"/>
              </a:spcBef>
              <a:buNone/>
              <a:defRPr b="0" i="0" sz="1050">
                <a:solidFill>
                  <a:schemeClr val="lt1"/>
                </a:solidFill>
                <a:latin typeface="Calibri"/>
                <a:ea typeface="Calibri"/>
                <a:cs typeface="Calibri"/>
                <a:sym typeface="Calibri"/>
              </a:defRPr>
            </a:lvl5pPr>
            <a:lvl6pPr indent="0" lvl="5" marL="38100">
              <a:lnSpc>
                <a:spcPct val="104761"/>
              </a:lnSpc>
              <a:spcBef>
                <a:spcPts val="0"/>
              </a:spcBef>
              <a:buNone/>
              <a:defRPr b="0" i="0" sz="1050">
                <a:solidFill>
                  <a:schemeClr val="lt1"/>
                </a:solidFill>
                <a:latin typeface="Calibri"/>
                <a:ea typeface="Calibri"/>
                <a:cs typeface="Calibri"/>
                <a:sym typeface="Calibri"/>
              </a:defRPr>
            </a:lvl6pPr>
            <a:lvl7pPr indent="0" lvl="6" marL="38100">
              <a:lnSpc>
                <a:spcPct val="104761"/>
              </a:lnSpc>
              <a:spcBef>
                <a:spcPts val="0"/>
              </a:spcBef>
              <a:buNone/>
              <a:defRPr b="0" i="0" sz="1050">
                <a:solidFill>
                  <a:schemeClr val="lt1"/>
                </a:solidFill>
                <a:latin typeface="Calibri"/>
                <a:ea typeface="Calibri"/>
                <a:cs typeface="Calibri"/>
                <a:sym typeface="Calibri"/>
              </a:defRPr>
            </a:lvl7pPr>
            <a:lvl8pPr indent="0" lvl="7" marL="38100">
              <a:lnSpc>
                <a:spcPct val="104761"/>
              </a:lnSpc>
              <a:spcBef>
                <a:spcPts val="0"/>
              </a:spcBef>
              <a:buNone/>
              <a:defRPr b="0" i="0" sz="1050">
                <a:solidFill>
                  <a:schemeClr val="lt1"/>
                </a:solidFill>
                <a:latin typeface="Calibri"/>
                <a:ea typeface="Calibri"/>
                <a:cs typeface="Calibri"/>
                <a:sym typeface="Calibri"/>
              </a:defRPr>
            </a:lvl8pPr>
            <a:lvl9pPr indent="0" lvl="8" marL="38100">
              <a:lnSpc>
                <a:spcPct val="104761"/>
              </a:lnSpc>
              <a:spcBef>
                <a:spcPts val="0"/>
              </a:spcBef>
              <a:buNone/>
              <a:defRPr b="0" i="0" sz="10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3"/>
          <p:cNvSpPr txBox="1"/>
          <p:nvPr>
            <p:ph type="title"/>
          </p:nvPr>
        </p:nvSpPr>
        <p:spPr>
          <a:xfrm>
            <a:off x="2279046" y="371610"/>
            <a:ext cx="7633800" cy="513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13426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1" type="ftr"/>
          </p:nvPr>
        </p:nvSpPr>
        <p:spPr>
          <a:xfrm>
            <a:off x="5835172" y="6582022"/>
            <a:ext cx="523800" cy="139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9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lvl1pPr indent="0" lvl="0" marL="38100">
              <a:lnSpc>
                <a:spcPct val="104761"/>
              </a:lnSpc>
              <a:spcBef>
                <a:spcPts val="0"/>
              </a:spcBef>
              <a:buNone/>
              <a:defRPr b="0" i="0" sz="1050">
                <a:solidFill>
                  <a:schemeClr val="lt1"/>
                </a:solidFill>
                <a:latin typeface="Calibri"/>
                <a:ea typeface="Calibri"/>
                <a:cs typeface="Calibri"/>
                <a:sym typeface="Calibri"/>
              </a:defRPr>
            </a:lvl1pPr>
            <a:lvl2pPr indent="0" lvl="1" marL="38100">
              <a:lnSpc>
                <a:spcPct val="104761"/>
              </a:lnSpc>
              <a:spcBef>
                <a:spcPts val="0"/>
              </a:spcBef>
              <a:buNone/>
              <a:defRPr b="0" i="0" sz="1050">
                <a:solidFill>
                  <a:schemeClr val="lt1"/>
                </a:solidFill>
                <a:latin typeface="Calibri"/>
                <a:ea typeface="Calibri"/>
                <a:cs typeface="Calibri"/>
                <a:sym typeface="Calibri"/>
              </a:defRPr>
            </a:lvl2pPr>
            <a:lvl3pPr indent="0" lvl="2" marL="38100">
              <a:lnSpc>
                <a:spcPct val="104761"/>
              </a:lnSpc>
              <a:spcBef>
                <a:spcPts val="0"/>
              </a:spcBef>
              <a:buNone/>
              <a:defRPr b="0" i="0" sz="1050">
                <a:solidFill>
                  <a:schemeClr val="lt1"/>
                </a:solidFill>
                <a:latin typeface="Calibri"/>
                <a:ea typeface="Calibri"/>
                <a:cs typeface="Calibri"/>
                <a:sym typeface="Calibri"/>
              </a:defRPr>
            </a:lvl3pPr>
            <a:lvl4pPr indent="0" lvl="3" marL="38100">
              <a:lnSpc>
                <a:spcPct val="104761"/>
              </a:lnSpc>
              <a:spcBef>
                <a:spcPts val="0"/>
              </a:spcBef>
              <a:buNone/>
              <a:defRPr b="0" i="0" sz="1050">
                <a:solidFill>
                  <a:schemeClr val="lt1"/>
                </a:solidFill>
                <a:latin typeface="Calibri"/>
                <a:ea typeface="Calibri"/>
                <a:cs typeface="Calibri"/>
                <a:sym typeface="Calibri"/>
              </a:defRPr>
            </a:lvl4pPr>
            <a:lvl5pPr indent="0" lvl="4" marL="38100">
              <a:lnSpc>
                <a:spcPct val="104761"/>
              </a:lnSpc>
              <a:spcBef>
                <a:spcPts val="0"/>
              </a:spcBef>
              <a:buNone/>
              <a:defRPr b="0" i="0" sz="1050">
                <a:solidFill>
                  <a:schemeClr val="lt1"/>
                </a:solidFill>
                <a:latin typeface="Calibri"/>
                <a:ea typeface="Calibri"/>
                <a:cs typeface="Calibri"/>
                <a:sym typeface="Calibri"/>
              </a:defRPr>
            </a:lvl5pPr>
            <a:lvl6pPr indent="0" lvl="5" marL="38100">
              <a:lnSpc>
                <a:spcPct val="104761"/>
              </a:lnSpc>
              <a:spcBef>
                <a:spcPts val="0"/>
              </a:spcBef>
              <a:buNone/>
              <a:defRPr b="0" i="0" sz="1050">
                <a:solidFill>
                  <a:schemeClr val="lt1"/>
                </a:solidFill>
                <a:latin typeface="Calibri"/>
                <a:ea typeface="Calibri"/>
                <a:cs typeface="Calibri"/>
                <a:sym typeface="Calibri"/>
              </a:defRPr>
            </a:lvl6pPr>
            <a:lvl7pPr indent="0" lvl="6" marL="38100">
              <a:lnSpc>
                <a:spcPct val="104761"/>
              </a:lnSpc>
              <a:spcBef>
                <a:spcPts val="0"/>
              </a:spcBef>
              <a:buNone/>
              <a:defRPr b="0" i="0" sz="1050">
                <a:solidFill>
                  <a:schemeClr val="lt1"/>
                </a:solidFill>
                <a:latin typeface="Calibri"/>
                <a:ea typeface="Calibri"/>
                <a:cs typeface="Calibri"/>
                <a:sym typeface="Calibri"/>
              </a:defRPr>
            </a:lvl7pPr>
            <a:lvl8pPr indent="0" lvl="7" marL="38100">
              <a:lnSpc>
                <a:spcPct val="104761"/>
              </a:lnSpc>
              <a:spcBef>
                <a:spcPts val="0"/>
              </a:spcBef>
              <a:buNone/>
              <a:defRPr b="0" i="0" sz="1050">
                <a:solidFill>
                  <a:schemeClr val="lt1"/>
                </a:solidFill>
                <a:latin typeface="Calibri"/>
                <a:ea typeface="Calibri"/>
                <a:cs typeface="Calibri"/>
                <a:sym typeface="Calibri"/>
              </a:defRPr>
            </a:lvl8pPr>
            <a:lvl9pPr indent="0" lvl="8" marL="38100">
              <a:lnSpc>
                <a:spcPct val="104761"/>
              </a:lnSpc>
              <a:spcBef>
                <a:spcPts val="0"/>
              </a:spcBef>
              <a:buNone/>
              <a:defRPr b="0" i="0" sz="10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
          <p:cNvSpPr txBox="1"/>
          <p:nvPr>
            <p:ph type="title"/>
          </p:nvPr>
        </p:nvSpPr>
        <p:spPr>
          <a:xfrm>
            <a:off x="2279046" y="371610"/>
            <a:ext cx="7633800" cy="513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13426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609091" y="1233501"/>
            <a:ext cx="10600200" cy="4415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chemeClr val="dk1"/>
                </a:solidFill>
                <a:latin typeface="Calibri"/>
                <a:ea typeface="Calibri"/>
                <a:cs typeface="Calibri"/>
                <a:sym typeface="Calibri"/>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4"/>
          <p:cNvSpPr txBox="1"/>
          <p:nvPr>
            <p:ph idx="11" type="ftr"/>
          </p:nvPr>
        </p:nvSpPr>
        <p:spPr>
          <a:xfrm>
            <a:off x="5835172" y="6582022"/>
            <a:ext cx="523800" cy="139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9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lvl1pPr indent="0" lvl="0" marL="38100">
              <a:lnSpc>
                <a:spcPct val="104761"/>
              </a:lnSpc>
              <a:spcBef>
                <a:spcPts val="0"/>
              </a:spcBef>
              <a:buNone/>
              <a:defRPr b="0" i="0" sz="1050">
                <a:solidFill>
                  <a:schemeClr val="lt1"/>
                </a:solidFill>
                <a:latin typeface="Calibri"/>
                <a:ea typeface="Calibri"/>
                <a:cs typeface="Calibri"/>
                <a:sym typeface="Calibri"/>
              </a:defRPr>
            </a:lvl1pPr>
            <a:lvl2pPr indent="0" lvl="1" marL="38100">
              <a:lnSpc>
                <a:spcPct val="104761"/>
              </a:lnSpc>
              <a:spcBef>
                <a:spcPts val="0"/>
              </a:spcBef>
              <a:buNone/>
              <a:defRPr b="0" i="0" sz="1050">
                <a:solidFill>
                  <a:schemeClr val="lt1"/>
                </a:solidFill>
                <a:latin typeface="Calibri"/>
                <a:ea typeface="Calibri"/>
                <a:cs typeface="Calibri"/>
                <a:sym typeface="Calibri"/>
              </a:defRPr>
            </a:lvl2pPr>
            <a:lvl3pPr indent="0" lvl="2" marL="38100">
              <a:lnSpc>
                <a:spcPct val="104761"/>
              </a:lnSpc>
              <a:spcBef>
                <a:spcPts val="0"/>
              </a:spcBef>
              <a:buNone/>
              <a:defRPr b="0" i="0" sz="1050">
                <a:solidFill>
                  <a:schemeClr val="lt1"/>
                </a:solidFill>
                <a:latin typeface="Calibri"/>
                <a:ea typeface="Calibri"/>
                <a:cs typeface="Calibri"/>
                <a:sym typeface="Calibri"/>
              </a:defRPr>
            </a:lvl3pPr>
            <a:lvl4pPr indent="0" lvl="3" marL="38100">
              <a:lnSpc>
                <a:spcPct val="104761"/>
              </a:lnSpc>
              <a:spcBef>
                <a:spcPts val="0"/>
              </a:spcBef>
              <a:buNone/>
              <a:defRPr b="0" i="0" sz="1050">
                <a:solidFill>
                  <a:schemeClr val="lt1"/>
                </a:solidFill>
                <a:latin typeface="Calibri"/>
                <a:ea typeface="Calibri"/>
                <a:cs typeface="Calibri"/>
                <a:sym typeface="Calibri"/>
              </a:defRPr>
            </a:lvl4pPr>
            <a:lvl5pPr indent="0" lvl="4" marL="38100">
              <a:lnSpc>
                <a:spcPct val="104761"/>
              </a:lnSpc>
              <a:spcBef>
                <a:spcPts val="0"/>
              </a:spcBef>
              <a:buNone/>
              <a:defRPr b="0" i="0" sz="1050">
                <a:solidFill>
                  <a:schemeClr val="lt1"/>
                </a:solidFill>
                <a:latin typeface="Calibri"/>
                <a:ea typeface="Calibri"/>
                <a:cs typeface="Calibri"/>
                <a:sym typeface="Calibri"/>
              </a:defRPr>
            </a:lvl5pPr>
            <a:lvl6pPr indent="0" lvl="5" marL="38100">
              <a:lnSpc>
                <a:spcPct val="104761"/>
              </a:lnSpc>
              <a:spcBef>
                <a:spcPts val="0"/>
              </a:spcBef>
              <a:buNone/>
              <a:defRPr b="0" i="0" sz="1050">
                <a:solidFill>
                  <a:schemeClr val="lt1"/>
                </a:solidFill>
                <a:latin typeface="Calibri"/>
                <a:ea typeface="Calibri"/>
                <a:cs typeface="Calibri"/>
                <a:sym typeface="Calibri"/>
              </a:defRPr>
            </a:lvl6pPr>
            <a:lvl7pPr indent="0" lvl="6" marL="38100">
              <a:lnSpc>
                <a:spcPct val="104761"/>
              </a:lnSpc>
              <a:spcBef>
                <a:spcPts val="0"/>
              </a:spcBef>
              <a:buNone/>
              <a:defRPr b="0" i="0" sz="1050">
                <a:solidFill>
                  <a:schemeClr val="lt1"/>
                </a:solidFill>
                <a:latin typeface="Calibri"/>
                <a:ea typeface="Calibri"/>
                <a:cs typeface="Calibri"/>
                <a:sym typeface="Calibri"/>
              </a:defRPr>
            </a:lvl7pPr>
            <a:lvl8pPr indent="0" lvl="7" marL="38100">
              <a:lnSpc>
                <a:spcPct val="104761"/>
              </a:lnSpc>
              <a:spcBef>
                <a:spcPts val="0"/>
              </a:spcBef>
              <a:buNone/>
              <a:defRPr b="0" i="0" sz="1050">
                <a:solidFill>
                  <a:schemeClr val="lt1"/>
                </a:solidFill>
                <a:latin typeface="Calibri"/>
                <a:ea typeface="Calibri"/>
                <a:cs typeface="Calibri"/>
                <a:sym typeface="Calibri"/>
              </a:defRPr>
            </a:lvl8pPr>
            <a:lvl9pPr indent="0" lvl="8" marL="38100">
              <a:lnSpc>
                <a:spcPct val="104761"/>
              </a:lnSpc>
              <a:spcBef>
                <a:spcPts val="0"/>
              </a:spcBef>
              <a:buNone/>
              <a:defRPr b="0" i="0" sz="10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8" name="Shape 28"/>
        <p:cNvGrpSpPr/>
        <p:nvPr/>
      </p:nvGrpSpPr>
      <p:grpSpPr>
        <a:xfrm>
          <a:off x="0" y="0"/>
          <a:ext cx="0" cy="0"/>
          <a:chOff x="0" y="0"/>
          <a:chExt cx="0" cy="0"/>
        </a:xfrm>
      </p:grpSpPr>
      <p:sp>
        <p:nvSpPr>
          <p:cNvPr id="29" name="Google Shape;29;p5"/>
          <p:cNvSpPr txBox="1"/>
          <p:nvPr>
            <p:ph type="title"/>
          </p:nvPr>
        </p:nvSpPr>
        <p:spPr>
          <a:xfrm>
            <a:off x="2279046" y="371610"/>
            <a:ext cx="7633800" cy="513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13426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431665" y="1677775"/>
            <a:ext cx="4664100" cy="4414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800">
                <a:solidFill>
                  <a:srgbClr val="257E99"/>
                </a:solidFill>
                <a:latin typeface="Consolas"/>
                <a:ea typeface="Consolas"/>
                <a:cs typeface="Consolas"/>
                <a:sym typeface="Consola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5"/>
          <p:cNvSpPr txBox="1"/>
          <p:nvPr>
            <p:ph idx="2" type="body"/>
          </p:nvPr>
        </p:nvSpPr>
        <p:spPr>
          <a:xfrm>
            <a:off x="6295059" y="1667866"/>
            <a:ext cx="5165100" cy="44145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1800">
                <a:solidFill>
                  <a:srgbClr val="3A3A3A"/>
                </a:solidFill>
                <a:latin typeface="Consolas"/>
                <a:ea typeface="Consolas"/>
                <a:cs typeface="Consolas"/>
                <a:sym typeface="Consola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5"/>
          <p:cNvSpPr txBox="1"/>
          <p:nvPr>
            <p:ph idx="11" type="ftr"/>
          </p:nvPr>
        </p:nvSpPr>
        <p:spPr>
          <a:xfrm>
            <a:off x="5835172" y="6582022"/>
            <a:ext cx="523800" cy="139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9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lvl1pPr indent="0" lvl="0" marL="38100">
              <a:lnSpc>
                <a:spcPct val="104761"/>
              </a:lnSpc>
              <a:spcBef>
                <a:spcPts val="0"/>
              </a:spcBef>
              <a:buNone/>
              <a:defRPr b="0" i="0" sz="1050">
                <a:solidFill>
                  <a:schemeClr val="lt1"/>
                </a:solidFill>
                <a:latin typeface="Calibri"/>
                <a:ea typeface="Calibri"/>
                <a:cs typeface="Calibri"/>
                <a:sym typeface="Calibri"/>
              </a:defRPr>
            </a:lvl1pPr>
            <a:lvl2pPr indent="0" lvl="1" marL="38100">
              <a:lnSpc>
                <a:spcPct val="104761"/>
              </a:lnSpc>
              <a:spcBef>
                <a:spcPts val="0"/>
              </a:spcBef>
              <a:buNone/>
              <a:defRPr b="0" i="0" sz="1050">
                <a:solidFill>
                  <a:schemeClr val="lt1"/>
                </a:solidFill>
                <a:latin typeface="Calibri"/>
                <a:ea typeface="Calibri"/>
                <a:cs typeface="Calibri"/>
                <a:sym typeface="Calibri"/>
              </a:defRPr>
            </a:lvl2pPr>
            <a:lvl3pPr indent="0" lvl="2" marL="38100">
              <a:lnSpc>
                <a:spcPct val="104761"/>
              </a:lnSpc>
              <a:spcBef>
                <a:spcPts val="0"/>
              </a:spcBef>
              <a:buNone/>
              <a:defRPr b="0" i="0" sz="1050">
                <a:solidFill>
                  <a:schemeClr val="lt1"/>
                </a:solidFill>
                <a:latin typeface="Calibri"/>
                <a:ea typeface="Calibri"/>
                <a:cs typeface="Calibri"/>
                <a:sym typeface="Calibri"/>
              </a:defRPr>
            </a:lvl3pPr>
            <a:lvl4pPr indent="0" lvl="3" marL="38100">
              <a:lnSpc>
                <a:spcPct val="104761"/>
              </a:lnSpc>
              <a:spcBef>
                <a:spcPts val="0"/>
              </a:spcBef>
              <a:buNone/>
              <a:defRPr b="0" i="0" sz="1050">
                <a:solidFill>
                  <a:schemeClr val="lt1"/>
                </a:solidFill>
                <a:latin typeface="Calibri"/>
                <a:ea typeface="Calibri"/>
                <a:cs typeface="Calibri"/>
                <a:sym typeface="Calibri"/>
              </a:defRPr>
            </a:lvl4pPr>
            <a:lvl5pPr indent="0" lvl="4" marL="38100">
              <a:lnSpc>
                <a:spcPct val="104761"/>
              </a:lnSpc>
              <a:spcBef>
                <a:spcPts val="0"/>
              </a:spcBef>
              <a:buNone/>
              <a:defRPr b="0" i="0" sz="1050">
                <a:solidFill>
                  <a:schemeClr val="lt1"/>
                </a:solidFill>
                <a:latin typeface="Calibri"/>
                <a:ea typeface="Calibri"/>
                <a:cs typeface="Calibri"/>
                <a:sym typeface="Calibri"/>
              </a:defRPr>
            </a:lvl5pPr>
            <a:lvl6pPr indent="0" lvl="5" marL="38100">
              <a:lnSpc>
                <a:spcPct val="104761"/>
              </a:lnSpc>
              <a:spcBef>
                <a:spcPts val="0"/>
              </a:spcBef>
              <a:buNone/>
              <a:defRPr b="0" i="0" sz="1050">
                <a:solidFill>
                  <a:schemeClr val="lt1"/>
                </a:solidFill>
                <a:latin typeface="Calibri"/>
                <a:ea typeface="Calibri"/>
                <a:cs typeface="Calibri"/>
                <a:sym typeface="Calibri"/>
              </a:defRPr>
            </a:lvl6pPr>
            <a:lvl7pPr indent="0" lvl="6" marL="38100">
              <a:lnSpc>
                <a:spcPct val="104761"/>
              </a:lnSpc>
              <a:spcBef>
                <a:spcPts val="0"/>
              </a:spcBef>
              <a:buNone/>
              <a:defRPr b="0" i="0" sz="1050">
                <a:solidFill>
                  <a:schemeClr val="lt1"/>
                </a:solidFill>
                <a:latin typeface="Calibri"/>
                <a:ea typeface="Calibri"/>
                <a:cs typeface="Calibri"/>
                <a:sym typeface="Calibri"/>
              </a:defRPr>
            </a:lvl7pPr>
            <a:lvl8pPr indent="0" lvl="7" marL="38100">
              <a:lnSpc>
                <a:spcPct val="104761"/>
              </a:lnSpc>
              <a:spcBef>
                <a:spcPts val="0"/>
              </a:spcBef>
              <a:buNone/>
              <a:defRPr b="0" i="0" sz="1050">
                <a:solidFill>
                  <a:schemeClr val="lt1"/>
                </a:solidFill>
                <a:latin typeface="Calibri"/>
                <a:ea typeface="Calibri"/>
                <a:cs typeface="Calibri"/>
                <a:sym typeface="Calibri"/>
              </a:defRPr>
            </a:lvl8pPr>
            <a:lvl9pPr indent="0" lvl="8" marL="38100">
              <a:lnSpc>
                <a:spcPct val="104761"/>
              </a:lnSpc>
              <a:spcBef>
                <a:spcPts val="0"/>
              </a:spcBef>
              <a:buNone/>
              <a:defRPr b="0" i="0" sz="10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 name="Shape 35"/>
        <p:cNvGrpSpPr/>
        <p:nvPr/>
      </p:nvGrpSpPr>
      <p:grpSpPr>
        <a:xfrm>
          <a:off x="0" y="0"/>
          <a:ext cx="0" cy="0"/>
          <a:chOff x="0" y="0"/>
          <a:chExt cx="0" cy="0"/>
        </a:xfrm>
      </p:grpSpPr>
      <p:sp>
        <p:nvSpPr>
          <p:cNvPr id="36" name="Google Shape;36;p6"/>
          <p:cNvSpPr txBox="1"/>
          <p:nvPr>
            <p:ph type="ctrTitle"/>
          </p:nvPr>
        </p:nvSpPr>
        <p:spPr>
          <a:xfrm>
            <a:off x="4168141" y="387652"/>
            <a:ext cx="3855600" cy="513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200">
                <a:solidFill>
                  <a:srgbClr val="13426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5835172" y="6582022"/>
            <a:ext cx="523800" cy="139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9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lvl1pPr indent="0" lvl="0" marL="38100">
              <a:lnSpc>
                <a:spcPct val="104761"/>
              </a:lnSpc>
              <a:spcBef>
                <a:spcPts val="0"/>
              </a:spcBef>
              <a:buNone/>
              <a:defRPr b="0" i="0" sz="1050">
                <a:solidFill>
                  <a:schemeClr val="lt1"/>
                </a:solidFill>
                <a:latin typeface="Calibri"/>
                <a:ea typeface="Calibri"/>
                <a:cs typeface="Calibri"/>
                <a:sym typeface="Calibri"/>
              </a:defRPr>
            </a:lvl1pPr>
            <a:lvl2pPr indent="0" lvl="1" marL="38100">
              <a:lnSpc>
                <a:spcPct val="104761"/>
              </a:lnSpc>
              <a:spcBef>
                <a:spcPts val="0"/>
              </a:spcBef>
              <a:buNone/>
              <a:defRPr b="0" i="0" sz="1050">
                <a:solidFill>
                  <a:schemeClr val="lt1"/>
                </a:solidFill>
                <a:latin typeface="Calibri"/>
                <a:ea typeface="Calibri"/>
                <a:cs typeface="Calibri"/>
                <a:sym typeface="Calibri"/>
              </a:defRPr>
            </a:lvl2pPr>
            <a:lvl3pPr indent="0" lvl="2" marL="38100">
              <a:lnSpc>
                <a:spcPct val="104761"/>
              </a:lnSpc>
              <a:spcBef>
                <a:spcPts val="0"/>
              </a:spcBef>
              <a:buNone/>
              <a:defRPr b="0" i="0" sz="1050">
                <a:solidFill>
                  <a:schemeClr val="lt1"/>
                </a:solidFill>
                <a:latin typeface="Calibri"/>
                <a:ea typeface="Calibri"/>
                <a:cs typeface="Calibri"/>
                <a:sym typeface="Calibri"/>
              </a:defRPr>
            </a:lvl3pPr>
            <a:lvl4pPr indent="0" lvl="3" marL="38100">
              <a:lnSpc>
                <a:spcPct val="104761"/>
              </a:lnSpc>
              <a:spcBef>
                <a:spcPts val="0"/>
              </a:spcBef>
              <a:buNone/>
              <a:defRPr b="0" i="0" sz="1050">
                <a:solidFill>
                  <a:schemeClr val="lt1"/>
                </a:solidFill>
                <a:latin typeface="Calibri"/>
                <a:ea typeface="Calibri"/>
                <a:cs typeface="Calibri"/>
                <a:sym typeface="Calibri"/>
              </a:defRPr>
            </a:lvl4pPr>
            <a:lvl5pPr indent="0" lvl="4" marL="38100">
              <a:lnSpc>
                <a:spcPct val="104761"/>
              </a:lnSpc>
              <a:spcBef>
                <a:spcPts val="0"/>
              </a:spcBef>
              <a:buNone/>
              <a:defRPr b="0" i="0" sz="1050">
                <a:solidFill>
                  <a:schemeClr val="lt1"/>
                </a:solidFill>
                <a:latin typeface="Calibri"/>
                <a:ea typeface="Calibri"/>
                <a:cs typeface="Calibri"/>
                <a:sym typeface="Calibri"/>
              </a:defRPr>
            </a:lvl5pPr>
            <a:lvl6pPr indent="0" lvl="5" marL="38100">
              <a:lnSpc>
                <a:spcPct val="104761"/>
              </a:lnSpc>
              <a:spcBef>
                <a:spcPts val="0"/>
              </a:spcBef>
              <a:buNone/>
              <a:defRPr b="0" i="0" sz="1050">
                <a:solidFill>
                  <a:schemeClr val="lt1"/>
                </a:solidFill>
                <a:latin typeface="Calibri"/>
                <a:ea typeface="Calibri"/>
                <a:cs typeface="Calibri"/>
                <a:sym typeface="Calibri"/>
              </a:defRPr>
            </a:lvl6pPr>
            <a:lvl7pPr indent="0" lvl="6" marL="38100">
              <a:lnSpc>
                <a:spcPct val="104761"/>
              </a:lnSpc>
              <a:spcBef>
                <a:spcPts val="0"/>
              </a:spcBef>
              <a:buNone/>
              <a:defRPr b="0" i="0" sz="1050">
                <a:solidFill>
                  <a:schemeClr val="lt1"/>
                </a:solidFill>
                <a:latin typeface="Calibri"/>
                <a:ea typeface="Calibri"/>
                <a:cs typeface="Calibri"/>
                <a:sym typeface="Calibri"/>
              </a:defRPr>
            </a:lvl7pPr>
            <a:lvl8pPr indent="0" lvl="7" marL="38100">
              <a:lnSpc>
                <a:spcPct val="104761"/>
              </a:lnSpc>
              <a:spcBef>
                <a:spcPts val="0"/>
              </a:spcBef>
              <a:buNone/>
              <a:defRPr b="0" i="0" sz="1050">
                <a:solidFill>
                  <a:schemeClr val="lt1"/>
                </a:solidFill>
                <a:latin typeface="Calibri"/>
                <a:ea typeface="Calibri"/>
                <a:cs typeface="Calibri"/>
                <a:sym typeface="Calibri"/>
              </a:defRPr>
            </a:lvl8pPr>
            <a:lvl9pPr indent="0" lvl="8" marL="38100">
              <a:lnSpc>
                <a:spcPct val="104761"/>
              </a:lnSpc>
              <a:spcBef>
                <a:spcPts val="0"/>
              </a:spcBef>
              <a:buNone/>
              <a:defRPr b="0" i="0" sz="10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41" name="Shape 41"/>
        <p:cNvGrpSpPr/>
        <p:nvPr/>
      </p:nvGrpSpPr>
      <p:grpSpPr>
        <a:xfrm>
          <a:off x="0" y="0"/>
          <a:ext cx="0" cy="0"/>
          <a:chOff x="0" y="0"/>
          <a:chExt cx="0" cy="0"/>
        </a:xfrm>
      </p:grpSpPr>
      <p:sp>
        <p:nvSpPr>
          <p:cNvPr id="42" name="Google Shape;42;p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4" name="Google Shape;44;p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2" type="sldNum"/>
          </p:nvPr>
        </p:nvSpPr>
        <p:spPr>
          <a:xfrm>
            <a:off x="8610600" y="6356350"/>
            <a:ext cx="2743200" cy="253800"/>
          </a:xfrm>
          <a:prstGeom prst="rect">
            <a:avLst/>
          </a:prstGeom>
          <a:noFill/>
          <a:ln>
            <a:noFill/>
          </a:ln>
        </p:spPr>
        <p:txBody>
          <a:bodyPr anchorCtr="0" anchor="ctr" bIns="45700" lIns="91425" spcFirstLastPara="1" rIns="91425"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3047" y="6400800"/>
            <a:ext cx="12189460" cy="457200"/>
          </a:xfrm>
          <a:custGeom>
            <a:rect b="b" l="l" r="r" t="t"/>
            <a:pathLst>
              <a:path extrusionOk="0" h="457200" w="12189460">
                <a:moveTo>
                  <a:pt x="12188952" y="0"/>
                </a:moveTo>
                <a:lnTo>
                  <a:pt x="0" y="0"/>
                </a:lnTo>
                <a:lnTo>
                  <a:pt x="0" y="457200"/>
                </a:lnTo>
                <a:lnTo>
                  <a:pt x="12188952" y="457200"/>
                </a:lnTo>
                <a:lnTo>
                  <a:pt x="12188952" y="0"/>
                </a:lnTo>
                <a:close/>
              </a:path>
            </a:pathLst>
          </a:custGeom>
          <a:solidFill>
            <a:srgbClr val="57B6C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
          <p:cNvSpPr/>
          <p:nvPr/>
        </p:nvSpPr>
        <p:spPr>
          <a:xfrm>
            <a:off x="0" y="6333744"/>
            <a:ext cx="12189460" cy="64135"/>
          </a:xfrm>
          <a:custGeom>
            <a:rect b="b" l="l" r="r" t="t"/>
            <a:pathLst>
              <a:path extrusionOk="0" h="64135" w="12189460">
                <a:moveTo>
                  <a:pt x="12188952" y="0"/>
                </a:moveTo>
                <a:lnTo>
                  <a:pt x="0" y="0"/>
                </a:lnTo>
                <a:lnTo>
                  <a:pt x="0" y="64007"/>
                </a:lnTo>
                <a:lnTo>
                  <a:pt x="12188952" y="64007"/>
                </a:lnTo>
                <a:lnTo>
                  <a:pt x="12188952"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 name="Google Shape;8;p1"/>
          <p:cNvSpPr txBox="1"/>
          <p:nvPr>
            <p:ph type="title"/>
          </p:nvPr>
        </p:nvSpPr>
        <p:spPr>
          <a:xfrm>
            <a:off x="2279046" y="371610"/>
            <a:ext cx="7633800" cy="5136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400"/>
              <a:buNone/>
              <a:defRPr b="0" i="0" sz="3200" u="none" cap="none" strike="noStrike">
                <a:solidFill>
                  <a:srgbClr val="13426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609091" y="1233501"/>
            <a:ext cx="10600200" cy="4415100"/>
          </a:xfrm>
          <a:prstGeom prst="rect">
            <a:avLst/>
          </a:prstGeom>
          <a:noFill/>
          <a:ln>
            <a:noFill/>
          </a:ln>
        </p:spPr>
        <p:txBody>
          <a:bodyPr anchorCtr="0" anchor="t" bIns="0" lIns="0" spcFirstLastPara="1" rIns="0" wrap="square" tIns="0">
            <a:spAutoFit/>
          </a:bodyPr>
          <a:lstStyle>
            <a:lvl1pPr indent="-228600" lvl="0" marL="457200" marR="0" algn="l">
              <a:spcBef>
                <a:spcPts val="0"/>
              </a:spcBef>
              <a:spcAft>
                <a:spcPts val="0"/>
              </a:spcAft>
              <a:buSzPts val="1400"/>
              <a:buNone/>
              <a:defRPr b="0" i="0" sz="2000" u="none" cap="none" strike="noStrike">
                <a:solidFill>
                  <a:schemeClr val="dk1"/>
                </a:solidFill>
                <a:latin typeface="Calibri"/>
                <a:ea typeface="Calibri"/>
                <a:cs typeface="Calibri"/>
                <a:sym typeface="Calibri"/>
              </a:defRPr>
            </a:lvl1pPr>
            <a:lvl2pPr indent="-228600" lvl="1" marL="914400" marR="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5835172" y="6582022"/>
            <a:ext cx="523800" cy="1398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900">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lvl1pPr indent="0" lvl="0" marL="38100">
              <a:lnSpc>
                <a:spcPct val="104761"/>
              </a:lnSpc>
              <a:spcBef>
                <a:spcPts val="0"/>
              </a:spcBef>
              <a:buNone/>
              <a:defRPr b="0" i="0" sz="1050">
                <a:solidFill>
                  <a:schemeClr val="lt1"/>
                </a:solidFill>
                <a:latin typeface="Calibri"/>
                <a:ea typeface="Calibri"/>
                <a:cs typeface="Calibri"/>
                <a:sym typeface="Calibri"/>
              </a:defRPr>
            </a:lvl1pPr>
            <a:lvl2pPr indent="0" lvl="1" marL="38100">
              <a:lnSpc>
                <a:spcPct val="104761"/>
              </a:lnSpc>
              <a:spcBef>
                <a:spcPts val="0"/>
              </a:spcBef>
              <a:buNone/>
              <a:defRPr b="0" i="0" sz="1050">
                <a:solidFill>
                  <a:schemeClr val="lt1"/>
                </a:solidFill>
                <a:latin typeface="Calibri"/>
                <a:ea typeface="Calibri"/>
                <a:cs typeface="Calibri"/>
                <a:sym typeface="Calibri"/>
              </a:defRPr>
            </a:lvl2pPr>
            <a:lvl3pPr indent="0" lvl="2" marL="38100">
              <a:lnSpc>
                <a:spcPct val="104761"/>
              </a:lnSpc>
              <a:spcBef>
                <a:spcPts val="0"/>
              </a:spcBef>
              <a:buNone/>
              <a:defRPr b="0" i="0" sz="1050">
                <a:solidFill>
                  <a:schemeClr val="lt1"/>
                </a:solidFill>
                <a:latin typeface="Calibri"/>
                <a:ea typeface="Calibri"/>
                <a:cs typeface="Calibri"/>
                <a:sym typeface="Calibri"/>
              </a:defRPr>
            </a:lvl3pPr>
            <a:lvl4pPr indent="0" lvl="3" marL="38100">
              <a:lnSpc>
                <a:spcPct val="104761"/>
              </a:lnSpc>
              <a:spcBef>
                <a:spcPts val="0"/>
              </a:spcBef>
              <a:buNone/>
              <a:defRPr b="0" i="0" sz="1050">
                <a:solidFill>
                  <a:schemeClr val="lt1"/>
                </a:solidFill>
                <a:latin typeface="Calibri"/>
                <a:ea typeface="Calibri"/>
                <a:cs typeface="Calibri"/>
                <a:sym typeface="Calibri"/>
              </a:defRPr>
            </a:lvl4pPr>
            <a:lvl5pPr indent="0" lvl="4" marL="38100">
              <a:lnSpc>
                <a:spcPct val="104761"/>
              </a:lnSpc>
              <a:spcBef>
                <a:spcPts val="0"/>
              </a:spcBef>
              <a:buNone/>
              <a:defRPr b="0" i="0" sz="1050">
                <a:solidFill>
                  <a:schemeClr val="lt1"/>
                </a:solidFill>
                <a:latin typeface="Calibri"/>
                <a:ea typeface="Calibri"/>
                <a:cs typeface="Calibri"/>
                <a:sym typeface="Calibri"/>
              </a:defRPr>
            </a:lvl5pPr>
            <a:lvl6pPr indent="0" lvl="5" marL="38100">
              <a:lnSpc>
                <a:spcPct val="104761"/>
              </a:lnSpc>
              <a:spcBef>
                <a:spcPts val="0"/>
              </a:spcBef>
              <a:buNone/>
              <a:defRPr b="0" i="0" sz="1050">
                <a:solidFill>
                  <a:schemeClr val="lt1"/>
                </a:solidFill>
                <a:latin typeface="Calibri"/>
                <a:ea typeface="Calibri"/>
                <a:cs typeface="Calibri"/>
                <a:sym typeface="Calibri"/>
              </a:defRPr>
            </a:lvl6pPr>
            <a:lvl7pPr indent="0" lvl="6" marL="38100">
              <a:lnSpc>
                <a:spcPct val="104761"/>
              </a:lnSpc>
              <a:spcBef>
                <a:spcPts val="0"/>
              </a:spcBef>
              <a:buNone/>
              <a:defRPr b="0" i="0" sz="1050">
                <a:solidFill>
                  <a:schemeClr val="lt1"/>
                </a:solidFill>
                <a:latin typeface="Calibri"/>
                <a:ea typeface="Calibri"/>
                <a:cs typeface="Calibri"/>
                <a:sym typeface="Calibri"/>
              </a:defRPr>
            </a:lvl7pPr>
            <a:lvl8pPr indent="0" lvl="7" marL="38100">
              <a:lnSpc>
                <a:spcPct val="104761"/>
              </a:lnSpc>
              <a:spcBef>
                <a:spcPts val="0"/>
              </a:spcBef>
              <a:buNone/>
              <a:defRPr b="0" i="0" sz="1050">
                <a:solidFill>
                  <a:schemeClr val="lt1"/>
                </a:solidFill>
                <a:latin typeface="Calibri"/>
                <a:ea typeface="Calibri"/>
                <a:cs typeface="Calibri"/>
                <a:sym typeface="Calibri"/>
              </a:defRPr>
            </a:lvl8pPr>
            <a:lvl9pPr indent="0" lvl="8" marL="38100">
              <a:lnSpc>
                <a:spcPct val="104761"/>
              </a:lnSpc>
              <a:spcBef>
                <a:spcPts val="0"/>
              </a:spcBef>
              <a:buNone/>
              <a:defRPr b="0" i="0" sz="1050">
                <a:solidFill>
                  <a:schemeClr val="lt1"/>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16.png"/><Relationship Id="rId5"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43.png"/><Relationship Id="rId5"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image" Target="../media/image21.png"/><Relationship Id="rId5" Type="http://schemas.openxmlformats.org/officeDocument/2006/relationships/image" Target="../media/image26.png"/><Relationship Id="rId6"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38.png"/><Relationship Id="rId5"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7.png"/><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0.png"/><Relationship Id="rId4" Type="http://schemas.openxmlformats.org/officeDocument/2006/relationships/image" Target="../media/image32.png"/><Relationship Id="rId5"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4.png"/><Relationship Id="rId4" Type="http://schemas.openxmlformats.org/officeDocument/2006/relationships/image" Target="../media/image3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8"/>
          <p:cNvSpPr/>
          <p:nvPr/>
        </p:nvSpPr>
        <p:spPr>
          <a:xfrm>
            <a:off x="1" y="0"/>
            <a:ext cx="12192000" cy="6858000"/>
          </a:xfrm>
          <a:prstGeom prst="rect">
            <a:avLst/>
          </a:prstGeom>
          <a:solidFill>
            <a:srgbClr val="C4C4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52" name="Google Shape;52;p8"/>
          <p:cNvPicPr preferRelativeResize="0"/>
          <p:nvPr/>
        </p:nvPicPr>
        <p:blipFill rotWithShape="1">
          <a:blip r:embed="rId3">
            <a:alphaModFix/>
          </a:blip>
          <a:srcRect b="0" l="0" r="0" t="0"/>
          <a:stretch/>
        </p:blipFill>
        <p:spPr>
          <a:xfrm>
            <a:off x="3930288" y="2307236"/>
            <a:ext cx="4331424" cy="1167601"/>
          </a:xfrm>
          <a:prstGeom prst="rect">
            <a:avLst/>
          </a:prstGeom>
          <a:noFill/>
          <a:ln>
            <a:noFill/>
          </a:ln>
        </p:spPr>
      </p:pic>
      <p:pic>
        <p:nvPicPr>
          <p:cNvPr id="53" name="Google Shape;53;p8"/>
          <p:cNvPicPr preferRelativeResize="0"/>
          <p:nvPr/>
        </p:nvPicPr>
        <p:blipFill rotWithShape="1">
          <a:blip r:embed="rId4">
            <a:alphaModFix/>
          </a:blip>
          <a:srcRect b="0" l="0" r="0" t="0"/>
          <a:stretch/>
        </p:blipFill>
        <p:spPr>
          <a:xfrm>
            <a:off x="4977402" y="1206138"/>
            <a:ext cx="2237198" cy="901730"/>
          </a:xfrm>
          <a:prstGeom prst="rect">
            <a:avLst/>
          </a:prstGeom>
          <a:noFill/>
          <a:ln>
            <a:noFill/>
          </a:ln>
        </p:spPr>
      </p:pic>
      <p:sp>
        <p:nvSpPr>
          <p:cNvPr id="54" name="Google Shape;54;p8"/>
          <p:cNvSpPr txBox="1"/>
          <p:nvPr/>
        </p:nvSpPr>
        <p:spPr>
          <a:xfrm>
            <a:off x="-1" y="3724635"/>
            <a:ext cx="12192000" cy="2883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400"/>
              <a:buFont typeface="Arial"/>
              <a:buNone/>
            </a:pPr>
            <a:r>
              <a:rPr b="0" i="0" lang="en-US" sz="4400" u="none" cap="none" strike="noStrike">
                <a:solidFill>
                  <a:schemeClr val="lt1"/>
                </a:solidFill>
                <a:latin typeface="Candara"/>
                <a:ea typeface="Candara"/>
                <a:cs typeface="Candara"/>
                <a:sym typeface="Candara"/>
              </a:rPr>
              <a:t>Máster en Big Data &amp; Cloud | VII Edición</a:t>
            </a:r>
            <a:endParaRPr b="0" i="0" sz="4000" u="none" cap="none" strike="noStrike">
              <a:solidFill>
                <a:schemeClr val="lt1"/>
              </a:solidFill>
              <a:latin typeface="Candara"/>
              <a:ea typeface="Candara"/>
              <a:cs typeface="Candara"/>
              <a:sym typeface="Candara"/>
            </a:endParaRPr>
          </a:p>
          <a:p>
            <a:pPr indent="0" lvl="0" marL="0" marR="0" rtl="0" algn="ctr">
              <a:lnSpc>
                <a:spcPct val="100000"/>
              </a:lnSpc>
              <a:spcBef>
                <a:spcPts val="0"/>
              </a:spcBef>
              <a:spcAft>
                <a:spcPts val="0"/>
              </a:spcAft>
              <a:buClr>
                <a:srgbClr val="666666"/>
              </a:buClr>
              <a:buSzPts val="3200"/>
              <a:buFont typeface="Arial"/>
              <a:buNone/>
            </a:pPr>
            <a:r>
              <a:t/>
            </a:r>
            <a:endParaRPr b="0" i="0" sz="3200" u="none" cap="none" strike="noStrike">
              <a:solidFill>
                <a:schemeClr val="lt1"/>
              </a:solidFill>
              <a:latin typeface="Candara"/>
              <a:ea typeface="Candara"/>
              <a:cs typeface="Candara"/>
              <a:sym typeface="Candara"/>
            </a:endParaRPr>
          </a:p>
          <a:p>
            <a:pPr indent="0" lvl="0" marL="0" marR="0" rtl="0" algn="ctr">
              <a:lnSpc>
                <a:spcPct val="100000"/>
              </a:lnSpc>
              <a:spcBef>
                <a:spcPts val="0"/>
              </a:spcBef>
              <a:spcAft>
                <a:spcPts val="0"/>
              </a:spcAft>
              <a:buClr>
                <a:schemeClr val="lt1"/>
              </a:buClr>
              <a:buSzPts val="3200"/>
              <a:buFont typeface="Arial"/>
              <a:buNone/>
            </a:pPr>
            <a:r>
              <a:rPr lang="en-US" sz="3200">
                <a:solidFill>
                  <a:schemeClr val="lt1"/>
                </a:solidFill>
                <a:latin typeface="Candara"/>
                <a:ea typeface="Candara"/>
                <a:cs typeface="Candara"/>
                <a:sym typeface="Candara"/>
              </a:rPr>
              <a:t>Pyspark</a:t>
            </a:r>
            <a:endParaRPr/>
          </a:p>
          <a:p>
            <a:pPr indent="0" lvl="0" marL="0" marR="0" rtl="0" algn="ctr">
              <a:lnSpc>
                <a:spcPct val="100000"/>
              </a:lnSpc>
              <a:spcBef>
                <a:spcPts val="0"/>
              </a:spcBef>
              <a:spcAft>
                <a:spcPts val="0"/>
              </a:spcAft>
              <a:buClr>
                <a:schemeClr val="lt1"/>
              </a:buClr>
              <a:buSzPts val="3200"/>
              <a:buFont typeface="Arial"/>
              <a:buNone/>
            </a:pPr>
            <a:r>
              <a:rPr lang="en-US" sz="3200">
                <a:solidFill>
                  <a:schemeClr val="lt1"/>
                </a:solidFill>
                <a:latin typeface="Candara"/>
                <a:ea typeface="Candara"/>
                <a:cs typeface="Candara"/>
                <a:sym typeface="Candara"/>
              </a:rPr>
              <a:t>Ignacio Reyes Vázquez</a:t>
            </a:r>
            <a:endParaRPr b="0" i="0" sz="2400" u="none" cap="none" strike="noStrike">
              <a:solidFill>
                <a:schemeClr val="lt1"/>
              </a:solidFill>
              <a:latin typeface="Candara"/>
              <a:ea typeface="Candara"/>
              <a:cs typeface="Candara"/>
              <a:sym typeface="Canda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p:nvPr/>
        </p:nvSpPr>
        <p:spPr>
          <a:xfrm>
            <a:off x="1207008" y="4343400"/>
            <a:ext cx="9875520" cy="0"/>
          </a:xfrm>
          <a:custGeom>
            <a:rect b="b" l="l" r="r" t="t"/>
            <a:pathLst>
              <a:path extrusionOk="0" h="120000" w="9875520">
                <a:moveTo>
                  <a:pt x="0" y="0"/>
                </a:moveTo>
                <a:lnTo>
                  <a:pt x="9875520" y="0"/>
                </a:lnTo>
              </a:path>
            </a:pathLst>
          </a:custGeom>
          <a:noFill/>
          <a:ln cap="flat" cmpd="sng" w="9525">
            <a:solidFill>
              <a:srgbClr val="7E7E7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 name="Google Shape;60;p9"/>
          <p:cNvSpPr txBox="1"/>
          <p:nvPr>
            <p:ph type="title"/>
          </p:nvPr>
        </p:nvSpPr>
        <p:spPr>
          <a:xfrm>
            <a:off x="1176026" y="3496175"/>
            <a:ext cx="10240800" cy="1490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solidFill>
                  <a:schemeClr val="dk2"/>
                </a:solidFill>
                <a:latin typeface="Candara"/>
                <a:ea typeface="Candara"/>
                <a:cs typeface="Candara"/>
                <a:sym typeface="Candara"/>
              </a:rPr>
              <a:t>1. Estructuras de datos de Apache Spark: RDD</a:t>
            </a:r>
            <a:endParaRPr sz="4800">
              <a:solidFill>
                <a:schemeClr val="dk2"/>
              </a:solidFill>
              <a:latin typeface="Candara"/>
              <a:ea typeface="Candara"/>
              <a:cs typeface="Candara"/>
              <a:sym typeface="Candara"/>
            </a:endParaRPr>
          </a:p>
        </p:txBody>
      </p:sp>
      <p:sp>
        <p:nvSpPr>
          <p:cNvPr id="61" name="Google Shape;61;p9"/>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Clr>
                <a:srgbClr val="000000"/>
              </a:buClr>
              <a:buFont typeface="Arial"/>
              <a:buNone/>
            </a:pPr>
            <a:r>
              <a:rPr lang="en-US"/>
              <a:t>ESTRUCTURAS DE DATOS DE APACHE SPARK: RDDS</a:t>
            </a:r>
            <a:endParaRPr/>
          </a:p>
        </p:txBody>
      </p:sp>
      <p:sp>
        <p:nvSpPr>
          <p:cNvPr id="62" name="Google Shape;62;p9"/>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0"/>
          <p:cNvSpPr txBox="1"/>
          <p:nvPr>
            <p:ph type="title"/>
          </p:nvPr>
        </p:nvSpPr>
        <p:spPr>
          <a:xfrm>
            <a:off x="2279046" y="371610"/>
            <a:ext cx="7633800" cy="506100"/>
          </a:xfrm>
          <a:prstGeom prst="rect">
            <a:avLst/>
          </a:prstGeom>
          <a:noFill/>
          <a:ln>
            <a:noFill/>
          </a:ln>
        </p:spPr>
        <p:txBody>
          <a:bodyPr anchorCtr="0" anchor="t" bIns="0" lIns="0" spcFirstLastPara="1" rIns="0" wrap="square" tIns="13325">
            <a:spAutoFit/>
          </a:bodyPr>
          <a:lstStyle/>
          <a:p>
            <a:pPr indent="0" lvl="0" marL="1035685" rtl="0" algn="l">
              <a:lnSpc>
                <a:spcPct val="100000"/>
              </a:lnSpc>
              <a:spcBef>
                <a:spcPts val="0"/>
              </a:spcBef>
              <a:spcAft>
                <a:spcPts val="0"/>
              </a:spcAft>
              <a:buNone/>
            </a:pPr>
            <a:r>
              <a:rPr lang="en-US">
                <a:latin typeface="Candara"/>
                <a:ea typeface="Candara"/>
                <a:cs typeface="Candara"/>
                <a:sym typeface="Candara"/>
              </a:rPr>
              <a:t>Resilient Distributed Datasets (RDD)</a:t>
            </a:r>
            <a:endParaRPr>
              <a:latin typeface="Candara"/>
              <a:ea typeface="Candara"/>
              <a:cs typeface="Candara"/>
              <a:sym typeface="Candara"/>
            </a:endParaRPr>
          </a:p>
        </p:txBody>
      </p:sp>
      <p:sp>
        <p:nvSpPr>
          <p:cNvPr id="68" name="Google Shape;68;p10"/>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69" name="Google Shape;69;p10"/>
          <p:cNvSpPr txBox="1"/>
          <p:nvPr>
            <p:ph idx="1" type="body"/>
          </p:nvPr>
        </p:nvSpPr>
        <p:spPr>
          <a:xfrm>
            <a:off x="609100" y="1233500"/>
            <a:ext cx="5945700" cy="5177700"/>
          </a:xfrm>
          <a:prstGeom prst="rect">
            <a:avLst/>
          </a:prstGeom>
          <a:noFill/>
          <a:ln>
            <a:noFill/>
          </a:ln>
        </p:spPr>
        <p:txBody>
          <a:bodyPr anchorCtr="0" anchor="t" bIns="0" lIns="0" spcFirstLastPara="1" rIns="0" wrap="square" tIns="12050">
            <a:spAutoFit/>
          </a:bodyPr>
          <a:lstStyle/>
          <a:p>
            <a:pPr indent="-342900" lvl="0" marL="402590" marR="5080" rtl="0" algn="l">
              <a:lnSpc>
                <a:spcPct val="150000"/>
              </a:lnSpc>
              <a:spcBef>
                <a:spcPts val="0"/>
              </a:spcBef>
              <a:spcAft>
                <a:spcPts val="0"/>
              </a:spcAft>
              <a:buClr>
                <a:schemeClr val="dk1"/>
              </a:buClr>
              <a:buSzPts val="2000"/>
              <a:buFont typeface="Candara"/>
              <a:buChar char="•"/>
            </a:pPr>
            <a:r>
              <a:rPr lang="en-US">
                <a:latin typeface="Candara"/>
                <a:ea typeface="Candara"/>
                <a:cs typeface="Candara"/>
                <a:sym typeface="Candara"/>
              </a:rPr>
              <a:t>RDD son las siglas de Resilient Distributed Datasets (conjuntos de datos distribuidos y resilientes). Un RDD es una colección de datos repartida entre varias máquinas del clúster y que, además, es inmutable.</a:t>
            </a:r>
            <a:endParaRPr>
              <a:latin typeface="Candara"/>
              <a:ea typeface="Candara"/>
              <a:cs typeface="Candara"/>
              <a:sym typeface="Candara"/>
            </a:endParaRPr>
          </a:p>
          <a:p>
            <a:pPr indent="-342265" lvl="0" marL="402590" rtl="0" algn="l">
              <a:lnSpc>
                <a:spcPct val="100000"/>
              </a:lnSpc>
              <a:spcBef>
                <a:spcPts val="1300"/>
              </a:spcBef>
              <a:spcAft>
                <a:spcPts val="0"/>
              </a:spcAft>
              <a:buClr>
                <a:schemeClr val="dk1"/>
              </a:buClr>
              <a:buSzPts val="2000"/>
              <a:buFont typeface="Candara"/>
              <a:buChar char="•"/>
            </a:pPr>
            <a:r>
              <a:rPr lang="en-US">
                <a:latin typeface="Candara"/>
                <a:ea typeface="Candara"/>
                <a:cs typeface="Candara"/>
                <a:sym typeface="Candara"/>
              </a:rPr>
              <a:t>Hay tres características fundamentales asociadas a un RDD:</a:t>
            </a:r>
            <a:endParaRPr>
              <a:latin typeface="Candara"/>
              <a:ea typeface="Candara"/>
              <a:cs typeface="Candara"/>
              <a:sym typeface="Candara"/>
            </a:endParaRPr>
          </a:p>
          <a:p>
            <a:pPr indent="0" lvl="0" marL="0" rtl="0" algn="l">
              <a:lnSpc>
                <a:spcPct val="100000"/>
              </a:lnSpc>
              <a:spcBef>
                <a:spcPts val="1300"/>
              </a:spcBef>
              <a:spcAft>
                <a:spcPts val="0"/>
              </a:spcAft>
              <a:buNone/>
            </a:pPr>
            <a:r>
              <a:t/>
            </a:r>
            <a:endParaRPr sz="100">
              <a:latin typeface="Candara"/>
              <a:ea typeface="Candara"/>
              <a:cs typeface="Candara"/>
              <a:sym typeface="Candara"/>
            </a:endParaRPr>
          </a:p>
          <a:p>
            <a:pPr indent="-317500" lvl="0" marL="914400" rtl="0" algn="l">
              <a:lnSpc>
                <a:spcPct val="100000"/>
              </a:lnSpc>
              <a:spcBef>
                <a:spcPts val="1300"/>
              </a:spcBef>
              <a:spcAft>
                <a:spcPts val="0"/>
              </a:spcAft>
              <a:buClr>
                <a:schemeClr val="dk1"/>
              </a:buClr>
              <a:buSzPts val="1400"/>
              <a:buFont typeface="Candara"/>
              <a:buAutoNum type="arabicPeriod"/>
            </a:pPr>
            <a:r>
              <a:rPr lang="en-US">
                <a:latin typeface="Candara"/>
                <a:ea typeface="Candara"/>
                <a:cs typeface="Candara"/>
                <a:sym typeface="Candara"/>
              </a:rPr>
              <a:t>Particiones (con cierta información de localidad).</a:t>
            </a:r>
            <a:endParaRPr>
              <a:latin typeface="Candara"/>
              <a:ea typeface="Candara"/>
              <a:cs typeface="Candara"/>
              <a:sym typeface="Candara"/>
            </a:endParaRPr>
          </a:p>
          <a:p>
            <a:pPr indent="-317500" lvl="0" marL="914400" rtl="0" algn="l">
              <a:lnSpc>
                <a:spcPct val="100000"/>
              </a:lnSpc>
              <a:spcBef>
                <a:spcPts val="0"/>
              </a:spcBef>
              <a:spcAft>
                <a:spcPts val="0"/>
              </a:spcAft>
              <a:buClr>
                <a:schemeClr val="dk1"/>
              </a:buClr>
              <a:buSzPts val="1400"/>
              <a:buFont typeface="Candara"/>
              <a:buAutoNum type="arabicPeriod"/>
            </a:pPr>
            <a:r>
              <a:rPr lang="en-US">
                <a:latin typeface="Candara"/>
                <a:ea typeface="Candara"/>
                <a:cs typeface="Candara"/>
                <a:sym typeface="Candara"/>
              </a:rPr>
              <a:t>Función de cálculo: Partición =&gt; Iterador[T].</a:t>
            </a:r>
            <a:endParaRPr>
              <a:latin typeface="Candara"/>
              <a:ea typeface="Candara"/>
              <a:cs typeface="Candara"/>
              <a:sym typeface="Candara"/>
            </a:endParaRPr>
          </a:p>
          <a:p>
            <a:pPr indent="-317500" lvl="0" marL="914400" rtl="0" algn="l">
              <a:lnSpc>
                <a:spcPct val="100000"/>
              </a:lnSpc>
              <a:spcBef>
                <a:spcPts val="0"/>
              </a:spcBef>
              <a:spcAft>
                <a:spcPts val="0"/>
              </a:spcAft>
              <a:buClr>
                <a:schemeClr val="dk1"/>
              </a:buClr>
              <a:buSzPts val="1400"/>
              <a:buFont typeface="Candara"/>
              <a:buAutoNum type="arabicPeriod"/>
            </a:pPr>
            <a:r>
              <a:rPr lang="en-US">
                <a:latin typeface="Candara"/>
                <a:ea typeface="Candara"/>
                <a:cs typeface="Candara"/>
                <a:sym typeface="Candara"/>
              </a:rPr>
              <a:t>Dependencias.</a:t>
            </a:r>
            <a:endParaRPr>
              <a:latin typeface="Candara"/>
              <a:ea typeface="Candara"/>
              <a:cs typeface="Candara"/>
              <a:sym typeface="Candara"/>
            </a:endParaRPr>
          </a:p>
          <a:p>
            <a:pPr indent="0" lvl="0" marL="0" rtl="0" algn="l">
              <a:lnSpc>
                <a:spcPct val="100000"/>
              </a:lnSpc>
              <a:spcBef>
                <a:spcPts val="1300"/>
              </a:spcBef>
              <a:spcAft>
                <a:spcPts val="0"/>
              </a:spcAft>
              <a:buNone/>
            </a:pPr>
            <a:r>
              <a:t/>
            </a:r>
            <a:endParaRPr>
              <a:latin typeface="Candara"/>
              <a:ea typeface="Candara"/>
              <a:cs typeface="Candara"/>
              <a:sym typeface="Candara"/>
            </a:endParaRPr>
          </a:p>
        </p:txBody>
      </p:sp>
      <p:pic>
        <p:nvPicPr>
          <p:cNvPr id="70" name="Google Shape;70;p10" title="Captura de pantalla 2025-11-17 a las 20.58.39.png"/>
          <p:cNvPicPr preferRelativeResize="0"/>
          <p:nvPr/>
        </p:nvPicPr>
        <p:blipFill>
          <a:blip r:embed="rId3">
            <a:alphaModFix/>
          </a:blip>
          <a:stretch>
            <a:fillRect/>
          </a:stretch>
        </p:blipFill>
        <p:spPr>
          <a:xfrm>
            <a:off x="8661263" y="1738374"/>
            <a:ext cx="1432450" cy="298875"/>
          </a:xfrm>
          <a:prstGeom prst="rect">
            <a:avLst/>
          </a:prstGeom>
          <a:noFill/>
          <a:ln>
            <a:noFill/>
          </a:ln>
        </p:spPr>
      </p:pic>
      <p:pic>
        <p:nvPicPr>
          <p:cNvPr id="71" name="Google Shape;71;p10" title="Captura de pantalla 2025-11-17 a las 20.59.13.png"/>
          <p:cNvPicPr preferRelativeResize="0"/>
          <p:nvPr/>
        </p:nvPicPr>
        <p:blipFill>
          <a:blip r:embed="rId4">
            <a:alphaModFix/>
          </a:blip>
          <a:stretch>
            <a:fillRect/>
          </a:stretch>
        </p:blipFill>
        <p:spPr>
          <a:xfrm>
            <a:off x="8528726" y="2290575"/>
            <a:ext cx="1697532" cy="506100"/>
          </a:xfrm>
          <a:prstGeom prst="rect">
            <a:avLst/>
          </a:prstGeom>
          <a:noFill/>
          <a:ln>
            <a:noFill/>
          </a:ln>
        </p:spPr>
      </p:pic>
      <p:pic>
        <p:nvPicPr>
          <p:cNvPr id="72" name="Google Shape;72;p10" title="Captura de pantalla 2025-11-17 a las 20.59.49.png"/>
          <p:cNvPicPr preferRelativeResize="0"/>
          <p:nvPr/>
        </p:nvPicPr>
        <p:blipFill>
          <a:blip r:embed="rId5">
            <a:alphaModFix/>
          </a:blip>
          <a:stretch>
            <a:fillRect/>
          </a:stretch>
        </p:blipFill>
        <p:spPr>
          <a:xfrm>
            <a:off x="7547408" y="3050000"/>
            <a:ext cx="3880093" cy="506100"/>
          </a:xfrm>
          <a:prstGeom prst="rect">
            <a:avLst/>
          </a:prstGeom>
          <a:noFill/>
          <a:ln>
            <a:noFill/>
          </a:ln>
        </p:spPr>
      </p:pic>
      <p:pic>
        <p:nvPicPr>
          <p:cNvPr id="73" name="Google Shape;73;p10" title="Captura de pantalla 2025-11-17 a las 21.01.16.png"/>
          <p:cNvPicPr preferRelativeResize="0"/>
          <p:nvPr/>
        </p:nvPicPr>
        <p:blipFill>
          <a:blip r:embed="rId6">
            <a:alphaModFix/>
          </a:blip>
          <a:stretch>
            <a:fillRect/>
          </a:stretch>
        </p:blipFill>
        <p:spPr>
          <a:xfrm>
            <a:off x="6836087" y="3809425"/>
            <a:ext cx="5082800" cy="724900"/>
          </a:xfrm>
          <a:prstGeom prst="rect">
            <a:avLst/>
          </a:prstGeom>
          <a:noFill/>
          <a:ln>
            <a:noFill/>
          </a:ln>
        </p:spPr>
      </p:pic>
      <p:sp>
        <p:nvSpPr>
          <p:cNvPr id="74" name="Google Shape;74;p10"/>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1"/>
          <p:cNvSpPr txBox="1"/>
          <p:nvPr/>
        </p:nvSpPr>
        <p:spPr>
          <a:xfrm>
            <a:off x="814040" y="1189539"/>
            <a:ext cx="10467900" cy="2903400"/>
          </a:xfrm>
          <a:prstGeom prst="rect">
            <a:avLst/>
          </a:prstGeom>
          <a:noFill/>
          <a:ln>
            <a:noFill/>
          </a:ln>
        </p:spPr>
        <p:txBody>
          <a:bodyPr anchorCtr="0" anchor="t" bIns="0" lIns="0" spcFirstLastPara="1" rIns="0" wrap="square" tIns="12050">
            <a:spAutoFit/>
          </a:bodyPr>
          <a:lstStyle/>
          <a:p>
            <a:pPr indent="-355600" lvl="0" marL="457200" rtl="0" algn="l">
              <a:spcBef>
                <a:spcPts val="1300"/>
              </a:spcBef>
              <a:spcAft>
                <a:spcPts val="0"/>
              </a:spcAft>
              <a:buClr>
                <a:srgbClr val="134262"/>
              </a:buClr>
              <a:buSzPts val="2000"/>
              <a:buChar char="•"/>
            </a:pPr>
            <a:r>
              <a:rPr lang="en-US" sz="2000">
                <a:solidFill>
                  <a:schemeClr val="dk1"/>
                </a:solidFill>
                <a:latin typeface="Candara"/>
                <a:ea typeface="Candara"/>
                <a:cs typeface="Candara"/>
                <a:sym typeface="Candara"/>
              </a:rPr>
              <a:t>Resilient</a:t>
            </a:r>
            <a:r>
              <a:rPr lang="en-US" sz="2000">
                <a:solidFill>
                  <a:schemeClr val="dk1"/>
                </a:solidFill>
                <a:latin typeface="Candara"/>
                <a:ea typeface="Candara"/>
                <a:cs typeface="Candara"/>
                <a:sym typeface="Candara"/>
              </a:rPr>
              <a:t> (</a:t>
            </a:r>
            <a:r>
              <a:rPr lang="en-US" sz="2000">
                <a:solidFill>
                  <a:schemeClr val="dk1"/>
                </a:solidFill>
                <a:latin typeface="Candara"/>
                <a:ea typeface="Candara"/>
                <a:cs typeface="Candara"/>
                <a:sym typeface="Candara"/>
              </a:rPr>
              <a:t>Resiliencia</a:t>
            </a:r>
            <a:r>
              <a:rPr lang="en-US" sz="2000">
                <a:solidFill>
                  <a:schemeClr val="dk1"/>
                </a:solidFill>
                <a:latin typeface="Candara"/>
                <a:ea typeface="Candara"/>
                <a:cs typeface="Candara"/>
                <a:sym typeface="Candara"/>
              </a:rPr>
              <a:t>)</a:t>
            </a:r>
            <a:r>
              <a:rPr lang="en-US" sz="2000">
                <a:solidFill>
                  <a:schemeClr val="dk1"/>
                </a:solidFill>
                <a:latin typeface="Candara"/>
                <a:ea typeface="Candara"/>
                <a:cs typeface="Candara"/>
                <a:sym typeface="Candara"/>
              </a:rPr>
              <a:t>: conserva una lista de dependencias que indica a Spark cómo fue generado. Gracias a esta información, Spark puede volver a crear el RDD cuando sea necesario y repetir las operaciones que lo formaron (linaje).</a:t>
            </a:r>
            <a:endParaRPr sz="2000">
              <a:solidFill>
                <a:schemeClr val="dk1"/>
              </a:solidFill>
              <a:latin typeface="Candara"/>
              <a:ea typeface="Candara"/>
              <a:cs typeface="Candara"/>
              <a:sym typeface="Candara"/>
            </a:endParaRPr>
          </a:p>
          <a:p>
            <a:pPr indent="0" lvl="0" marL="457200" rtl="0" algn="l">
              <a:spcBef>
                <a:spcPts val="1300"/>
              </a:spcBef>
              <a:spcAft>
                <a:spcPts val="0"/>
              </a:spcAft>
              <a:buNone/>
            </a:pPr>
            <a:r>
              <a:t/>
            </a:r>
            <a:endParaRPr sz="100">
              <a:solidFill>
                <a:schemeClr val="dk1"/>
              </a:solidFill>
              <a:latin typeface="Candara"/>
              <a:ea typeface="Candara"/>
              <a:cs typeface="Candara"/>
              <a:sym typeface="Candara"/>
            </a:endParaRPr>
          </a:p>
          <a:p>
            <a:pPr indent="-355600" lvl="0" marL="457200" rtl="0" algn="l">
              <a:spcBef>
                <a:spcPts val="1300"/>
              </a:spcBef>
              <a:spcAft>
                <a:spcPts val="0"/>
              </a:spcAft>
              <a:buClr>
                <a:srgbClr val="134262"/>
              </a:buClr>
              <a:buSzPts val="2000"/>
              <a:buChar char="•"/>
            </a:pPr>
            <a:r>
              <a:rPr lang="en-US" sz="2000">
                <a:solidFill>
                  <a:schemeClr val="dk1"/>
                </a:solidFill>
                <a:latin typeface="Candara"/>
                <a:ea typeface="Candara"/>
                <a:cs typeface="Candara"/>
                <a:sym typeface="Candara"/>
              </a:rPr>
              <a:t>Distributed (Distribuidas): las particiones proporcionan a Spark la capacidad de dividir el trabajo para paralelizar el cálculo en particiones entre ejecutores. La información de localidad reduce la cantidad de datos transmitidos a través de la red.</a:t>
            </a:r>
            <a:endParaRPr sz="2000">
              <a:solidFill>
                <a:schemeClr val="dk1"/>
              </a:solidFill>
              <a:latin typeface="Candara"/>
              <a:ea typeface="Candara"/>
              <a:cs typeface="Candara"/>
              <a:sym typeface="Candara"/>
            </a:endParaRPr>
          </a:p>
          <a:p>
            <a:pPr indent="0" lvl="0" marL="457200" rtl="0" algn="l">
              <a:spcBef>
                <a:spcPts val="1300"/>
              </a:spcBef>
              <a:spcAft>
                <a:spcPts val="0"/>
              </a:spcAft>
              <a:buNone/>
            </a:pPr>
            <a:r>
              <a:t/>
            </a:r>
            <a:endParaRPr sz="100">
              <a:solidFill>
                <a:schemeClr val="dk1"/>
              </a:solidFill>
              <a:latin typeface="Candara"/>
              <a:ea typeface="Candara"/>
              <a:cs typeface="Candara"/>
              <a:sym typeface="Candara"/>
            </a:endParaRPr>
          </a:p>
          <a:p>
            <a:pPr indent="-355600" lvl="0" marL="457200" rtl="0" algn="l">
              <a:spcBef>
                <a:spcPts val="1300"/>
              </a:spcBef>
              <a:spcAft>
                <a:spcPts val="0"/>
              </a:spcAft>
              <a:buClr>
                <a:srgbClr val="134262"/>
              </a:buClr>
              <a:buSzPts val="2000"/>
              <a:buChar char="•"/>
            </a:pPr>
            <a:r>
              <a:rPr lang="en-US" sz="2000">
                <a:solidFill>
                  <a:schemeClr val="dk1"/>
                </a:solidFill>
                <a:latin typeface="Candara"/>
                <a:ea typeface="Candara"/>
                <a:cs typeface="Candara"/>
                <a:sym typeface="Candara"/>
              </a:rPr>
              <a:t>Datasets: porque contiene datos.</a:t>
            </a:r>
            <a:endParaRPr sz="2000">
              <a:latin typeface="Calibri"/>
              <a:ea typeface="Calibri"/>
              <a:cs typeface="Calibri"/>
              <a:sym typeface="Calibri"/>
            </a:endParaRPr>
          </a:p>
        </p:txBody>
      </p:sp>
      <p:sp>
        <p:nvSpPr>
          <p:cNvPr id="80" name="Google Shape;80;p11"/>
          <p:cNvSpPr txBox="1"/>
          <p:nvPr/>
        </p:nvSpPr>
        <p:spPr>
          <a:xfrm>
            <a:off x="5183125" y="3689600"/>
            <a:ext cx="1831500" cy="446400"/>
          </a:xfrm>
          <a:prstGeom prst="rect">
            <a:avLst/>
          </a:prstGeom>
          <a:noFill/>
          <a:ln cap="flat" cmpd="sng" w="9525">
            <a:solidFill>
              <a:srgbClr val="134262"/>
            </a:solidFill>
            <a:prstDash val="solid"/>
            <a:round/>
            <a:headEnd len="sm" w="sm" type="none"/>
            <a:tailEnd len="sm" w="sm" type="none"/>
          </a:ln>
        </p:spPr>
        <p:txBody>
          <a:bodyPr anchorCtr="0" anchor="t" bIns="0" lIns="0" spcFirstLastPara="1" rIns="0" wrap="square" tIns="0">
            <a:spAutoFit/>
          </a:bodyPr>
          <a:lstStyle/>
          <a:p>
            <a:pPr indent="0" lvl="0" marL="35560" rtl="0" algn="l">
              <a:lnSpc>
                <a:spcPct val="117031"/>
              </a:lnSpc>
              <a:spcBef>
                <a:spcPts val="0"/>
              </a:spcBef>
              <a:spcAft>
                <a:spcPts val="0"/>
              </a:spcAft>
              <a:buNone/>
            </a:pPr>
            <a:r>
              <a:rPr b="1" lang="en-US" sz="2900">
                <a:solidFill>
                  <a:srgbClr val="134262"/>
                </a:solidFill>
                <a:latin typeface="Candara"/>
                <a:ea typeface="Candara"/>
                <a:cs typeface="Candara"/>
                <a:sym typeface="Candara"/>
              </a:rPr>
              <a:t>CREACIÓN</a:t>
            </a:r>
            <a:endParaRPr sz="2900">
              <a:latin typeface="Candara"/>
              <a:ea typeface="Candara"/>
              <a:cs typeface="Candara"/>
              <a:sym typeface="Candara"/>
            </a:endParaRPr>
          </a:p>
        </p:txBody>
      </p:sp>
      <p:sp>
        <p:nvSpPr>
          <p:cNvPr id="81" name="Google Shape;81;p11"/>
          <p:cNvSpPr txBox="1"/>
          <p:nvPr/>
        </p:nvSpPr>
        <p:spPr>
          <a:xfrm>
            <a:off x="8979407" y="5344667"/>
            <a:ext cx="1430100" cy="446400"/>
          </a:xfrm>
          <a:prstGeom prst="rect">
            <a:avLst/>
          </a:prstGeom>
          <a:noFill/>
          <a:ln cap="flat" cmpd="sng" w="9525">
            <a:solidFill>
              <a:srgbClr val="134262"/>
            </a:solidFill>
            <a:prstDash val="solid"/>
            <a:round/>
            <a:headEnd len="sm" w="sm" type="none"/>
            <a:tailEnd len="sm" w="sm" type="none"/>
          </a:ln>
        </p:spPr>
        <p:txBody>
          <a:bodyPr anchorCtr="0" anchor="t" bIns="0" lIns="0" spcFirstLastPara="1" rIns="0" wrap="square" tIns="0">
            <a:spAutoFit/>
          </a:bodyPr>
          <a:lstStyle/>
          <a:p>
            <a:pPr indent="0" lvl="0" marL="76835" rtl="0" algn="l">
              <a:lnSpc>
                <a:spcPct val="117187"/>
              </a:lnSpc>
              <a:spcBef>
                <a:spcPts val="0"/>
              </a:spcBef>
              <a:spcAft>
                <a:spcPts val="0"/>
              </a:spcAft>
              <a:buNone/>
            </a:pPr>
            <a:r>
              <a:rPr b="1" lang="en-US" sz="2900">
                <a:solidFill>
                  <a:srgbClr val="134262"/>
                </a:solidFill>
                <a:latin typeface="Candara"/>
                <a:ea typeface="Candara"/>
                <a:cs typeface="Candara"/>
                <a:sym typeface="Candara"/>
              </a:rPr>
              <a:t>ACCIÓN</a:t>
            </a:r>
            <a:endParaRPr sz="3200">
              <a:latin typeface="Calibri"/>
              <a:ea typeface="Calibri"/>
              <a:cs typeface="Calibri"/>
              <a:sym typeface="Calibri"/>
            </a:endParaRPr>
          </a:p>
        </p:txBody>
      </p:sp>
      <p:sp>
        <p:nvSpPr>
          <p:cNvPr id="82" name="Google Shape;82;p11"/>
          <p:cNvSpPr txBox="1"/>
          <p:nvPr/>
        </p:nvSpPr>
        <p:spPr>
          <a:xfrm>
            <a:off x="8023850" y="3694175"/>
            <a:ext cx="3422400" cy="446400"/>
          </a:xfrm>
          <a:prstGeom prst="rect">
            <a:avLst/>
          </a:prstGeom>
          <a:noFill/>
          <a:ln cap="flat" cmpd="sng" w="9525">
            <a:solidFill>
              <a:srgbClr val="134262"/>
            </a:solidFill>
            <a:prstDash val="solid"/>
            <a:round/>
            <a:headEnd len="sm" w="sm" type="none"/>
            <a:tailEnd len="sm" w="sm" type="none"/>
          </a:ln>
        </p:spPr>
        <p:txBody>
          <a:bodyPr anchorCtr="0" anchor="t" bIns="0" lIns="0" spcFirstLastPara="1" rIns="0" wrap="square" tIns="0">
            <a:spAutoFit/>
          </a:bodyPr>
          <a:lstStyle/>
          <a:p>
            <a:pPr indent="0" lvl="0" marL="85090" rtl="0" algn="l">
              <a:lnSpc>
                <a:spcPct val="116875"/>
              </a:lnSpc>
              <a:spcBef>
                <a:spcPts val="0"/>
              </a:spcBef>
              <a:spcAft>
                <a:spcPts val="0"/>
              </a:spcAft>
              <a:buNone/>
            </a:pPr>
            <a:r>
              <a:rPr b="1" lang="en-US" sz="2900">
                <a:solidFill>
                  <a:srgbClr val="134262"/>
                </a:solidFill>
                <a:latin typeface="Candara"/>
                <a:ea typeface="Candara"/>
                <a:cs typeface="Candara"/>
                <a:sym typeface="Candara"/>
              </a:rPr>
              <a:t>TRANSFORMACIÓN</a:t>
            </a:r>
            <a:endParaRPr sz="3200">
              <a:latin typeface="Calibri"/>
              <a:ea typeface="Calibri"/>
              <a:cs typeface="Calibri"/>
              <a:sym typeface="Calibri"/>
            </a:endParaRPr>
          </a:p>
        </p:txBody>
      </p:sp>
      <p:grpSp>
        <p:nvGrpSpPr>
          <p:cNvPr id="83" name="Google Shape;83;p11"/>
          <p:cNvGrpSpPr/>
          <p:nvPr/>
        </p:nvGrpSpPr>
        <p:grpSpPr>
          <a:xfrm>
            <a:off x="6047232" y="4203191"/>
            <a:ext cx="2914573" cy="1442703"/>
            <a:chOff x="6047232" y="4203191"/>
            <a:chExt cx="2914573" cy="1442703"/>
          </a:xfrm>
        </p:grpSpPr>
        <p:sp>
          <p:nvSpPr>
            <p:cNvPr id="84" name="Google Shape;84;p11"/>
            <p:cNvSpPr/>
            <p:nvPr/>
          </p:nvSpPr>
          <p:spPr>
            <a:xfrm>
              <a:off x="6047232" y="4203191"/>
              <a:ext cx="2910205" cy="1398905"/>
            </a:xfrm>
            <a:custGeom>
              <a:rect b="b" l="l" r="r" t="t"/>
              <a:pathLst>
                <a:path extrusionOk="0" h="1398904" w="2910204">
                  <a:moveTo>
                    <a:pt x="0" y="0"/>
                  </a:moveTo>
                  <a:lnTo>
                    <a:pt x="3151" y="56398"/>
                  </a:lnTo>
                  <a:lnTo>
                    <a:pt x="12493" y="112714"/>
                  </a:lnTo>
                  <a:lnTo>
                    <a:pt x="27853" y="168867"/>
                  </a:lnTo>
                  <a:lnTo>
                    <a:pt x="49061" y="224776"/>
                  </a:lnTo>
                  <a:lnTo>
                    <a:pt x="75945" y="280357"/>
                  </a:lnTo>
                  <a:lnTo>
                    <a:pt x="108335" y="335531"/>
                  </a:lnTo>
                  <a:lnTo>
                    <a:pt x="146059" y="390216"/>
                  </a:lnTo>
                  <a:lnTo>
                    <a:pt x="188946" y="444329"/>
                  </a:lnTo>
                  <a:lnTo>
                    <a:pt x="236826" y="497790"/>
                  </a:lnTo>
                  <a:lnTo>
                    <a:pt x="289527" y="550516"/>
                  </a:lnTo>
                  <a:lnTo>
                    <a:pt x="317632" y="576578"/>
                  </a:lnTo>
                  <a:lnTo>
                    <a:pt x="346878" y="602426"/>
                  </a:lnTo>
                  <a:lnTo>
                    <a:pt x="377245" y="628050"/>
                  </a:lnTo>
                  <a:lnTo>
                    <a:pt x="408709" y="653439"/>
                  </a:lnTo>
                  <a:lnTo>
                    <a:pt x="441250" y="678583"/>
                  </a:lnTo>
                  <a:lnTo>
                    <a:pt x="474848" y="703472"/>
                  </a:lnTo>
                  <a:lnTo>
                    <a:pt x="509479" y="728096"/>
                  </a:lnTo>
                  <a:lnTo>
                    <a:pt x="545123" y="752445"/>
                  </a:lnTo>
                  <a:lnTo>
                    <a:pt x="581759" y="776508"/>
                  </a:lnTo>
                  <a:lnTo>
                    <a:pt x="619365" y="800276"/>
                  </a:lnTo>
                  <a:lnTo>
                    <a:pt x="657919" y="823737"/>
                  </a:lnTo>
                  <a:lnTo>
                    <a:pt x="697401" y="846883"/>
                  </a:lnTo>
                  <a:lnTo>
                    <a:pt x="737789" y="869701"/>
                  </a:lnTo>
                  <a:lnTo>
                    <a:pt x="779062" y="892184"/>
                  </a:lnTo>
                  <a:lnTo>
                    <a:pt x="821198" y="914319"/>
                  </a:lnTo>
                  <a:lnTo>
                    <a:pt x="864175" y="936098"/>
                  </a:lnTo>
                  <a:lnTo>
                    <a:pt x="907973" y="957510"/>
                  </a:lnTo>
                  <a:lnTo>
                    <a:pt x="952570" y="978544"/>
                  </a:lnTo>
                  <a:lnTo>
                    <a:pt x="997945" y="999190"/>
                  </a:lnTo>
                  <a:lnTo>
                    <a:pt x="1044076" y="1019439"/>
                  </a:lnTo>
                  <a:lnTo>
                    <a:pt x="1090942" y="1039280"/>
                  </a:lnTo>
                  <a:lnTo>
                    <a:pt x="1138522" y="1058703"/>
                  </a:lnTo>
                  <a:lnTo>
                    <a:pt x="1186794" y="1077697"/>
                  </a:lnTo>
                  <a:lnTo>
                    <a:pt x="1235736" y="1096253"/>
                  </a:lnTo>
                  <a:lnTo>
                    <a:pt x="1285328" y="1114360"/>
                  </a:lnTo>
                  <a:lnTo>
                    <a:pt x="1335548" y="1132008"/>
                  </a:lnTo>
                  <a:lnTo>
                    <a:pt x="1386375" y="1149188"/>
                  </a:lnTo>
                  <a:lnTo>
                    <a:pt x="1437787" y="1165887"/>
                  </a:lnTo>
                  <a:lnTo>
                    <a:pt x="1489762" y="1182097"/>
                  </a:lnTo>
                  <a:lnTo>
                    <a:pt x="1542281" y="1197808"/>
                  </a:lnTo>
                  <a:lnTo>
                    <a:pt x="1595320" y="1213008"/>
                  </a:lnTo>
                  <a:lnTo>
                    <a:pt x="1648859" y="1227689"/>
                  </a:lnTo>
                  <a:lnTo>
                    <a:pt x="1702876" y="1241839"/>
                  </a:lnTo>
                  <a:lnTo>
                    <a:pt x="1757351" y="1255448"/>
                  </a:lnTo>
                  <a:lnTo>
                    <a:pt x="1812261" y="1268507"/>
                  </a:lnTo>
                  <a:lnTo>
                    <a:pt x="1867585" y="1281005"/>
                  </a:lnTo>
                  <a:lnTo>
                    <a:pt x="1923302" y="1292932"/>
                  </a:lnTo>
                  <a:lnTo>
                    <a:pt x="1979390" y="1304277"/>
                  </a:lnTo>
                  <a:lnTo>
                    <a:pt x="2035829" y="1315031"/>
                  </a:lnTo>
                  <a:lnTo>
                    <a:pt x="2092596" y="1325183"/>
                  </a:lnTo>
                  <a:lnTo>
                    <a:pt x="2149670" y="1334723"/>
                  </a:lnTo>
                  <a:lnTo>
                    <a:pt x="2207031" y="1343641"/>
                  </a:lnTo>
                  <a:lnTo>
                    <a:pt x="2264656" y="1351927"/>
                  </a:lnTo>
                  <a:lnTo>
                    <a:pt x="2322524" y="1359571"/>
                  </a:lnTo>
                  <a:lnTo>
                    <a:pt x="2380614" y="1366561"/>
                  </a:lnTo>
                  <a:lnTo>
                    <a:pt x="2438904" y="1372889"/>
                  </a:lnTo>
                  <a:lnTo>
                    <a:pt x="2497373" y="1378543"/>
                  </a:lnTo>
                  <a:lnTo>
                    <a:pt x="2556000" y="1383515"/>
                  </a:lnTo>
                  <a:lnTo>
                    <a:pt x="2614763" y="1387793"/>
                  </a:lnTo>
                  <a:lnTo>
                    <a:pt x="2673641" y="1391367"/>
                  </a:lnTo>
                  <a:lnTo>
                    <a:pt x="2732613" y="1394227"/>
                  </a:lnTo>
                  <a:lnTo>
                    <a:pt x="2791656" y="1396363"/>
                  </a:lnTo>
                  <a:lnTo>
                    <a:pt x="2850751" y="1397765"/>
                  </a:lnTo>
                  <a:lnTo>
                    <a:pt x="2909874" y="1398422"/>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 name="Google Shape;85;p11"/>
            <p:cNvSpPr/>
            <p:nvPr/>
          </p:nvSpPr>
          <p:spPr>
            <a:xfrm>
              <a:off x="8884970" y="5556994"/>
              <a:ext cx="76835" cy="88900"/>
            </a:xfrm>
            <a:custGeom>
              <a:rect b="b" l="l" r="r" t="t"/>
              <a:pathLst>
                <a:path extrusionOk="0" h="88900" w="76834">
                  <a:moveTo>
                    <a:pt x="0" y="88899"/>
                  </a:moveTo>
                  <a:lnTo>
                    <a:pt x="76301" y="44627"/>
                  </a:lnTo>
                  <a:lnTo>
                    <a:pt x="203" y="0"/>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86" name="Google Shape;86;p11"/>
          <p:cNvGrpSpPr/>
          <p:nvPr/>
        </p:nvGrpSpPr>
        <p:grpSpPr>
          <a:xfrm>
            <a:off x="6912864" y="3909057"/>
            <a:ext cx="1109879" cy="76200"/>
            <a:chOff x="6912864" y="3909057"/>
            <a:chExt cx="1109879" cy="76200"/>
          </a:xfrm>
        </p:grpSpPr>
        <p:sp>
          <p:nvSpPr>
            <p:cNvPr id="87" name="Google Shape;87;p11"/>
            <p:cNvSpPr/>
            <p:nvPr/>
          </p:nvSpPr>
          <p:spPr>
            <a:xfrm>
              <a:off x="6912864" y="3947160"/>
              <a:ext cx="1046480" cy="0"/>
            </a:xfrm>
            <a:custGeom>
              <a:rect b="b" l="l" r="r" t="t"/>
              <a:pathLst>
                <a:path extrusionOk="0" h="120000" w="1046479">
                  <a:moveTo>
                    <a:pt x="0" y="0"/>
                  </a:moveTo>
                  <a:lnTo>
                    <a:pt x="1046378" y="0"/>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 name="Google Shape;88;p11"/>
            <p:cNvSpPr/>
            <p:nvPr/>
          </p:nvSpPr>
          <p:spPr>
            <a:xfrm>
              <a:off x="7946543" y="3909057"/>
              <a:ext cx="76200" cy="76200"/>
            </a:xfrm>
            <a:custGeom>
              <a:rect b="b" l="l" r="r" t="t"/>
              <a:pathLst>
                <a:path extrusionOk="0" h="76200" w="76200">
                  <a:moveTo>
                    <a:pt x="0" y="0"/>
                  </a:moveTo>
                  <a:lnTo>
                    <a:pt x="0" y="76200"/>
                  </a:lnTo>
                  <a:lnTo>
                    <a:pt x="76200" y="38100"/>
                  </a:lnTo>
                  <a:lnTo>
                    <a:pt x="0"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89" name="Google Shape;89;p11"/>
          <p:cNvGrpSpPr/>
          <p:nvPr/>
        </p:nvGrpSpPr>
        <p:grpSpPr>
          <a:xfrm>
            <a:off x="9643644" y="4206239"/>
            <a:ext cx="88900" cy="1128320"/>
            <a:chOff x="9643644" y="4206239"/>
            <a:chExt cx="88900" cy="1128320"/>
          </a:xfrm>
        </p:grpSpPr>
        <p:sp>
          <p:nvSpPr>
            <p:cNvPr id="90" name="Google Shape;90;p11"/>
            <p:cNvSpPr/>
            <p:nvPr/>
          </p:nvSpPr>
          <p:spPr>
            <a:xfrm>
              <a:off x="9688068" y="4206239"/>
              <a:ext cx="12700" cy="1127760"/>
            </a:xfrm>
            <a:custGeom>
              <a:rect b="b" l="l" r="r" t="t"/>
              <a:pathLst>
                <a:path extrusionOk="0" h="1127760" w="12700">
                  <a:moveTo>
                    <a:pt x="12700" y="0"/>
                  </a:moveTo>
                  <a:lnTo>
                    <a:pt x="12623" y="77889"/>
                  </a:lnTo>
                  <a:lnTo>
                    <a:pt x="12404" y="154487"/>
                  </a:lnTo>
                  <a:lnTo>
                    <a:pt x="12055" y="228503"/>
                  </a:lnTo>
                  <a:lnTo>
                    <a:pt x="11593" y="298645"/>
                  </a:lnTo>
                  <a:lnTo>
                    <a:pt x="11030" y="363623"/>
                  </a:lnTo>
                  <a:lnTo>
                    <a:pt x="10381" y="422147"/>
                  </a:lnTo>
                  <a:lnTo>
                    <a:pt x="9660" y="472924"/>
                  </a:lnTo>
                  <a:lnTo>
                    <a:pt x="8883" y="514664"/>
                  </a:lnTo>
                  <a:lnTo>
                    <a:pt x="7213" y="565872"/>
                  </a:lnTo>
                  <a:lnTo>
                    <a:pt x="5503" y="579360"/>
                  </a:lnTo>
                  <a:lnTo>
                    <a:pt x="4670" y="598363"/>
                  </a:lnTo>
                  <a:lnTo>
                    <a:pt x="3099" y="668722"/>
                  </a:lnTo>
                  <a:lnTo>
                    <a:pt x="2387" y="717654"/>
                  </a:lnTo>
                  <a:lnTo>
                    <a:pt x="1742" y="774141"/>
                  </a:lnTo>
                  <a:lnTo>
                    <a:pt x="1178" y="836970"/>
                  </a:lnTo>
                  <a:lnTo>
                    <a:pt x="709" y="904929"/>
                  </a:lnTo>
                  <a:lnTo>
                    <a:pt x="347" y="976809"/>
                  </a:lnTo>
                  <a:lnTo>
                    <a:pt x="106" y="1051396"/>
                  </a:lnTo>
                  <a:lnTo>
                    <a:pt x="0" y="1127480"/>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11"/>
            <p:cNvSpPr/>
            <p:nvPr/>
          </p:nvSpPr>
          <p:spPr>
            <a:xfrm>
              <a:off x="9643644" y="5257724"/>
              <a:ext cx="88900" cy="76835"/>
            </a:xfrm>
            <a:custGeom>
              <a:rect b="b" l="l" r="r" t="t"/>
              <a:pathLst>
                <a:path extrusionOk="0" h="76835" w="88900">
                  <a:moveTo>
                    <a:pt x="88900" y="25"/>
                  </a:moveTo>
                  <a:lnTo>
                    <a:pt x="44424" y="76212"/>
                  </a:lnTo>
                  <a:lnTo>
                    <a:pt x="0" y="0"/>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2" name="Google Shape;92;p11"/>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93" name="Google Shape;93;p11"/>
          <p:cNvSpPr txBox="1"/>
          <p:nvPr>
            <p:ph idx="4294967295" type="title"/>
          </p:nvPr>
        </p:nvSpPr>
        <p:spPr>
          <a:xfrm>
            <a:off x="3863275" y="361825"/>
            <a:ext cx="44712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¿Por qué se llaman RDD?</a:t>
            </a:r>
            <a:endParaRPr>
              <a:latin typeface="Candara"/>
              <a:ea typeface="Candara"/>
              <a:cs typeface="Candara"/>
              <a:sym typeface="Candara"/>
            </a:endParaRPr>
          </a:p>
        </p:txBody>
      </p:sp>
      <p:sp>
        <p:nvSpPr>
          <p:cNvPr id="94" name="Google Shape;94;p11"/>
          <p:cNvSpPr txBox="1"/>
          <p:nvPr/>
        </p:nvSpPr>
        <p:spPr>
          <a:xfrm>
            <a:off x="3191275" y="4768975"/>
            <a:ext cx="2643900" cy="968100"/>
          </a:xfrm>
          <a:prstGeom prst="rect">
            <a:avLst/>
          </a:prstGeom>
          <a:noFill/>
          <a:ln>
            <a:noFill/>
          </a:ln>
        </p:spPr>
        <p:txBody>
          <a:bodyPr anchorCtr="0" anchor="t" bIns="0" lIns="0" spcFirstLastPara="1" rIns="0" wrap="square" tIns="0">
            <a:spAutoFit/>
          </a:bodyPr>
          <a:lstStyle/>
          <a:p>
            <a:pPr indent="0" lvl="0" marL="85090" rtl="0" algn="l">
              <a:lnSpc>
                <a:spcPct val="116875"/>
              </a:lnSpc>
              <a:spcBef>
                <a:spcPts val="0"/>
              </a:spcBef>
              <a:spcAft>
                <a:spcPts val="0"/>
              </a:spcAft>
              <a:buNone/>
            </a:pPr>
            <a:r>
              <a:rPr b="1" lang="en-US" sz="2900">
                <a:solidFill>
                  <a:srgbClr val="980000"/>
                </a:solidFill>
                <a:latin typeface="Candara"/>
                <a:ea typeface="Candara"/>
                <a:cs typeface="Candara"/>
                <a:sym typeface="Candara"/>
              </a:rPr>
              <a:t>TRES TIPOS DE OPERACIONES</a:t>
            </a:r>
            <a:endParaRPr sz="3200">
              <a:solidFill>
                <a:srgbClr val="980000"/>
              </a:solidFill>
              <a:latin typeface="Calibri"/>
              <a:ea typeface="Calibri"/>
              <a:cs typeface="Calibri"/>
              <a:sym typeface="Calibri"/>
            </a:endParaRPr>
          </a:p>
        </p:txBody>
      </p:sp>
      <p:sp>
        <p:nvSpPr>
          <p:cNvPr id="95" name="Google Shape;95;p11"/>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2"/>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01" name="Google Shape;101;p12"/>
          <p:cNvSpPr txBox="1"/>
          <p:nvPr/>
        </p:nvSpPr>
        <p:spPr>
          <a:xfrm>
            <a:off x="657218" y="903013"/>
            <a:ext cx="9461400" cy="5280300"/>
          </a:xfrm>
          <a:prstGeom prst="rect">
            <a:avLst/>
          </a:prstGeom>
          <a:noFill/>
          <a:ln>
            <a:noFill/>
          </a:ln>
        </p:spPr>
        <p:txBody>
          <a:bodyPr anchorCtr="0" anchor="t" bIns="0" lIns="0" spcFirstLastPara="1" rIns="0" wrap="square" tIns="178425">
            <a:spAutoFit/>
          </a:bodyPr>
          <a:lstStyle/>
          <a:p>
            <a:pPr indent="-342265" lvl="0" marL="354965" rtl="0" algn="l">
              <a:lnSpc>
                <a:spcPct val="100000"/>
              </a:lnSpc>
              <a:spcBef>
                <a:spcPts val="0"/>
              </a:spcBef>
              <a:spcAft>
                <a:spcPts val="0"/>
              </a:spcAft>
              <a:buClr>
                <a:srgbClr val="134262"/>
              </a:buClr>
              <a:buSzPts val="2000"/>
              <a:buFont typeface="Arial"/>
              <a:buChar char="•"/>
            </a:pPr>
            <a:r>
              <a:rPr b="1" lang="en-US" sz="2000">
                <a:latin typeface="Candara"/>
                <a:ea typeface="Candara"/>
                <a:cs typeface="Candara"/>
                <a:sym typeface="Candara"/>
              </a:rPr>
              <a:t>Creación</a:t>
            </a:r>
            <a:r>
              <a:rPr lang="en-US" sz="2000">
                <a:latin typeface="Candara"/>
                <a:ea typeface="Candara"/>
                <a:cs typeface="Candara"/>
                <a:sym typeface="Candara"/>
              </a:rPr>
              <a:t>:</a:t>
            </a:r>
            <a:r>
              <a:rPr b="1" lang="en-US" sz="2000">
                <a:solidFill>
                  <a:srgbClr val="134262"/>
                </a:solidFill>
                <a:latin typeface="Candara"/>
                <a:ea typeface="Candara"/>
                <a:cs typeface="Candara"/>
                <a:sym typeface="Candara"/>
              </a:rPr>
              <a:t> </a:t>
            </a:r>
            <a:r>
              <a:rPr lang="en-US" sz="2000">
                <a:latin typeface="Candara"/>
                <a:ea typeface="Candara"/>
                <a:cs typeface="Candara"/>
                <a:sym typeface="Candara"/>
              </a:rPr>
              <a:t>Hay tres formas diferentes de crear una </a:t>
            </a:r>
            <a:r>
              <a:rPr lang="en-US" sz="2000">
                <a:latin typeface="Candara"/>
                <a:ea typeface="Candara"/>
                <a:cs typeface="Candara"/>
                <a:sym typeface="Candara"/>
              </a:rPr>
              <a:t>RDD</a:t>
            </a:r>
            <a:endParaRPr sz="2000">
              <a:latin typeface="Candara"/>
              <a:ea typeface="Candara"/>
              <a:cs typeface="Candara"/>
              <a:sym typeface="Candara"/>
            </a:endParaRPr>
          </a:p>
          <a:p>
            <a:pPr indent="-456564" lvl="1" marL="926464" rtl="0" algn="l">
              <a:lnSpc>
                <a:spcPct val="100000"/>
              </a:lnSpc>
              <a:spcBef>
                <a:spcPts val="1310"/>
              </a:spcBef>
              <a:spcAft>
                <a:spcPts val="0"/>
              </a:spcAft>
              <a:buSzPts val="2000"/>
              <a:buFont typeface="Candara"/>
              <a:buAutoNum type="arabicPeriod"/>
            </a:pPr>
            <a:r>
              <a:rPr lang="en-US" sz="2000">
                <a:latin typeface="Candara"/>
                <a:ea typeface="Candara"/>
                <a:cs typeface="Candara"/>
                <a:sym typeface="Candara"/>
              </a:rPr>
              <a:t>Fuente externa: archivo o fuentes de datos externas (kafka, bases de datos, etc.) </a:t>
            </a:r>
            <a:r>
              <a:rPr lang="en-US" sz="2000">
                <a:latin typeface="Candara"/>
                <a:ea typeface="Candara"/>
                <a:cs typeface="Candara"/>
                <a:sym typeface="Candara"/>
              </a:rPr>
              <a:t> →</a:t>
            </a:r>
            <a:endParaRPr sz="2000">
              <a:latin typeface="Candara"/>
              <a:ea typeface="Candara"/>
              <a:cs typeface="Candara"/>
              <a:sym typeface="Candara"/>
            </a:endParaRPr>
          </a:p>
          <a:p>
            <a:pPr indent="0" lvl="0" marL="1173480" rtl="0" algn="l">
              <a:lnSpc>
                <a:spcPct val="100000"/>
              </a:lnSpc>
              <a:spcBef>
                <a:spcPts val="2160"/>
              </a:spcBef>
              <a:spcAft>
                <a:spcPts val="0"/>
              </a:spcAft>
              <a:buNone/>
            </a:pPr>
            <a:r>
              <a:rPr lang="en-US" sz="1800">
                <a:solidFill>
                  <a:srgbClr val="AE00DB"/>
                </a:solidFill>
                <a:latin typeface="Candara"/>
                <a:ea typeface="Candara"/>
                <a:cs typeface="Candara"/>
                <a:sym typeface="Candara"/>
              </a:rPr>
              <a:t>from </a:t>
            </a:r>
            <a:r>
              <a:rPr lang="en-US" sz="1800">
                <a:solidFill>
                  <a:srgbClr val="257E99"/>
                </a:solidFill>
                <a:latin typeface="Candara"/>
                <a:ea typeface="Candara"/>
                <a:cs typeface="Candara"/>
                <a:sym typeface="Candara"/>
              </a:rPr>
              <a:t>pyspark</a:t>
            </a:r>
            <a:r>
              <a:rPr lang="en-US" sz="1800">
                <a:solidFill>
                  <a:srgbClr val="3A3A3A"/>
                </a:solidFill>
                <a:latin typeface="Candara"/>
                <a:ea typeface="Candara"/>
                <a:cs typeface="Candara"/>
                <a:sym typeface="Candara"/>
              </a:rPr>
              <a:t>.</a:t>
            </a:r>
            <a:r>
              <a:rPr lang="en-US" sz="1800">
                <a:solidFill>
                  <a:srgbClr val="257E99"/>
                </a:solidFill>
                <a:latin typeface="Candara"/>
                <a:ea typeface="Candara"/>
                <a:cs typeface="Candara"/>
                <a:sym typeface="Candara"/>
              </a:rPr>
              <a:t>sql </a:t>
            </a:r>
            <a:r>
              <a:rPr lang="en-US" sz="1800">
                <a:solidFill>
                  <a:srgbClr val="AE00DB"/>
                </a:solidFill>
                <a:latin typeface="Candara"/>
                <a:ea typeface="Candara"/>
                <a:cs typeface="Candara"/>
                <a:sym typeface="Candara"/>
              </a:rPr>
              <a:t>import </a:t>
            </a:r>
            <a:r>
              <a:rPr lang="en-US" sz="1800">
                <a:solidFill>
                  <a:srgbClr val="257E99"/>
                </a:solidFill>
                <a:latin typeface="Candara"/>
                <a:ea typeface="Candara"/>
                <a:cs typeface="Candara"/>
                <a:sym typeface="Candara"/>
              </a:rPr>
              <a:t>SparkSession</a:t>
            </a:r>
            <a:endParaRPr sz="1800">
              <a:latin typeface="Candara"/>
              <a:ea typeface="Candara"/>
              <a:cs typeface="Candara"/>
              <a:sym typeface="Candara"/>
            </a:endParaRPr>
          </a:p>
          <a:p>
            <a:pPr indent="0" lvl="0" marL="1173480" rtl="0" algn="l">
              <a:lnSpc>
                <a:spcPct val="100000"/>
              </a:lnSpc>
              <a:spcBef>
                <a:spcPts val="0"/>
              </a:spcBef>
              <a:spcAft>
                <a:spcPts val="0"/>
              </a:spcAft>
              <a:buNone/>
            </a:pPr>
            <a:r>
              <a:rPr lang="en-US" sz="1800">
                <a:solidFill>
                  <a:srgbClr val="001080"/>
                </a:solidFill>
                <a:latin typeface="Candara"/>
                <a:ea typeface="Candara"/>
                <a:cs typeface="Candara"/>
                <a:sym typeface="Candara"/>
              </a:rPr>
              <a:t>spark </a:t>
            </a:r>
            <a:r>
              <a:rPr lang="en-US" sz="1800">
                <a:latin typeface="Candara"/>
                <a:ea typeface="Candara"/>
                <a:cs typeface="Candara"/>
                <a:sym typeface="Candara"/>
              </a:rPr>
              <a:t>= </a:t>
            </a:r>
            <a:r>
              <a:rPr lang="en-US" sz="1800">
                <a:solidFill>
                  <a:srgbClr val="3A3A3A"/>
                </a:solidFill>
                <a:latin typeface="Candara"/>
                <a:ea typeface="Candara"/>
                <a:cs typeface="Candara"/>
                <a:sym typeface="Candara"/>
              </a:rPr>
              <a:t>(</a:t>
            </a:r>
            <a:r>
              <a:rPr lang="en-US" sz="1800">
                <a:solidFill>
                  <a:srgbClr val="257E99"/>
                </a:solidFill>
                <a:latin typeface="Candara"/>
                <a:ea typeface="Candara"/>
                <a:cs typeface="Candara"/>
                <a:sym typeface="Candara"/>
              </a:rPr>
              <a:t>SparkSession</a:t>
            </a:r>
            <a:r>
              <a:rPr lang="en-US" sz="1800">
                <a:solidFill>
                  <a:srgbClr val="3A3A3A"/>
                </a:solidFill>
                <a:latin typeface="Candara"/>
                <a:ea typeface="Candara"/>
                <a:cs typeface="Candara"/>
                <a:sym typeface="Candara"/>
              </a:rPr>
              <a:t>.</a:t>
            </a:r>
            <a:r>
              <a:rPr lang="en-US" sz="1800">
                <a:solidFill>
                  <a:srgbClr val="001080"/>
                </a:solidFill>
                <a:latin typeface="Candara"/>
                <a:ea typeface="Candara"/>
                <a:cs typeface="Candara"/>
                <a:sym typeface="Candara"/>
              </a:rPr>
              <a:t>builder</a:t>
            </a:r>
            <a:r>
              <a:rPr lang="en-US" sz="1800">
                <a:solidFill>
                  <a:srgbClr val="3A3A3A"/>
                </a:solidFill>
                <a:latin typeface="Candara"/>
                <a:ea typeface="Candara"/>
                <a:cs typeface="Candara"/>
                <a:sym typeface="Candara"/>
              </a:rPr>
              <a:t>.</a:t>
            </a:r>
            <a:r>
              <a:rPr lang="en-US" sz="1800">
                <a:solidFill>
                  <a:srgbClr val="795E25"/>
                </a:solidFill>
                <a:latin typeface="Candara"/>
                <a:ea typeface="Candara"/>
                <a:cs typeface="Candara"/>
                <a:sym typeface="Candara"/>
              </a:rPr>
              <a:t>appName</a:t>
            </a:r>
            <a:r>
              <a:rPr lang="en-US" sz="1800">
                <a:solidFill>
                  <a:srgbClr val="3A3A3A"/>
                </a:solidFill>
                <a:latin typeface="Candara"/>
                <a:ea typeface="Candara"/>
                <a:cs typeface="Candara"/>
                <a:sym typeface="Candara"/>
              </a:rPr>
              <a:t>(</a:t>
            </a:r>
            <a:r>
              <a:rPr lang="en-US" sz="1800">
                <a:solidFill>
                  <a:srgbClr val="A21414"/>
                </a:solidFill>
                <a:latin typeface="Candara"/>
                <a:ea typeface="Candara"/>
                <a:cs typeface="Candara"/>
                <a:sym typeface="Candara"/>
              </a:rPr>
              <a:t>"create RDD"</a:t>
            </a:r>
            <a:r>
              <a:rPr lang="en-US" sz="1800">
                <a:solidFill>
                  <a:srgbClr val="3A3A3A"/>
                </a:solidFill>
                <a:latin typeface="Candara"/>
                <a:ea typeface="Candara"/>
                <a:cs typeface="Candara"/>
                <a:sym typeface="Candara"/>
              </a:rPr>
              <a:t>).</a:t>
            </a:r>
            <a:r>
              <a:rPr lang="en-US" sz="1800">
                <a:solidFill>
                  <a:srgbClr val="795E25"/>
                </a:solidFill>
                <a:latin typeface="Candara"/>
                <a:ea typeface="Candara"/>
                <a:cs typeface="Candara"/>
                <a:sym typeface="Candara"/>
              </a:rPr>
              <a:t>getOrCreate</a:t>
            </a:r>
            <a:r>
              <a:rPr lang="en-US" sz="1800">
                <a:solidFill>
                  <a:srgbClr val="3A3A3A"/>
                </a:solidFill>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50"/>
              </a:spcBef>
              <a:spcAft>
                <a:spcPts val="0"/>
              </a:spcAft>
              <a:buNone/>
            </a:pPr>
            <a:r>
              <a:t/>
            </a:r>
            <a:endParaRPr sz="1800">
              <a:latin typeface="Candara"/>
              <a:ea typeface="Candara"/>
              <a:cs typeface="Candara"/>
              <a:sym typeface="Candara"/>
            </a:endParaRPr>
          </a:p>
          <a:p>
            <a:pPr indent="0" lvl="0" marL="1174115" rtl="0" algn="l">
              <a:lnSpc>
                <a:spcPct val="100000"/>
              </a:lnSpc>
              <a:spcBef>
                <a:spcPts val="0"/>
              </a:spcBef>
              <a:spcAft>
                <a:spcPts val="0"/>
              </a:spcAft>
              <a:buNone/>
            </a:pPr>
            <a:r>
              <a:rPr lang="en-US" sz="1800">
                <a:solidFill>
                  <a:srgbClr val="001080"/>
                </a:solidFill>
                <a:latin typeface="Candara"/>
                <a:ea typeface="Candara"/>
                <a:cs typeface="Candara"/>
                <a:sym typeface="Candara"/>
              </a:rPr>
              <a:t>data</a:t>
            </a:r>
            <a:r>
              <a:rPr lang="en-US" sz="1800">
                <a:solidFill>
                  <a:srgbClr val="001080"/>
                </a:solidFill>
                <a:latin typeface="Candara"/>
                <a:ea typeface="Candara"/>
                <a:cs typeface="Candara"/>
                <a:sym typeface="Candara"/>
              </a:rPr>
              <a:t>RDD </a:t>
            </a:r>
            <a:r>
              <a:rPr lang="en-US" sz="1800">
                <a:latin typeface="Candara"/>
                <a:ea typeface="Candara"/>
                <a:cs typeface="Candara"/>
                <a:sym typeface="Candara"/>
              </a:rPr>
              <a:t>= </a:t>
            </a:r>
            <a:r>
              <a:rPr lang="en-US" sz="1800">
                <a:solidFill>
                  <a:srgbClr val="001080"/>
                </a:solidFill>
                <a:latin typeface="Candara"/>
                <a:ea typeface="Candara"/>
                <a:cs typeface="Candara"/>
                <a:sym typeface="Candara"/>
              </a:rPr>
              <a:t>spark</a:t>
            </a:r>
            <a:r>
              <a:rPr lang="en-US" sz="1800">
                <a:solidFill>
                  <a:srgbClr val="3A3A3A"/>
                </a:solidFill>
                <a:latin typeface="Candara"/>
                <a:ea typeface="Candara"/>
                <a:cs typeface="Candara"/>
                <a:sym typeface="Candara"/>
              </a:rPr>
              <a:t>.</a:t>
            </a:r>
            <a:r>
              <a:rPr lang="en-US" sz="1800">
                <a:solidFill>
                  <a:srgbClr val="001080"/>
                </a:solidFill>
                <a:latin typeface="Candara"/>
                <a:ea typeface="Candara"/>
                <a:cs typeface="Candara"/>
                <a:sym typeface="Candara"/>
              </a:rPr>
              <a:t>sparkContext</a:t>
            </a:r>
            <a:r>
              <a:rPr lang="en-US" sz="1800">
                <a:solidFill>
                  <a:srgbClr val="3A3A3A"/>
                </a:solidFill>
                <a:latin typeface="Candara"/>
                <a:ea typeface="Candara"/>
                <a:cs typeface="Candara"/>
                <a:sym typeface="Candara"/>
              </a:rPr>
              <a:t>().textFile(</a:t>
            </a:r>
            <a:r>
              <a:rPr lang="en-US" sz="1800">
                <a:solidFill>
                  <a:srgbClr val="A21414"/>
                </a:solidFill>
                <a:latin typeface="Candara"/>
                <a:ea typeface="Candara"/>
                <a:cs typeface="Candara"/>
                <a:sym typeface="Candara"/>
              </a:rPr>
              <a:t>"data.txt"</a:t>
            </a:r>
            <a:r>
              <a:rPr lang="en-US" sz="1800">
                <a:solidFill>
                  <a:srgbClr val="3A3A3A"/>
                </a:solidFill>
                <a:latin typeface="Candara"/>
                <a:ea typeface="Candara"/>
                <a:cs typeface="Candara"/>
                <a:sym typeface="Candara"/>
              </a:rPr>
              <a:t>)</a:t>
            </a:r>
            <a:endParaRPr sz="1800">
              <a:solidFill>
                <a:srgbClr val="3A3A3A"/>
              </a:solidFill>
              <a:latin typeface="Candara"/>
              <a:ea typeface="Candara"/>
              <a:cs typeface="Candara"/>
              <a:sym typeface="Candara"/>
            </a:endParaRPr>
          </a:p>
          <a:p>
            <a:pPr indent="0" lvl="0" marL="1174115" rtl="0" algn="l">
              <a:lnSpc>
                <a:spcPct val="100000"/>
              </a:lnSpc>
              <a:spcBef>
                <a:spcPts val="0"/>
              </a:spcBef>
              <a:spcAft>
                <a:spcPts val="0"/>
              </a:spcAft>
              <a:buNone/>
            </a:pPr>
            <a:r>
              <a:t/>
            </a:r>
            <a:endParaRPr sz="1800">
              <a:solidFill>
                <a:srgbClr val="3A3A3A"/>
              </a:solidFill>
              <a:latin typeface="Candara"/>
              <a:ea typeface="Candara"/>
              <a:cs typeface="Candara"/>
              <a:sym typeface="Candara"/>
            </a:endParaRPr>
          </a:p>
          <a:p>
            <a:pPr indent="444500" lvl="0" marL="12700" rtl="0" algn="l">
              <a:spcBef>
                <a:spcPts val="0"/>
              </a:spcBef>
              <a:spcAft>
                <a:spcPts val="0"/>
              </a:spcAft>
              <a:buClr>
                <a:schemeClr val="dk1"/>
              </a:buClr>
              <a:buFont typeface="Arial"/>
              <a:buNone/>
            </a:pPr>
            <a:r>
              <a:rPr lang="en-US" sz="2000">
                <a:solidFill>
                  <a:schemeClr val="dk1"/>
                </a:solidFill>
                <a:latin typeface="Candara"/>
                <a:ea typeface="Candara"/>
                <a:cs typeface="Candara"/>
                <a:sym typeface="Candara"/>
              </a:rPr>
              <a:t>2.	Desde una estructura interna →  </a:t>
            </a:r>
            <a:r>
              <a:rPr lang="en-US" sz="1800">
                <a:solidFill>
                  <a:srgbClr val="001080"/>
                </a:solidFill>
                <a:latin typeface="Candara"/>
                <a:ea typeface="Candara"/>
                <a:cs typeface="Candara"/>
                <a:sym typeface="Candara"/>
              </a:rPr>
              <a:t>data </a:t>
            </a:r>
            <a:r>
              <a:rPr lang="en-US" sz="1800">
                <a:solidFill>
                  <a:schemeClr val="dk1"/>
                </a:solidFill>
                <a:latin typeface="Candara"/>
                <a:ea typeface="Candara"/>
                <a:cs typeface="Candara"/>
                <a:sym typeface="Candara"/>
              </a:rPr>
              <a:t>= </a:t>
            </a:r>
            <a:r>
              <a:rPr lang="en-US" sz="1800">
                <a:solidFill>
                  <a:srgbClr val="3A3A3A"/>
                </a:solidFill>
                <a:latin typeface="Candara"/>
                <a:ea typeface="Candara"/>
                <a:cs typeface="Candara"/>
                <a:sym typeface="Candara"/>
              </a:rPr>
              <a:t>[</a:t>
            </a:r>
            <a:r>
              <a:rPr lang="en-US" sz="1800">
                <a:solidFill>
                  <a:srgbClr val="088557"/>
                </a:solidFill>
                <a:latin typeface="Candara"/>
                <a:ea typeface="Candara"/>
                <a:cs typeface="Candara"/>
                <a:sym typeface="Candara"/>
              </a:rPr>
              <a:t>1</a:t>
            </a:r>
            <a:r>
              <a:rPr lang="en-US" sz="1800">
                <a:solidFill>
                  <a:srgbClr val="3A3A3A"/>
                </a:solidFill>
                <a:latin typeface="Candara"/>
                <a:ea typeface="Candara"/>
                <a:cs typeface="Candara"/>
                <a:sym typeface="Candara"/>
              </a:rPr>
              <a:t>, </a:t>
            </a:r>
            <a:r>
              <a:rPr lang="en-US" sz="1800">
                <a:solidFill>
                  <a:srgbClr val="088557"/>
                </a:solidFill>
                <a:latin typeface="Candara"/>
                <a:ea typeface="Candara"/>
                <a:cs typeface="Candara"/>
                <a:sym typeface="Candara"/>
              </a:rPr>
              <a:t>2</a:t>
            </a:r>
            <a:r>
              <a:rPr lang="en-US" sz="1800">
                <a:solidFill>
                  <a:srgbClr val="3A3A3A"/>
                </a:solidFill>
                <a:latin typeface="Candara"/>
                <a:ea typeface="Candara"/>
                <a:cs typeface="Candara"/>
                <a:sym typeface="Candara"/>
              </a:rPr>
              <a:t>, </a:t>
            </a:r>
            <a:r>
              <a:rPr lang="en-US" sz="1800">
                <a:solidFill>
                  <a:srgbClr val="088557"/>
                </a:solidFill>
                <a:latin typeface="Candara"/>
                <a:ea typeface="Candara"/>
                <a:cs typeface="Candara"/>
                <a:sym typeface="Candara"/>
              </a:rPr>
              <a:t>3</a:t>
            </a:r>
            <a:r>
              <a:rPr lang="en-US" sz="1800">
                <a:solidFill>
                  <a:srgbClr val="3A3A3A"/>
                </a:solidFill>
                <a:latin typeface="Candara"/>
                <a:ea typeface="Candara"/>
                <a:cs typeface="Candara"/>
                <a:sym typeface="Candara"/>
              </a:rPr>
              <a:t>, </a:t>
            </a:r>
            <a:r>
              <a:rPr lang="en-US" sz="1800">
                <a:solidFill>
                  <a:srgbClr val="088557"/>
                </a:solidFill>
                <a:latin typeface="Candara"/>
                <a:ea typeface="Candara"/>
                <a:cs typeface="Candara"/>
                <a:sym typeface="Candara"/>
              </a:rPr>
              <a:t>4</a:t>
            </a:r>
            <a:r>
              <a:rPr lang="en-US" sz="1800">
                <a:solidFill>
                  <a:srgbClr val="3A3A3A"/>
                </a:solidFill>
                <a:latin typeface="Candara"/>
                <a:ea typeface="Candara"/>
                <a:cs typeface="Candara"/>
                <a:sym typeface="Candara"/>
              </a:rPr>
              <a:t>, </a:t>
            </a:r>
            <a:r>
              <a:rPr lang="en-US" sz="1800">
                <a:solidFill>
                  <a:srgbClr val="088557"/>
                </a:solidFill>
                <a:latin typeface="Candara"/>
                <a:ea typeface="Candara"/>
                <a:cs typeface="Candara"/>
                <a:sym typeface="Candara"/>
              </a:rPr>
              <a:t>5</a:t>
            </a:r>
            <a:r>
              <a:rPr lang="en-US" sz="1800">
                <a:solidFill>
                  <a:srgbClr val="3A3A3A"/>
                </a:solidFill>
                <a:latin typeface="Candara"/>
                <a:ea typeface="Candara"/>
                <a:cs typeface="Candara"/>
                <a:sym typeface="Candara"/>
              </a:rPr>
              <a:t>]</a:t>
            </a:r>
            <a:endParaRPr sz="1800">
              <a:solidFill>
                <a:schemeClr val="dk1"/>
              </a:solidFill>
              <a:latin typeface="Candara"/>
              <a:ea typeface="Candara"/>
              <a:cs typeface="Candara"/>
              <a:sym typeface="Candara"/>
            </a:endParaRPr>
          </a:p>
          <a:p>
            <a:pPr indent="0" lvl="0" marL="12700" rtl="0" algn="l">
              <a:spcBef>
                <a:spcPts val="0"/>
              </a:spcBef>
              <a:spcAft>
                <a:spcPts val="0"/>
              </a:spcAft>
              <a:buNone/>
            </a:pPr>
            <a:r>
              <a:rPr lang="en-US" sz="1800">
                <a:solidFill>
                  <a:srgbClr val="001080"/>
                </a:solidFill>
                <a:latin typeface="Candara"/>
                <a:ea typeface="Candara"/>
                <a:cs typeface="Candara"/>
                <a:sym typeface="Candara"/>
              </a:rPr>
              <a:t>                								       distirbuitedData </a:t>
            </a:r>
            <a:r>
              <a:rPr lang="en-US" sz="1800">
                <a:solidFill>
                  <a:schemeClr val="dk1"/>
                </a:solidFill>
                <a:latin typeface="Candara"/>
                <a:ea typeface="Candara"/>
                <a:cs typeface="Candara"/>
                <a:sym typeface="Candara"/>
              </a:rPr>
              <a:t>= </a:t>
            </a:r>
            <a:r>
              <a:rPr lang="en-US" sz="1800">
                <a:solidFill>
                  <a:srgbClr val="001080"/>
                </a:solidFill>
                <a:latin typeface="Candara"/>
                <a:ea typeface="Candara"/>
                <a:cs typeface="Candara"/>
                <a:sym typeface="Candara"/>
              </a:rPr>
              <a:t>sc</a:t>
            </a:r>
            <a:r>
              <a:rPr lang="en-US" sz="1800">
                <a:solidFill>
                  <a:srgbClr val="3A3A3A"/>
                </a:solidFill>
                <a:latin typeface="Candara"/>
                <a:ea typeface="Candara"/>
                <a:cs typeface="Candara"/>
                <a:sym typeface="Candara"/>
              </a:rPr>
              <a:t>.parallelize(</a:t>
            </a:r>
            <a:r>
              <a:rPr lang="en-US" sz="1800">
                <a:solidFill>
                  <a:srgbClr val="001080"/>
                </a:solidFill>
                <a:latin typeface="Candara"/>
                <a:ea typeface="Candara"/>
                <a:cs typeface="Candara"/>
                <a:sym typeface="Candara"/>
              </a:rPr>
              <a:t>data</a:t>
            </a:r>
            <a:r>
              <a:rPr lang="en-US" sz="1800">
                <a:solidFill>
                  <a:srgbClr val="3A3A3A"/>
                </a:solidFill>
                <a:latin typeface="Candara"/>
                <a:ea typeface="Candara"/>
                <a:cs typeface="Candara"/>
                <a:sym typeface="Candara"/>
              </a:rPr>
              <a:t>)</a:t>
            </a:r>
            <a:endParaRPr sz="1800">
              <a:solidFill>
                <a:srgbClr val="3A3A3A"/>
              </a:solidFill>
              <a:latin typeface="Candara"/>
              <a:ea typeface="Candara"/>
              <a:cs typeface="Candara"/>
              <a:sym typeface="Candara"/>
            </a:endParaRPr>
          </a:p>
          <a:p>
            <a:pPr indent="0" lvl="0" marL="12700" rtl="0" algn="l">
              <a:spcBef>
                <a:spcPts val="0"/>
              </a:spcBef>
              <a:spcAft>
                <a:spcPts val="0"/>
              </a:spcAft>
              <a:buNone/>
            </a:pPr>
            <a:r>
              <a:t/>
            </a:r>
            <a:endParaRPr sz="1800">
              <a:solidFill>
                <a:srgbClr val="3A3A3A"/>
              </a:solidFill>
              <a:latin typeface="Candara"/>
              <a:ea typeface="Candara"/>
              <a:cs typeface="Candara"/>
              <a:sym typeface="Candara"/>
            </a:endParaRPr>
          </a:p>
          <a:p>
            <a:pPr indent="0" lvl="0" marL="469900" rtl="0" algn="l">
              <a:spcBef>
                <a:spcPts val="0"/>
              </a:spcBef>
              <a:spcAft>
                <a:spcPts val="0"/>
              </a:spcAft>
              <a:buNone/>
            </a:pPr>
            <a:r>
              <a:rPr lang="en-US" sz="2000">
                <a:solidFill>
                  <a:schemeClr val="dk1"/>
                </a:solidFill>
                <a:latin typeface="Candara"/>
                <a:ea typeface="Candara"/>
                <a:cs typeface="Candara"/>
                <a:sym typeface="Candara"/>
              </a:rPr>
              <a:t>3.	Desde otro RDD, ya que los RDD son inmutables, cada transformación sobre un RDD produce otro → </a:t>
            </a:r>
            <a:r>
              <a:rPr lang="en-US" sz="1800">
                <a:solidFill>
                  <a:srgbClr val="001080"/>
                </a:solidFill>
                <a:latin typeface="Candara"/>
                <a:ea typeface="Candara"/>
                <a:cs typeface="Candara"/>
                <a:sym typeface="Candara"/>
              </a:rPr>
              <a:t>newRDD </a:t>
            </a:r>
            <a:r>
              <a:rPr lang="en-US" sz="1800">
                <a:solidFill>
                  <a:schemeClr val="dk1"/>
                </a:solidFill>
                <a:latin typeface="Candara"/>
                <a:ea typeface="Candara"/>
                <a:cs typeface="Candara"/>
                <a:sym typeface="Candara"/>
              </a:rPr>
              <a:t>= </a:t>
            </a:r>
            <a:r>
              <a:rPr lang="en-US" sz="1800">
                <a:solidFill>
                  <a:srgbClr val="001080"/>
                </a:solidFill>
                <a:latin typeface="Candara"/>
                <a:ea typeface="Candara"/>
                <a:cs typeface="Candara"/>
                <a:sym typeface="Candara"/>
              </a:rPr>
              <a:t>dataRDD</a:t>
            </a:r>
            <a:r>
              <a:rPr lang="en-US" sz="1800">
                <a:solidFill>
                  <a:srgbClr val="3A3A3A"/>
                </a:solidFill>
                <a:latin typeface="Candara"/>
                <a:ea typeface="Candara"/>
                <a:cs typeface="Candara"/>
                <a:sym typeface="Candara"/>
              </a:rPr>
              <a:t>.map(</a:t>
            </a:r>
            <a:r>
              <a:rPr lang="en-US" sz="1800">
                <a:solidFill>
                  <a:schemeClr val="hlink"/>
                </a:solidFill>
                <a:latin typeface="Candara"/>
                <a:ea typeface="Candara"/>
                <a:cs typeface="Candara"/>
                <a:sym typeface="Candara"/>
              </a:rPr>
              <a:t>lambda </a:t>
            </a:r>
            <a:r>
              <a:rPr lang="en-US" sz="1800">
                <a:solidFill>
                  <a:srgbClr val="001080"/>
                </a:solidFill>
                <a:latin typeface="Candara"/>
                <a:ea typeface="Candara"/>
                <a:cs typeface="Candara"/>
                <a:sym typeface="Candara"/>
              </a:rPr>
              <a:t>s</a:t>
            </a:r>
            <a:r>
              <a:rPr lang="en-US" sz="1800">
                <a:solidFill>
                  <a:srgbClr val="3A3A3A"/>
                </a:solidFill>
                <a:latin typeface="Candara"/>
                <a:ea typeface="Candara"/>
                <a:cs typeface="Candara"/>
                <a:sym typeface="Candara"/>
              </a:rPr>
              <a:t>: (</a:t>
            </a:r>
            <a:r>
              <a:rPr lang="en-US" sz="1800">
                <a:solidFill>
                  <a:srgbClr val="001080"/>
                </a:solidFill>
                <a:latin typeface="Candara"/>
                <a:ea typeface="Candara"/>
                <a:cs typeface="Candara"/>
                <a:sym typeface="Candara"/>
              </a:rPr>
              <a:t>s</a:t>
            </a:r>
            <a:r>
              <a:rPr lang="en-US" sz="1800">
                <a:solidFill>
                  <a:srgbClr val="3A3A3A"/>
                </a:solidFill>
                <a:latin typeface="Candara"/>
                <a:ea typeface="Candara"/>
                <a:cs typeface="Candara"/>
                <a:sym typeface="Candara"/>
              </a:rPr>
              <a:t>, </a:t>
            </a:r>
            <a:r>
              <a:rPr lang="en-US" sz="1800">
                <a:solidFill>
                  <a:srgbClr val="088557"/>
                </a:solidFill>
                <a:latin typeface="Candara"/>
                <a:ea typeface="Candara"/>
                <a:cs typeface="Candara"/>
                <a:sym typeface="Candara"/>
              </a:rPr>
              <a:t>1</a:t>
            </a:r>
            <a:r>
              <a:rPr lang="en-US" sz="1800">
                <a:solidFill>
                  <a:srgbClr val="3A3A3A"/>
                </a:solidFill>
                <a:latin typeface="Candara"/>
                <a:ea typeface="Candara"/>
                <a:cs typeface="Candara"/>
                <a:sym typeface="Candara"/>
              </a:rPr>
              <a:t>))</a:t>
            </a:r>
            <a:endParaRPr sz="1800">
              <a:solidFill>
                <a:schemeClr val="dk1"/>
              </a:solidFill>
              <a:latin typeface="Candara"/>
              <a:ea typeface="Candara"/>
              <a:cs typeface="Candara"/>
              <a:sym typeface="Candara"/>
            </a:endParaRPr>
          </a:p>
          <a:p>
            <a:pPr indent="0" lvl="0" marL="12700" rtl="0" algn="l">
              <a:spcBef>
                <a:spcPts val="0"/>
              </a:spcBef>
              <a:spcAft>
                <a:spcPts val="0"/>
              </a:spcAft>
              <a:buNone/>
            </a:pPr>
            <a:r>
              <a:t/>
            </a:r>
            <a:endParaRPr sz="2000">
              <a:solidFill>
                <a:schemeClr val="dk1"/>
              </a:solidFill>
              <a:latin typeface="Candara"/>
              <a:ea typeface="Candara"/>
              <a:cs typeface="Candara"/>
              <a:sym typeface="Candara"/>
            </a:endParaRPr>
          </a:p>
          <a:p>
            <a:pPr indent="0" lvl="0" marL="12700" rtl="0" algn="l">
              <a:spcBef>
                <a:spcPts val="0"/>
              </a:spcBef>
              <a:spcAft>
                <a:spcPts val="0"/>
              </a:spcAft>
              <a:buClr>
                <a:schemeClr val="dk1"/>
              </a:buClr>
              <a:buFont typeface="Arial"/>
              <a:buNone/>
            </a:pPr>
            <a:r>
              <a:t/>
            </a:r>
            <a:endParaRPr sz="1800">
              <a:solidFill>
                <a:srgbClr val="3A3A3A"/>
              </a:solidFill>
              <a:latin typeface="Candara"/>
              <a:ea typeface="Candara"/>
              <a:cs typeface="Candara"/>
              <a:sym typeface="Candara"/>
            </a:endParaRPr>
          </a:p>
          <a:p>
            <a:pPr indent="0" lvl="0" marL="1174115" rtl="0" algn="l">
              <a:lnSpc>
                <a:spcPct val="100000"/>
              </a:lnSpc>
              <a:spcBef>
                <a:spcPts val="0"/>
              </a:spcBef>
              <a:spcAft>
                <a:spcPts val="0"/>
              </a:spcAft>
              <a:buNone/>
            </a:pPr>
            <a:r>
              <a:t/>
            </a:r>
            <a:endParaRPr sz="1800">
              <a:solidFill>
                <a:srgbClr val="3A3A3A"/>
              </a:solidFill>
              <a:latin typeface="Candara"/>
              <a:ea typeface="Candara"/>
              <a:cs typeface="Candara"/>
              <a:sym typeface="Candara"/>
            </a:endParaRPr>
          </a:p>
        </p:txBody>
      </p:sp>
      <p:sp>
        <p:nvSpPr>
          <p:cNvPr id="102" name="Google Shape;102;p12"/>
          <p:cNvSpPr txBox="1"/>
          <p:nvPr>
            <p:ph type="title"/>
          </p:nvPr>
        </p:nvSpPr>
        <p:spPr>
          <a:xfrm>
            <a:off x="3275100" y="396925"/>
            <a:ext cx="56418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Tipos de Operaciones con Spark</a:t>
            </a:r>
            <a:endParaRPr>
              <a:latin typeface="Candara"/>
              <a:ea typeface="Candara"/>
              <a:cs typeface="Candara"/>
              <a:sym typeface="Candara"/>
            </a:endParaRPr>
          </a:p>
        </p:txBody>
      </p:sp>
      <p:sp>
        <p:nvSpPr>
          <p:cNvPr id="103" name="Google Shape;103;p12"/>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3"/>
          <p:cNvSpPr txBox="1"/>
          <p:nvPr/>
        </p:nvSpPr>
        <p:spPr>
          <a:xfrm>
            <a:off x="670468" y="1110169"/>
            <a:ext cx="10501500" cy="2799300"/>
          </a:xfrm>
          <a:prstGeom prst="rect">
            <a:avLst/>
          </a:prstGeom>
          <a:noFill/>
          <a:ln>
            <a:noFill/>
          </a:ln>
        </p:spPr>
        <p:txBody>
          <a:bodyPr anchorCtr="0" anchor="t" bIns="0" lIns="0" spcFirstLastPara="1" rIns="0" wrap="square" tIns="177150">
            <a:spAutoFit/>
          </a:bodyPr>
          <a:lstStyle/>
          <a:p>
            <a:pPr indent="0" lvl="0" marL="0" rtl="0" algn="l">
              <a:lnSpc>
                <a:spcPct val="115000"/>
              </a:lnSpc>
              <a:spcBef>
                <a:spcPts val="0"/>
              </a:spcBef>
              <a:spcAft>
                <a:spcPts val="0"/>
              </a:spcAft>
              <a:buNone/>
            </a:pPr>
            <a:r>
              <a:t/>
            </a:r>
            <a:endParaRPr sz="1100">
              <a:solidFill>
                <a:srgbClr val="1B1C1D"/>
              </a:solidFill>
            </a:endParaRPr>
          </a:p>
          <a:p>
            <a:pPr indent="-355600" lvl="0" marL="457200" rtl="0" algn="l">
              <a:lnSpc>
                <a:spcPct val="115000"/>
              </a:lnSpc>
              <a:spcBef>
                <a:spcPts val="0"/>
              </a:spcBef>
              <a:spcAft>
                <a:spcPts val="0"/>
              </a:spcAft>
              <a:buClr>
                <a:srgbClr val="134262"/>
              </a:buClr>
              <a:buSzPts val="2000"/>
              <a:buChar char="•"/>
            </a:pPr>
            <a:r>
              <a:rPr lang="en-US" sz="2000">
                <a:latin typeface="Candara"/>
                <a:ea typeface="Candara"/>
                <a:cs typeface="Candara"/>
                <a:sym typeface="Candara"/>
              </a:rPr>
              <a:t>Las </a:t>
            </a:r>
            <a:r>
              <a:rPr b="1" lang="en-US" sz="2000">
                <a:latin typeface="Candara"/>
                <a:ea typeface="Candara"/>
                <a:cs typeface="Candara"/>
                <a:sym typeface="Candara"/>
              </a:rPr>
              <a:t>Transformaciones</a:t>
            </a:r>
            <a:r>
              <a:rPr lang="en-US" sz="2000">
                <a:latin typeface="Candara"/>
                <a:ea typeface="Candara"/>
                <a:cs typeface="Candara"/>
                <a:sym typeface="Candara"/>
              </a:rPr>
              <a:t> son operaciones diferidas (Lazy) que crean un nuevo RDD. Solo registran la intención de la operación (el linaje) para permitir que Spark optimice el plan de ejecución completo, sin calcular nada inmediatamente.</a:t>
            </a:r>
            <a:endParaRPr sz="2000">
              <a:latin typeface="Candara"/>
              <a:ea typeface="Candara"/>
              <a:cs typeface="Candara"/>
              <a:sym typeface="Candara"/>
            </a:endParaRPr>
          </a:p>
          <a:p>
            <a:pPr indent="0" lvl="0" marL="457200" rtl="0" algn="l">
              <a:lnSpc>
                <a:spcPct val="115000"/>
              </a:lnSpc>
              <a:spcBef>
                <a:spcPts val="1200"/>
              </a:spcBef>
              <a:spcAft>
                <a:spcPts val="0"/>
              </a:spcAft>
              <a:buNone/>
            </a:pPr>
            <a:r>
              <a:t/>
            </a:r>
            <a:endParaRPr sz="100">
              <a:latin typeface="Candara"/>
              <a:ea typeface="Candara"/>
              <a:cs typeface="Candara"/>
              <a:sym typeface="Candara"/>
            </a:endParaRPr>
          </a:p>
          <a:p>
            <a:pPr indent="-355600" lvl="0" marL="457200" rtl="0" algn="l">
              <a:lnSpc>
                <a:spcPct val="115000"/>
              </a:lnSpc>
              <a:spcBef>
                <a:spcPts val="1200"/>
              </a:spcBef>
              <a:spcAft>
                <a:spcPts val="0"/>
              </a:spcAft>
              <a:buClr>
                <a:srgbClr val="134262"/>
              </a:buClr>
              <a:buSzPts val="2000"/>
              <a:buChar char="•"/>
            </a:pPr>
            <a:r>
              <a:rPr lang="en-US" sz="2000">
                <a:latin typeface="Candara"/>
                <a:ea typeface="Candara"/>
                <a:cs typeface="Candara"/>
                <a:sym typeface="Candara"/>
              </a:rPr>
              <a:t>Las </a:t>
            </a:r>
            <a:r>
              <a:rPr b="1" lang="en-US" sz="2000">
                <a:latin typeface="Candara"/>
                <a:ea typeface="Candara"/>
                <a:cs typeface="Candara"/>
                <a:sym typeface="Candara"/>
              </a:rPr>
              <a:t>Acciones</a:t>
            </a:r>
            <a:r>
              <a:rPr lang="en-US" sz="2000">
                <a:latin typeface="Candara"/>
                <a:ea typeface="Candara"/>
                <a:cs typeface="Candara"/>
                <a:sym typeface="Candara"/>
              </a:rPr>
              <a:t> son la operación final que fuerza la ejecución de todas las transformaciones registradas. Devuelven un resultado concreto al driver o lo escriben en un sistema de almacenamiento.</a:t>
            </a:r>
            <a:endParaRPr b="1" sz="2000">
              <a:solidFill>
                <a:srgbClr val="134262"/>
              </a:solidFill>
              <a:latin typeface="Calibri"/>
              <a:ea typeface="Calibri"/>
              <a:cs typeface="Calibri"/>
              <a:sym typeface="Calibri"/>
            </a:endParaRPr>
          </a:p>
        </p:txBody>
      </p:sp>
      <p:sp>
        <p:nvSpPr>
          <p:cNvPr id="109" name="Google Shape;109;p13"/>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10" name="Google Shape;110;p13"/>
          <p:cNvSpPr txBox="1"/>
          <p:nvPr>
            <p:ph idx="4294967295" type="title"/>
          </p:nvPr>
        </p:nvSpPr>
        <p:spPr>
          <a:xfrm>
            <a:off x="3275100" y="396925"/>
            <a:ext cx="56418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Tipos de Operaciones con Spark</a:t>
            </a:r>
            <a:endParaRPr>
              <a:latin typeface="Candara"/>
              <a:ea typeface="Candara"/>
              <a:cs typeface="Candara"/>
              <a:sym typeface="Candara"/>
            </a:endParaRPr>
          </a:p>
        </p:txBody>
      </p:sp>
      <p:pic>
        <p:nvPicPr>
          <p:cNvPr id="111" name="Google Shape;111;p13" title="Captura de pantalla 2025-11-18 a las 13.39.32.png"/>
          <p:cNvPicPr preferRelativeResize="0"/>
          <p:nvPr/>
        </p:nvPicPr>
        <p:blipFill>
          <a:blip r:embed="rId3">
            <a:alphaModFix/>
          </a:blip>
          <a:stretch>
            <a:fillRect/>
          </a:stretch>
        </p:blipFill>
        <p:spPr>
          <a:xfrm>
            <a:off x="1341088" y="4242399"/>
            <a:ext cx="9160274" cy="1679150"/>
          </a:xfrm>
          <a:prstGeom prst="rect">
            <a:avLst/>
          </a:prstGeom>
          <a:noFill/>
          <a:ln>
            <a:noFill/>
          </a:ln>
        </p:spPr>
      </p:pic>
      <p:sp>
        <p:nvSpPr>
          <p:cNvPr id="112" name="Google Shape;112;p13"/>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4"/>
          <p:cNvSpPr txBox="1"/>
          <p:nvPr>
            <p:ph type="title"/>
          </p:nvPr>
        </p:nvSpPr>
        <p:spPr>
          <a:xfrm>
            <a:off x="3483749" y="381375"/>
            <a:ext cx="5224500" cy="5061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a:latin typeface="Candara"/>
                <a:ea typeface="Candara"/>
                <a:cs typeface="Candara"/>
                <a:sym typeface="Candara"/>
              </a:rPr>
              <a:t>Transformaciones</a:t>
            </a:r>
            <a:r>
              <a:rPr lang="en-US"/>
              <a:t> vs Acciones</a:t>
            </a:r>
            <a:endParaRPr/>
          </a:p>
        </p:txBody>
      </p:sp>
      <p:sp>
        <p:nvSpPr>
          <p:cNvPr id="118" name="Google Shape;118;p14"/>
          <p:cNvSpPr txBox="1"/>
          <p:nvPr/>
        </p:nvSpPr>
        <p:spPr>
          <a:xfrm>
            <a:off x="733554" y="1030725"/>
            <a:ext cx="10911000" cy="1884300"/>
          </a:xfrm>
          <a:prstGeom prst="rect">
            <a:avLst/>
          </a:prstGeom>
          <a:noFill/>
          <a:ln>
            <a:noFill/>
          </a:ln>
        </p:spPr>
        <p:txBody>
          <a:bodyPr anchorCtr="0" anchor="t" bIns="0" lIns="0" spcFirstLastPara="1" rIns="0" wrap="square" tIns="177150">
            <a:spAutoFit/>
          </a:bodyPr>
          <a:lstStyle/>
          <a:p>
            <a:pPr indent="-342265" lvl="0" marL="354965" rtl="0" algn="l">
              <a:lnSpc>
                <a:spcPct val="100000"/>
              </a:lnSpc>
              <a:spcBef>
                <a:spcPts val="1295"/>
              </a:spcBef>
              <a:spcAft>
                <a:spcPts val="0"/>
              </a:spcAft>
              <a:buSzPts val="2000"/>
              <a:buFont typeface="Arial"/>
              <a:buChar char="•"/>
            </a:pPr>
            <a:r>
              <a:rPr lang="en-US" sz="2000">
                <a:latin typeface="Candara"/>
                <a:ea typeface="Candara"/>
                <a:cs typeface="Candara"/>
                <a:sym typeface="Candara"/>
              </a:rPr>
              <a:t>Una </a:t>
            </a:r>
            <a:r>
              <a:rPr b="1" lang="en-US" sz="2000">
                <a:latin typeface="Candara"/>
                <a:ea typeface="Candara"/>
                <a:cs typeface="Candara"/>
                <a:sym typeface="Candara"/>
              </a:rPr>
              <a:t>Acción</a:t>
            </a:r>
            <a:r>
              <a:rPr lang="en-US" sz="2000">
                <a:latin typeface="Candara"/>
                <a:ea typeface="Candara"/>
                <a:cs typeface="Candara"/>
                <a:sym typeface="Candara"/>
              </a:rPr>
              <a:t> es el 'Botón de Inicio' que obliga a Spark a ejecutar la evaluación de todas las Transformaciones registradas previamente en el </a:t>
            </a:r>
            <a:r>
              <a:rPr b="1" lang="en-US" sz="2000">
                <a:latin typeface="Candara"/>
                <a:ea typeface="Candara"/>
                <a:cs typeface="Candara"/>
                <a:sym typeface="Candara"/>
              </a:rPr>
              <a:t>linaje</a:t>
            </a:r>
            <a:r>
              <a:rPr lang="en-US" sz="2000">
                <a:latin typeface="Candara"/>
                <a:ea typeface="Candara"/>
                <a:cs typeface="Candara"/>
                <a:sym typeface="Candara"/>
              </a:rPr>
              <a:t>.</a:t>
            </a:r>
            <a:endParaRPr sz="2000">
              <a:latin typeface="Candara"/>
              <a:ea typeface="Candara"/>
              <a:cs typeface="Candara"/>
              <a:sym typeface="Candara"/>
            </a:endParaRPr>
          </a:p>
          <a:p>
            <a:pPr indent="-342265" lvl="0" marL="354965" rtl="0" algn="l">
              <a:lnSpc>
                <a:spcPct val="100000"/>
              </a:lnSpc>
              <a:spcBef>
                <a:spcPts val="1295"/>
              </a:spcBef>
              <a:spcAft>
                <a:spcPts val="0"/>
              </a:spcAft>
              <a:buSzPts val="2000"/>
              <a:buFont typeface="Arial"/>
              <a:buChar char="•"/>
            </a:pPr>
            <a:r>
              <a:rPr lang="en-US" sz="2000">
                <a:latin typeface="Candara"/>
                <a:ea typeface="Candara"/>
                <a:cs typeface="Candara"/>
                <a:sym typeface="Candara"/>
              </a:rPr>
              <a:t>Cada </a:t>
            </a:r>
            <a:r>
              <a:rPr b="1" lang="en-US" sz="2000">
                <a:latin typeface="Candara"/>
                <a:ea typeface="Candara"/>
                <a:cs typeface="Candara"/>
                <a:sym typeface="Candara"/>
              </a:rPr>
              <a:t>Transformación</a:t>
            </a:r>
            <a:r>
              <a:rPr lang="en-US" sz="2000">
                <a:latin typeface="Candara"/>
                <a:ea typeface="Candara"/>
                <a:cs typeface="Candara"/>
                <a:sym typeface="Candara"/>
              </a:rPr>
              <a:t> crea siempre un DataFrame totalmente nuevo (</a:t>
            </a:r>
            <a:r>
              <a:rPr b="1" lang="en-US" sz="2000">
                <a:latin typeface="Candara"/>
                <a:ea typeface="Candara"/>
                <a:cs typeface="Candara"/>
                <a:sym typeface="Candara"/>
              </a:rPr>
              <a:t>Inmutabilidad</a:t>
            </a:r>
            <a:r>
              <a:rPr lang="en-US" sz="2000">
                <a:latin typeface="Candara"/>
                <a:ea typeface="Candara"/>
                <a:cs typeface="Candara"/>
                <a:sym typeface="Candara"/>
              </a:rPr>
              <a:t>), asegurando que el DataFrame original permanezca intacto y permitiendo la recuperación de datos en caso de fallos.</a:t>
            </a:r>
            <a:endParaRPr sz="1100">
              <a:solidFill>
                <a:schemeClr val="dk1"/>
              </a:solidFill>
              <a:latin typeface="Candara"/>
              <a:ea typeface="Candara"/>
              <a:cs typeface="Candara"/>
              <a:sym typeface="Candara"/>
            </a:endParaRPr>
          </a:p>
        </p:txBody>
      </p:sp>
      <p:pic>
        <p:nvPicPr>
          <p:cNvPr id="119" name="Google Shape;119;p14"/>
          <p:cNvPicPr preferRelativeResize="0"/>
          <p:nvPr/>
        </p:nvPicPr>
        <p:blipFill rotWithShape="1">
          <a:blip r:embed="rId3">
            <a:alphaModFix/>
          </a:blip>
          <a:srcRect b="0" l="0" r="0" t="0"/>
          <a:stretch/>
        </p:blipFill>
        <p:spPr>
          <a:xfrm>
            <a:off x="8237349" y="3309800"/>
            <a:ext cx="3165966" cy="2512450"/>
          </a:xfrm>
          <a:prstGeom prst="rect">
            <a:avLst/>
          </a:prstGeom>
          <a:noFill/>
          <a:ln>
            <a:noFill/>
          </a:ln>
        </p:spPr>
      </p:pic>
      <p:sp>
        <p:nvSpPr>
          <p:cNvPr id="120" name="Google Shape;120;p14"/>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pic>
        <p:nvPicPr>
          <p:cNvPr id="121" name="Google Shape;121;p14"/>
          <p:cNvPicPr preferRelativeResize="0"/>
          <p:nvPr/>
        </p:nvPicPr>
        <p:blipFill>
          <a:blip r:embed="rId4">
            <a:alphaModFix/>
          </a:blip>
          <a:stretch>
            <a:fillRect/>
          </a:stretch>
        </p:blipFill>
        <p:spPr>
          <a:xfrm>
            <a:off x="921575" y="3309801"/>
            <a:ext cx="6415800" cy="2512450"/>
          </a:xfrm>
          <a:prstGeom prst="rect">
            <a:avLst/>
          </a:prstGeom>
          <a:noFill/>
          <a:ln>
            <a:noFill/>
          </a:ln>
        </p:spPr>
      </p:pic>
      <p:sp>
        <p:nvSpPr>
          <p:cNvPr id="122" name="Google Shape;122;p14"/>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5"/>
          <p:cNvSpPr txBox="1"/>
          <p:nvPr>
            <p:ph type="title"/>
          </p:nvPr>
        </p:nvSpPr>
        <p:spPr>
          <a:xfrm>
            <a:off x="3815148" y="379100"/>
            <a:ext cx="4725600" cy="506100"/>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n-US">
                <a:latin typeface="Candara"/>
                <a:ea typeface="Candara"/>
                <a:cs typeface="Candara"/>
                <a:sym typeface="Candara"/>
              </a:rPr>
              <a:t>Tipos de </a:t>
            </a:r>
            <a:r>
              <a:rPr lang="en-US">
                <a:latin typeface="Candara"/>
                <a:ea typeface="Candara"/>
                <a:cs typeface="Candara"/>
                <a:sym typeface="Candara"/>
              </a:rPr>
              <a:t>Transformaciones</a:t>
            </a:r>
            <a:endParaRPr/>
          </a:p>
        </p:txBody>
      </p:sp>
      <p:sp>
        <p:nvSpPr>
          <p:cNvPr id="128" name="Google Shape;128;p15"/>
          <p:cNvSpPr txBox="1"/>
          <p:nvPr/>
        </p:nvSpPr>
        <p:spPr>
          <a:xfrm>
            <a:off x="733550" y="885200"/>
            <a:ext cx="10888800" cy="2800200"/>
          </a:xfrm>
          <a:prstGeom prst="rect">
            <a:avLst/>
          </a:prstGeom>
          <a:noFill/>
          <a:ln>
            <a:noFill/>
          </a:ln>
        </p:spPr>
        <p:txBody>
          <a:bodyPr anchorCtr="0" anchor="t" bIns="0" lIns="0" spcFirstLastPara="1" rIns="0" wrap="square" tIns="177150">
            <a:spAutoFit/>
          </a:bodyPr>
          <a:lstStyle/>
          <a:p>
            <a:pPr indent="-342265" lvl="0" marL="354330" marR="5080" rtl="0" algn="just">
              <a:lnSpc>
                <a:spcPct val="150000"/>
              </a:lnSpc>
              <a:spcBef>
                <a:spcPts val="95"/>
              </a:spcBef>
              <a:spcAft>
                <a:spcPts val="0"/>
              </a:spcAft>
              <a:buClr>
                <a:srgbClr val="134262"/>
              </a:buClr>
              <a:buSzPts val="2000"/>
              <a:buFont typeface="Candara"/>
              <a:buChar char="•"/>
            </a:pPr>
            <a:r>
              <a:rPr lang="en-US" sz="2000">
                <a:latin typeface="Candara"/>
                <a:ea typeface="Candara"/>
                <a:cs typeface="Candara"/>
                <a:sym typeface="Candara"/>
              </a:rPr>
              <a:t>Una transformación es </a:t>
            </a:r>
            <a:r>
              <a:rPr b="1" lang="en-US" sz="2000">
                <a:latin typeface="Candara"/>
                <a:ea typeface="Candara"/>
                <a:cs typeface="Candara"/>
                <a:sym typeface="Candara"/>
              </a:rPr>
              <a:t>narrow</a:t>
            </a:r>
            <a:r>
              <a:rPr lang="en-US" sz="2000">
                <a:latin typeface="Candara"/>
                <a:ea typeface="Candara"/>
                <a:cs typeface="Candara"/>
                <a:sym typeface="Candara"/>
              </a:rPr>
              <a:t> (estrecha) cuando la información necesaria para calcular una nueva partición se encuentra completamente en una única partición de entrada del RDD o DataFrame padre. Ej: .filter(), .select(), .map()</a:t>
            </a:r>
            <a:endParaRPr sz="2000">
              <a:latin typeface="Candara"/>
              <a:ea typeface="Candara"/>
              <a:cs typeface="Candara"/>
              <a:sym typeface="Candara"/>
            </a:endParaRPr>
          </a:p>
          <a:p>
            <a:pPr indent="-342900" lvl="0" marL="354965" marR="6350" rtl="0" algn="just">
              <a:lnSpc>
                <a:spcPct val="146900"/>
              </a:lnSpc>
              <a:spcBef>
                <a:spcPts val="185"/>
              </a:spcBef>
              <a:spcAft>
                <a:spcPts val="0"/>
              </a:spcAft>
              <a:buClr>
                <a:srgbClr val="134262"/>
              </a:buClr>
              <a:buSzPts val="2000"/>
              <a:buFont typeface="Candara"/>
              <a:buChar char="•"/>
            </a:pPr>
            <a:r>
              <a:rPr lang="en-US" sz="2000">
                <a:latin typeface="Candara"/>
                <a:ea typeface="Candara"/>
                <a:cs typeface="Candara"/>
                <a:sym typeface="Candara"/>
              </a:rPr>
              <a:t>Una transformación es </a:t>
            </a:r>
            <a:r>
              <a:rPr b="1" lang="en-US" sz="2000">
                <a:latin typeface="Candara"/>
                <a:ea typeface="Candara"/>
                <a:cs typeface="Candara"/>
                <a:sym typeface="Candara"/>
              </a:rPr>
              <a:t>wide</a:t>
            </a:r>
            <a:r>
              <a:rPr lang="en-US" sz="2000">
                <a:latin typeface="Candara"/>
                <a:ea typeface="Candara"/>
                <a:cs typeface="Candara"/>
                <a:sym typeface="Candara"/>
              </a:rPr>
              <a:t> (amplia) cuando la información necesaria para calcular una única partición de salida proviene de varias (o todas) las particiones de entrada (genera un </a:t>
            </a:r>
            <a:r>
              <a:rPr i="1" lang="en-US" sz="2000" u="sng">
                <a:latin typeface="Candara"/>
                <a:ea typeface="Candara"/>
                <a:cs typeface="Candara"/>
                <a:sym typeface="Candara"/>
              </a:rPr>
              <a:t>SHUFFLE</a:t>
            </a:r>
            <a:r>
              <a:rPr lang="en-US" sz="2000">
                <a:latin typeface="Candara"/>
                <a:ea typeface="Candara"/>
                <a:cs typeface="Candara"/>
                <a:sym typeface="Candara"/>
              </a:rPr>
              <a:t>).   Ej: .groupBy(), .orderBy(), .join()</a:t>
            </a:r>
            <a:endParaRPr sz="2000">
              <a:latin typeface="Candara"/>
              <a:ea typeface="Candara"/>
              <a:cs typeface="Candara"/>
              <a:sym typeface="Candara"/>
            </a:endParaRPr>
          </a:p>
        </p:txBody>
      </p:sp>
      <p:sp>
        <p:nvSpPr>
          <p:cNvPr id="129" name="Google Shape;129;p15"/>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graphicFrame>
        <p:nvGraphicFramePr>
          <p:cNvPr id="130" name="Google Shape;130;p15"/>
          <p:cNvGraphicFramePr/>
          <p:nvPr/>
        </p:nvGraphicFramePr>
        <p:xfrm>
          <a:off x="1100550" y="3976450"/>
          <a:ext cx="3000000" cy="3000000"/>
        </p:xfrm>
        <a:graphic>
          <a:graphicData uri="http://schemas.openxmlformats.org/drawingml/2006/table">
            <a:tbl>
              <a:tblPr>
                <a:noFill/>
                <a:tableStyleId>{313E3935-D004-4B47-B57F-3D0A233C232D}</a:tableStyleId>
              </a:tblPr>
              <a:tblGrid>
                <a:gridCol w="1400600"/>
                <a:gridCol w="1400600"/>
                <a:gridCol w="1400600"/>
              </a:tblGrid>
              <a:tr h="393000">
                <a:tc>
                  <a:txBody>
                    <a:bodyPr/>
                    <a:lstStyle/>
                    <a:p>
                      <a:pPr indent="0" lvl="0" marL="0" rtl="0" algn="ctr">
                        <a:spcBef>
                          <a:spcPts val="0"/>
                        </a:spcBef>
                        <a:spcAft>
                          <a:spcPts val="0"/>
                        </a:spcAft>
                        <a:buNone/>
                      </a:pPr>
                      <a:r>
                        <a:rPr lang="en-US" sz="1200">
                          <a:solidFill>
                            <a:schemeClr val="lt1"/>
                          </a:solidFill>
                          <a:latin typeface="Candara"/>
                          <a:ea typeface="Candara"/>
                          <a:cs typeface="Candara"/>
                          <a:sym typeface="Candara"/>
                        </a:rPr>
                        <a:t>Partici</a:t>
                      </a:r>
                      <a:r>
                        <a:rPr lang="en-US" sz="1200">
                          <a:solidFill>
                            <a:schemeClr val="lt1"/>
                          </a:solidFill>
                          <a:latin typeface="Candara"/>
                          <a:ea typeface="Candara"/>
                          <a:cs typeface="Candara"/>
                          <a:sym typeface="Candara"/>
                        </a:rPr>
                        <a:t>ón</a:t>
                      </a:r>
                      <a:endParaRPr sz="1200">
                        <a:solidFill>
                          <a:schemeClr val="lt1"/>
                        </a:solidFill>
                        <a:latin typeface="Candara"/>
                        <a:ea typeface="Candara"/>
                        <a:cs typeface="Candara"/>
                        <a:sym typeface="Candara"/>
                      </a:endParaRPr>
                    </a:p>
                  </a:txBody>
                  <a:tcPr marT="91425" marB="91425" marR="91425" marL="91425">
                    <a:solidFill>
                      <a:schemeClr val="dk2"/>
                    </a:solidFill>
                  </a:tcPr>
                </a:tc>
                <a:tc>
                  <a:txBody>
                    <a:bodyPr/>
                    <a:lstStyle/>
                    <a:p>
                      <a:pPr indent="0" lvl="0" marL="0" rtl="0" algn="ctr">
                        <a:spcBef>
                          <a:spcPts val="0"/>
                        </a:spcBef>
                        <a:spcAft>
                          <a:spcPts val="0"/>
                        </a:spcAft>
                        <a:buNone/>
                      </a:pPr>
                      <a:r>
                        <a:rPr lang="en-US" sz="1200">
                          <a:solidFill>
                            <a:schemeClr val="lt1"/>
                          </a:solidFill>
                          <a:latin typeface="Candara"/>
                          <a:ea typeface="Candara"/>
                          <a:cs typeface="Candara"/>
                          <a:sym typeface="Candara"/>
                        </a:rPr>
                        <a:t>Categor</a:t>
                      </a:r>
                      <a:r>
                        <a:rPr lang="en-US" sz="1200">
                          <a:solidFill>
                            <a:schemeClr val="lt1"/>
                          </a:solidFill>
                          <a:latin typeface="Candara"/>
                          <a:ea typeface="Candara"/>
                          <a:cs typeface="Candara"/>
                          <a:sym typeface="Candara"/>
                        </a:rPr>
                        <a:t>ía</a:t>
                      </a:r>
                      <a:endParaRPr sz="1200">
                        <a:solidFill>
                          <a:schemeClr val="lt1"/>
                        </a:solidFill>
                        <a:latin typeface="Candara"/>
                        <a:ea typeface="Candara"/>
                        <a:cs typeface="Candara"/>
                        <a:sym typeface="Candara"/>
                      </a:endParaRPr>
                    </a:p>
                  </a:txBody>
                  <a:tcPr marT="91425" marB="91425" marR="91425" marL="91425">
                    <a:solidFill>
                      <a:schemeClr val="dk2"/>
                    </a:solidFill>
                  </a:tcPr>
                </a:tc>
                <a:tc>
                  <a:txBody>
                    <a:bodyPr/>
                    <a:lstStyle/>
                    <a:p>
                      <a:pPr indent="0" lvl="0" marL="0" rtl="0" algn="ctr">
                        <a:spcBef>
                          <a:spcPts val="0"/>
                        </a:spcBef>
                        <a:spcAft>
                          <a:spcPts val="0"/>
                        </a:spcAft>
                        <a:buNone/>
                      </a:pPr>
                      <a:r>
                        <a:rPr lang="en-US" sz="1200">
                          <a:solidFill>
                            <a:schemeClr val="lt1"/>
                          </a:solidFill>
                          <a:latin typeface="Candara"/>
                          <a:ea typeface="Candara"/>
                          <a:cs typeface="Candara"/>
                          <a:sym typeface="Candara"/>
                        </a:rPr>
                        <a:t>Ventas</a:t>
                      </a:r>
                      <a:endParaRPr sz="1200">
                        <a:solidFill>
                          <a:schemeClr val="lt1"/>
                        </a:solidFill>
                        <a:latin typeface="Candara"/>
                        <a:ea typeface="Candara"/>
                        <a:cs typeface="Candara"/>
                        <a:sym typeface="Candara"/>
                      </a:endParaRPr>
                    </a:p>
                  </a:txBody>
                  <a:tcPr marT="91425" marB="91425" marR="91425" marL="91425">
                    <a:solidFill>
                      <a:schemeClr val="dk2"/>
                    </a:solidFill>
                  </a:tcPr>
                </a:tc>
              </a:tr>
              <a:tr h="557100">
                <a:tc>
                  <a:txBody>
                    <a:bodyPr/>
                    <a:lstStyle/>
                    <a:p>
                      <a:pPr indent="0" lvl="0" marL="0" rtl="0" algn="ctr">
                        <a:spcBef>
                          <a:spcPts val="0"/>
                        </a:spcBef>
                        <a:spcAft>
                          <a:spcPts val="0"/>
                        </a:spcAft>
                        <a:buNone/>
                      </a:pPr>
                      <a:r>
                        <a:rPr lang="en-US" sz="1200">
                          <a:latin typeface="Candara"/>
                          <a:ea typeface="Candara"/>
                          <a:cs typeface="Candara"/>
                          <a:sym typeface="Candara"/>
                        </a:rPr>
                        <a:t>P1</a:t>
                      </a:r>
                      <a:endParaRPr sz="1200">
                        <a:latin typeface="Candara"/>
                        <a:ea typeface="Candara"/>
                        <a:cs typeface="Candara"/>
                        <a:sym typeface="Candara"/>
                      </a:endParaRPr>
                    </a:p>
                  </a:txBody>
                  <a:tcPr marT="91425" marB="91425" marR="91425" marL="91425"/>
                </a:tc>
                <a:tc>
                  <a:txBody>
                    <a:bodyPr/>
                    <a:lstStyle/>
                    <a:p>
                      <a:pPr indent="0" lvl="0" marL="0" rtl="0" algn="ctr">
                        <a:spcBef>
                          <a:spcPts val="0"/>
                        </a:spcBef>
                        <a:spcAft>
                          <a:spcPts val="0"/>
                        </a:spcAft>
                        <a:buNone/>
                      </a:pPr>
                      <a:r>
                        <a:rPr lang="en-US" sz="1200">
                          <a:latin typeface="Candara"/>
                          <a:ea typeface="Candara"/>
                          <a:cs typeface="Candara"/>
                          <a:sym typeface="Candara"/>
                        </a:rPr>
                        <a:t>Electr</a:t>
                      </a:r>
                      <a:r>
                        <a:rPr lang="en-US" sz="1200">
                          <a:latin typeface="Candara"/>
                          <a:ea typeface="Candara"/>
                          <a:cs typeface="Candara"/>
                          <a:sym typeface="Candara"/>
                        </a:rPr>
                        <a:t>ónica, Ropa</a:t>
                      </a:r>
                      <a:endParaRPr sz="1200">
                        <a:latin typeface="Candara"/>
                        <a:ea typeface="Candara"/>
                        <a:cs typeface="Candara"/>
                        <a:sym typeface="Candara"/>
                      </a:endParaRPr>
                    </a:p>
                  </a:txBody>
                  <a:tcPr marT="91425" marB="91425" marR="91425" marL="91425"/>
                </a:tc>
                <a:tc>
                  <a:txBody>
                    <a:bodyPr/>
                    <a:lstStyle/>
                    <a:p>
                      <a:pPr indent="0" lvl="0" marL="0" rtl="0" algn="ctr">
                        <a:spcBef>
                          <a:spcPts val="0"/>
                        </a:spcBef>
                        <a:spcAft>
                          <a:spcPts val="0"/>
                        </a:spcAft>
                        <a:buNone/>
                      </a:pPr>
                      <a:r>
                        <a:rPr lang="en-US" sz="1200">
                          <a:latin typeface="Candara"/>
                          <a:ea typeface="Candara"/>
                          <a:cs typeface="Candara"/>
                          <a:sym typeface="Candara"/>
                        </a:rPr>
                        <a:t>100, 50</a:t>
                      </a:r>
                      <a:endParaRPr sz="1200">
                        <a:latin typeface="Candara"/>
                        <a:ea typeface="Candara"/>
                        <a:cs typeface="Candara"/>
                        <a:sym typeface="Candara"/>
                      </a:endParaRPr>
                    </a:p>
                  </a:txBody>
                  <a:tcPr marT="91425" marB="91425" marR="91425" marL="91425"/>
                </a:tc>
              </a:tr>
              <a:tr h="557100">
                <a:tc>
                  <a:txBody>
                    <a:bodyPr/>
                    <a:lstStyle/>
                    <a:p>
                      <a:pPr indent="0" lvl="0" marL="0" rtl="0" algn="ctr">
                        <a:spcBef>
                          <a:spcPts val="0"/>
                        </a:spcBef>
                        <a:spcAft>
                          <a:spcPts val="0"/>
                        </a:spcAft>
                        <a:buNone/>
                      </a:pPr>
                      <a:r>
                        <a:rPr lang="en-US" sz="1200">
                          <a:latin typeface="Candara"/>
                          <a:ea typeface="Candara"/>
                          <a:cs typeface="Candara"/>
                          <a:sym typeface="Candara"/>
                        </a:rPr>
                        <a:t>P2</a:t>
                      </a:r>
                      <a:endParaRPr sz="1200">
                        <a:latin typeface="Candara"/>
                        <a:ea typeface="Candara"/>
                        <a:cs typeface="Candara"/>
                        <a:sym typeface="Candara"/>
                      </a:endParaRPr>
                    </a:p>
                  </a:txBody>
                  <a:tcPr marT="91425" marB="91425" marR="91425" marL="91425"/>
                </a:tc>
                <a:tc>
                  <a:txBody>
                    <a:bodyPr/>
                    <a:lstStyle/>
                    <a:p>
                      <a:pPr indent="0" lvl="0" marL="0" rtl="0" algn="ctr">
                        <a:spcBef>
                          <a:spcPts val="0"/>
                        </a:spcBef>
                        <a:spcAft>
                          <a:spcPts val="0"/>
                        </a:spcAft>
                        <a:buNone/>
                      </a:pPr>
                      <a:r>
                        <a:rPr lang="en-US" sz="1200">
                          <a:latin typeface="Candara"/>
                          <a:ea typeface="Candara"/>
                          <a:cs typeface="Candara"/>
                          <a:sym typeface="Candara"/>
                        </a:rPr>
                        <a:t>Ropa, Electr</a:t>
                      </a:r>
                      <a:r>
                        <a:rPr lang="en-US" sz="1200">
                          <a:latin typeface="Candara"/>
                          <a:ea typeface="Candara"/>
                          <a:cs typeface="Candara"/>
                          <a:sym typeface="Candara"/>
                        </a:rPr>
                        <a:t>ónica</a:t>
                      </a:r>
                      <a:endParaRPr sz="1200">
                        <a:latin typeface="Candara"/>
                        <a:ea typeface="Candara"/>
                        <a:cs typeface="Candara"/>
                        <a:sym typeface="Candara"/>
                      </a:endParaRPr>
                    </a:p>
                  </a:txBody>
                  <a:tcPr marT="91425" marB="91425" marR="91425" marL="91425"/>
                </a:tc>
                <a:tc>
                  <a:txBody>
                    <a:bodyPr/>
                    <a:lstStyle/>
                    <a:p>
                      <a:pPr indent="0" lvl="0" marL="0" rtl="0" algn="ctr">
                        <a:spcBef>
                          <a:spcPts val="0"/>
                        </a:spcBef>
                        <a:spcAft>
                          <a:spcPts val="0"/>
                        </a:spcAft>
                        <a:buNone/>
                      </a:pPr>
                      <a:r>
                        <a:rPr lang="en-US" sz="1200">
                          <a:latin typeface="Candara"/>
                          <a:ea typeface="Candara"/>
                          <a:cs typeface="Candara"/>
                          <a:sym typeface="Candara"/>
                        </a:rPr>
                        <a:t>30, 80</a:t>
                      </a:r>
                      <a:endParaRPr sz="1200">
                        <a:latin typeface="Candara"/>
                        <a:ea typeface="Candara"/>
                        <a:cs typeface="Candara"/>
                        <a:sym typeface="Candara"/>
                      </a:endParaRPr>
                    </a:p>
                  </a:txBody>
                  <a:tcPr marT="91425" marB="91425" marR="91425" marL="91425"/>
                </a:tc>
              </a:tr>
              <a:tr h="589500">
                <a:tc>
                  <a:txBody>
                    <a:bodyPr/>
                    <a:lstStyle/>
                    <a:p>
                      <a:pPr indent="0" lvl="0" marL="0" rtl="0" algn="ctr">
                        <a:spcBef>
                          <a:spcPts val="0"/>
                        </a:spcBef>
                        <a:spcAft>
                          <a:spcPts val="0"/>
                        </a:spcAft>
                        <a:buNone/>
                      </a:pPr>
                      <a:r>
                        <a:rPr lang="en-US" sz="1200">
                          <a:latin typeface="Candara"/>
                          <a:ea typeface="Candara"/>
                          <a:cs typeface="Candara"/>
                          <a:sym typeface="Candara"/>
                        </a:rPr>
                        <a:t>P3</a:t>
                      </a:r>
                      <a:endParaRPr sz="1200">
                        <a:latin typeface="Candara"/>
                        <a:ea typeface="Candara"/>
                        <a:cs typeface="Candara"/>
                        <a:sym typeface="Candara"/>
                      </a:endParaRPr>
                    </a:p>
                  </a:txBody>
                  <a:tcPr marT="91425" marB="91425" marR="91425" marL="91425"/>
                </a:tc>
                <a:tc>
                  <a:txBody>
                    <a:bodyPr/>
                    <a:lstStyle/>
                    <a:p>
                      <a:pPr indent="0" lvl="0" marL="0" rtl="0" algn="ctr">
                        <a:spcBef>
                          <a:spcPts val="0"/>
                        </a:spcBef>
                        <a:spcAft>
                          <a:spcPts val="0"/>
                        </a:spcAft>
                        <a:buNone/>
                      </a:pPr>
                      <a:r>
                        <a:rPr lang="en-US" sz="1200">
                          <a:latin typeface="Candara"/>
                          <a:ea typeface="Candara"/>
                          <a:cs typeface="Candara"/>
                          <a:sym typeface="Candara"/>
                        </a:rPr>
                        <a:t>Alimentos, Alimentos</a:t>
                      </a:r>
                      <a:endParaRPr sz="1200">
                        <a:latin typeface="Candara"/>
                        <a:ea typeface="Candara"/>
                        <a:cs typeface="Candara"/>
                        <a:sym typeface="Candara"/>
                      </a:endParaRPr>
                    </a:p>
                  </a:txBody>
                  <a:tcPr marT="91425" marB="91425" marR="91425" marL="91425"/>
                </a:tc>
                <a:tc>
                  <a:txBody>
                    <a:bodyPr/>
                    <a:lstStyle/>
                    <a:p>
                      <a:pPr indent="0" lvl="0" marL="0" rtl="0" algn="ctr">
                        <a:spcBef>
                          <a:spcPts val="0"/>
                        </a:spcBef>
                        <a:spcAft>
                          <a:spcPts val="0"/>
                        </a:spcAft>
                        <a:buNone/>
                      </a:pPr>
                      <a:r>
                        <a:rPr lang="en-US" sz="1200">
                          <a:latin typeface="Candara"/>
                          <a:ea typeface="Candara"/>
                          <a:cs typeface="Candara"/>
                          <a:sym typeface="Candara"/>
                        </a:rPr>
                        <a:t>20, 10</a:t>
                      </a:r>
                      <a:endParaRPr sz="1200">
                        <a:latin typeface="Candara"/>
                        <a:ea typeface="Candara"/>
                        <a:cs typeface="Candara"/>
                        <a:sym typeface="Candara"/>
                      </a:endParaRPr>
                    </a:p>
                  </a:txBody>
                  <a:tcPr marT="91425" marB="91425" marR="91425" marL="91425"/>
                </a:tc>
              </a:tr>
            </a:tbl>
          </a:graphicData>
        </a:graphic>
      </p:graphicFrame>
      <p:pic>
        <p:nvPicPr>
          <p:cNvPr id="131" name="Google Shape;131;p15" title="Captura de pantalla 2025-11-18 a las 14.05.18.png"/>
          <p:cNvPicPr preferRelativeResize="0"/>
          <p:nvPr/>
        </p:nvPicPr>
        <p:blipFill>
          <a:blip r:embed="rId3">
            <a:alphaModFix/>
          </a:blip>
          <a:stretch>
            <a:fillRect/>
          </a:stretch>
        </p:blipFill>
        <p:spPr>
          <a:xfrm>
            <a:off x="5835175" y="4318950"/>
            <a:ext cx="5711599" cy="506100"/>
          </a:xfrm>
          <a:prstGeom prst="rect">
            <a:avLst/>
          </a:prstGeom>
          <a:noFill/>
          <a:ln>
            <a:noFill/>
          </a:ln>
        </p:spPr>
      </p:pic>
      <p:pic>
        <p:nvPicPr>
          <p:cNvPr id="132" name="Google Shape;132;p15" title="Captura de pantalla 2025-11-18 a las 14.06.15.png"/>
          <p:cNvPicPr preferRelativeResize="0"/>
          <p:nvPr/>
        </p:nvPicPr>
        <p:blipFill>
          <a:blip r:embed="rId4">
            <a:alphaModFix/>
          </a:blip>
          <a:stretch>
            <a:fillRect/>
          </a:stretch>
        </p:blipFill>
        <p:spPr>
          <a:xfrm>
            <a:off x="5835175" y="5116089"/>
            <a:ext cx="5711599" cy="623561"/>
          </a:xfrm>
          <a:prstGeom prst="rect">
            <a:avLst/>
          </a:prstGeom>
          <a:noFill/>
          <a:ln>
            <a:noFill/>
          </a:ln>
        </p:spPr>
      </p:pic>
      <p:sp>
        <p:nvSpPr>
          <p:cNvPr id="133" name="Google Shape;133;p15"/>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3977700" y="381400"/>
            <a:ext cx="4236600" cy="5061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a:latin typeface="Candara"/>
                <a:ea typeface="Candara"/>
                <a:cs typeface="Candara"/>
                <a:sym typeface="Candara"/>
              </a:rPr>
              <a:t>Limitaciones</a:t>
            </a:r>
            <a:r>
              <a:rPr lang="en-US"/>
              <a:t> de las RDDs</a:t>
            </a:r>
            <a:endParaRPr/>
          </a:p>
        </p:txBody>
      </p:sp>
      <p:sp>
        <p:nvSpPr>
          <p:cNvPr id="139" name="Google Shape;139;p16"/>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40" name="Google Shape;140;p16"/>
          <p:cNvSpPr txBox="1"/>
          <p:nvPr/>
        </p:nvSpPr>
        <p:spPr>
          <a:xfrm>
            <a:off x="624447" y="1221206"/>
            <a:ext cx="10587900" cy="2866200"/>
          </a:xfrm>
          <a:prstGeom prst="rect">
            <a:avLst/>
          </a:prstGeom>
          <a:noFill/>
          <a:ln>
            <a:noFill/>
          </a:ln>
        </p:spPr>
        <p:txBody>
          <a:bodyPr anchorCtr="0" anchor="t" bIns="0" lIns="0" spcFirstLastPara="1" rIns="0" wrap="square" tIns="177150">
            <a:spAutoFit/>
          </a:bodyPr>
          <a:lstStyle/>
          <a:p>
            <a:pPr indent="0" lvl="0" marL="12700" rtl="0" algn="l">
              <a:lnSpc>
                <a:spcPct val="100000"/>
              </a:lnSpc>
              <a:spcBef>
                <a:spcPts val="0"/>
              </a:spcBef>
              <a:spcAft>
                <a:spcPts val="0"/>
              </a:spcAft>
              <a:buNone/>
            </a:pPr>
            <a:r>
              <a:rPr lang="en-US" sz="2000">
                <a:latin typeface="Candara"/>
                <a:ea typeface="Candara"/>
                <a:cs typeface="Candara"/>
                <a:sym typeface="Candara"/>
              </a:rPr>
              <a:t>La función de cálculo y el tipo de datos son opacos para Spark, por lo que:</a:t>
            </a:r>
            <a:endParaRPr sz="2000">
              <a:latin typeface="Candara"/>
              <a:ea typeface="Candara"/>
              <a:cs typeface="Candara"/>
              <a:sym typeface="Candara"/>
            </a:endParaRPr>
          </a:p>
          <a:p>
            <a:pPr indent="-298450" lvl="0" marL="457200" rtl="0" algn="l">
              <a:lnSpc>
                <a:spcPct val="115000"/>
              </a:lnSpc>
              <a:spcBef>
                <a:spcPts val="1200"/>
              </a:spcBef>
              <a:spcAft>
                <a:spcPts val="0"/>
              </a:spcAft>
              <a:buClr>
                <a:schemeClr val="dk1"/>
              </a:buClr>
              <a:buSzPts val="1100"/>
              <a:buChar char="●"/>
            </a:pPr>
            <a:r>
              <a:rPr lang="en-US" sz="2000">
                <a:latin typeface="Candara"/>
                <a:ea typeface="Candara"/>
                <a:cs typeface="Candara"/>
                <a:sym typeface="Candara"/>
              </a:rPr>
              <a:t>Spark no puede optimizar la expresión ni utilizar técnicas de compresión de datos al serializar los objetos (Iterator[T]), lo que impacta el rendimiento.</a:t>
            </a:r>
            <a:endParaRPr sz="2000">
              <a:latin typeface="Candara"/>
              <a:ea typeface="Candara"/>
              <a:cs typeface="Candara"/>
              <a:sym typeface="Candara"/>
            </a:endParaRPr>
          </a:p>
          <a:p>
            <a:pPr indent="0" lvl="0" marL="457200" rtl="0" algn="l">
              <a:lnSpc>
                <a:spcPct val="115000"/>
              </a:lnSpc>
              <a:spcBef>
                <a:spcPts val="1200"/>
              </a:spcBef>
              <a:spcAft>
                <a:spcPts val="0"/>
              </a:spcAft>
              <a:buNone/>
            </a:pPr>
            <a:r>
              <a:t/>
            </a:r>
            <a:endParaRPr sz="100">
              <a:latin typeface="Candara"/>
              <a:ea typeface="Candara"/>
              <a:cs typeface="Candara"/>
              <a:sym typeface="Candara"/>
            </a:endParaRPr>
          </a:p>
          <a:p>
            <a:pPr indent="-298450" lvl="0" marL="457200" rtl="0" algn="l">
              <a:lnSpc>
                <a:spcPct val="115000"/>
              </a:lnSpc>
              <a:spcBef>
                <a:spcPts val="1200"/>
              </a:spcBef>
              <a:spcAft>
                <a:spcPts val="0"/>
              </a:spcAft>
              <a:buClr>
                <a:schemeClr val="dk1"/>
              </a:buClr>
              <a:buSzPts val="1100"/>
              <a:buChar char="●"/>
            </a:pPr>
            <a:r>
              <a:rPr lang="en-US" sz="2000">
                <a:latin typeface="Candara"/>
                <a:ea typeface="Candara"/>
                <a:cs typeface="Candara"/>
                <a:sym typeface="Candara"/>
              </a:rPr>
              <a:t>La sintaxis de las funciones (lambda) suele ser críptica y difícil de leer, variando mucho según el lenguaje (Python, Scala).</a:t>
            </a:r>
            <a:endParaRPr sz="1100">
              <a:solidFill>
                <a:schemeClr val="dk1"/>
              </a:solidFill>
              <a:latin typeface="Candara"/>
              <a:ea typeface="Candara"/>
              <a:cs typeface="Candara"/>
              <a:sym typeface="Candara"/>
            </a:endParaRPr>
          </a:p>
          <a:p>
            <a:pPr indent="0" lvl="0" marL="12700" rtl="0" algn="just">
              <a:lnSpc>
                <a:spcPct val="100000"/>
              </a:lnSpc>
              <a:spcBef>
                <a:spcPts val="1200"/>
              </a:spcBef>
              <a:spcAft>
                <a:spcPts val="0"/>
              </a:spcAft>
              <a:buNone/>
            </a:pPr>
            <a:r>
              <a:t/>
            </a:r>
            <a:endParaRPr sz="2000">
              <a:latin typeface="Candara"/>
              <a:ea typeface="Candara"/>
              <a:cs typeface="Candara"/>
              <a:sym typeface="Candara"/>
            </a:endParaRPr>
          </a:p>
        </p:txBody>
      </p:sp>
      <p:pic>
        <p:nvPicPr>
          <p:cNvPr id="141" name="Google Shape;141;p16"/>
          <p:cNvPicPr preferRelativeResize="0"/>
          <p:nvPr/>
        </p:nvPicPr>
        <p:blipFill rotWithShape="1">
          <a:blip r:embed="rId3">
            <a:alphaModFix/>
          </a:blip>
          <a:srcRect b="8975" l="0" r="0" t="0"/>
          <a:stretch/>
        </p:blipFill>
        <p:spPr>
          <a:xfrm>
            <a:off x="4289900" y="3755975"/>
            <a:ext cx="2352850" cy="2025875"/>
          </a:xfrm>
          <a:prstGeom prst="rect">
            <a:avLst/>
          </a:prstGeom>
          <a:noFill/>
          <a:ln>
            <a:noFill/>
          </a:ln>
        </p:spPr>
      </p:pic>
      <p:sp>
        <p:nvSpPr>
          <p:cNvPr id="142" name="Google Shape;142;p16"/>
          <p:cNvSpPr txBox="1"/>
          <p:nvPr/>
        </p:nvSpPr>
        <p:spPr>
          <a:xfrm>
            <a:off x="7630875" y="3903475"/>
            <a:ext cx="3581400" cy="1164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000">
                <a:solidFill>
                  <a:schemeClr val="dk1"/>
                </a:solidFill>
                <a:latin typeface="Calibri"/>
                <a:ea typeface="Calibri"/>
                <a:cs typeface="Calibri"/>
                <a:sym typeface="Calibri"/>
              </a:rPr>
              <a:t>¿Spark tiene alguna opción para superar estas limitaciones?</a:t>
            </a:r>
            <a:endParaRPr sz="2000">
              <a:solidFill>
                <a:schemeClr val="dk1"/>
              </a:solidFill>
              <a:latin typeface="Calibri"/>
              <a:ea typeface="Calibri"/>
              <a:cs typeface="Calibri"/>
              <a:sym typeface="Calibri"/>
            </a:endParaRPr>
          </a:p>
        </p:txBody>
      </p:sp>
      <p:sp>
        <p:nvSpPr>
          <p:cNvPr id="143" name="Google Shape;143;p16"/>
          <p:cNvSpPr txBox="1"/>
          <p:nvPr>
            <p:ph idx="11" type="ftr"/>
          </p:nvPr>
        </p:nvSpPr>
        <p:spPr>
          <a:xfrm>
            <a:off x="5028551" y="6582025"/>
            <a:ext cx="26709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ESTRUCTURAS DE DATOS DE APACHE SPARK: RDDS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p:nvPr/>
        </p:nvSpPr>
        <p:spPr>
          <a:xfrm>
            <a:off x="1207008" y="4343400"/>
            <a:ext cx="9875520" cy="0"/>
          </a:xfrm>
          <a:custGeom>
            <a:rect b="b" l="l" r="r" t="t"/>
            <a:pathLst>
              <a:path extrusionOk="0" h="120000" w="9875520">
                <a:moveTo>
                  <a:pt x="0" y="0"/>
                </a:moveTo>
                <a:lnTo>
                  <a:pt x="9875520" y="0"/>
                </a:lnTo>
              </a:path>
            </a:pathLst>
          </a:custGeom>
          <a:noFill/>
          <a:ln cap="flat" cmpd="sng" w="9525">
            <a:solidFill>
              <a:srgbClr val="7E7E7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9" name="Google Shape;149;p17"/>
          <p:cNvSpPr txBox="1"/>
          <p:nvPr>
            <p:ph type="title"/>
          </p:nvPr>
        </p:nvSpPr>
        <p:spPr>
          <a:xfrm>
            <a:off x="1176026" y="3496175"/>
            <a:ext cx="7797000" cy="751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solidFill>
                  <a:schemeClr val="dk2"/>
                </a:solidFill>
                <a:latin typeface="Candara"/>
                <a:ea typeface="Candara"/>
                <a:cs typeface="Candara"/>
                <a:sym typeface="Candara"/>
              </a:rPr>
              <a:t>2. Spark SQL: DataFrame API</a:t>
            </a:r>
            <a:endParaRPr sz="4800">
              <a:solidFill>
                <a:schemeClr val="dk2"/>
              </a:solidFill>
              <a:latin typeface="Candara"/>
              <a:ea typeface="Candara"/>
              <a:cs typeface="Candara"/>
              <a:sym typeface="Candara"/>
            </a:endParaRPr>
          </a:p>
        </p:txBody>
      </p:sp>
      <p:sp>
        <p:nvSpPr>
          <p:cNvPr id="150" name="Google Shape;150;p17"/>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
        <p:nvSpPr>
          <p:cNvPr id="151" name="Google Shape;151;p17"/>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idx="1" type="body"/>
          </p:nvPr>
        </p:nvSpPr>
        <p:spPr>
          <a:xfrm>
            <a:off x="571923" y="1060325"/>
            <a:ext cx="8065500" cy="5094600"/>
          </a:xfrm>
          <a:prstGeom prst="rect">
            <a:avLst/>
          </a:prstGeom>
          <a:noFill/>
          <a:ln>
            <a:noFill/>
          </a:ln>
        </p:spPr>
        <p:txBody>
          <a:bodyPr anchorCtr="0" anchor="t" bIns="0" lIns="0" spcFirstLastPara="1" rIns="0" wrap="square" tIns="164450">
            <a:spAutoFit/>
          </a:bodyPr>
          <a:lstStyle/>
          <a:p>
            <a:pPr indent="-368300" lvl="0" marL="457200" rtl="0" algn="l">
              <a:lnSpc>
                <a:spcPct val="115000"/>
              </a:lnSpc>
              <a:spcBef>
                <a:spcPts val="0"/>
              </a:spcBef>
              <a:spcAft>
                <a:spcPts val="0"/>
              </a:spcAft>
              <a:buClr>
                <a:srgbClr val="000000"/>
              </a:buClr>
              <a:buSzPts val="2200"/>
              <a:buFont typeface="Candara"/>
              <a:buAutoNum type="arabicPeriod"/>
            </a:pPr>
            <a:r>
              <a:rPr b="1" lang="en-US">
                <a:solidFill>
                  <a:srgbClr val="000000"/>
                </a:solidFill>
                <a:latin typeface="Candara"/>
                <a:ea typeface="Candara"/>
                <a:cs typeface="Candara"/>
                <a:sym typeface="Candara"/>
              </a:rPr>
              <a:t>Añadiendo Estructura:</a:t>
            </a:r>
            <a:r>
              <a:rPr lang="en-US">
                <a:solidFill>
                  <a:srgbClr val="000000"/>
                </a:solidFill>
                <a:latin typeface="Candara"/>
                <a:ea typeface="Candara"/>
                <a:cs typeface="Candara"/>
                <a:sym typeface="Candara"/>
              </a:rPr>
              <a:t> Se superó la opacidad de los RDDs al introducir estructura (esquemas) a los datos, dando origen a las API de alto nivel: DataFrame y Dataset.</a:t>
            </a:r>
            <a:endParaRPr>
              <a:solidFill>
                <a:srgbClr val="000000"/>
              </a:solidFill>
              <a:latin typeface="Candara"/>
              <a:ea typeface="Candara"/>
              <a:cs typeface="Candara"/>
              <a:sym typeface="Candara"/>
            </a:endParaRPr>
          </a:p>
          <a:p>
            <a:pPr indent="-368300" lvl="0" marL="457200" rtl="0" algn="l">
              <a:lnSpc>
                <a:spcPct val="115000"/>
              </a:lnSpc>
              <a:spcBef>
                <a:spcPts val="0"/>
              </a:spcBef>
              <a:spcAft>
                <a:spcPts val="0"/>
              </a:spcAft>
              <a:buClr>
                <a:srgbClr val="000000"/>
              </a:buClr>
              <a:buSzPts val="2200"/>
              <a:buFont typeface="Candara"/>
              <a:buAutoNum type="arabicPeriod"/>
            </a:pPr>
            <a:r>
              <a:rPr b="1" lang="en-US">
                <a:solidFill>
                  <a:srgbClr val="000000"/>
                </a:solidFill>
                <a:latin typeface="Candara"/>
                <a:ea typeface="Candara"/>
                <a:cs typeface="Candara"/>
                <a:sym typeface="Candara"/>
              </a:rPr>
              <a:t>Motor Central</a:t>
            </a:r>
            <a:r>
              <a:rPr lang="en-US">
                <a:solidFill>
                  <a:srgbClr val="000000"/>
                </a:solidFill>
                <a:latin typeface="Candara"/>
                <a:ea typeface="Candara"/>
                <a:cs typeface="Candara"/>
                <a:sym typeface="Candara"/>
              </a:rPr>
              <a:t>: Spark SQL se convirtió en el motor fundamental de Spark (introducido en la v1.3), soportando tanto consultas SQL como estas nuevas API estructuradas.</a:t>
            </a:r>
            <a:endParaRPr>
              <a:solidFill>
                <a:srgbClr val="000000"/>
              </a:solidFill>
              <a:latin typeface="Candara"/>
              <a:ea typeface="Candara"/>
              <a:cs typeface="Candara"/>
              <a:sym typeface="Candara"/>
            </a:endParaRPr>
          </a:p>
          <a:p>
            <a:pPr indent="-368300" lvl="0" marL="457200" rtl="0" algn="l">
              <a:lnSpc>
                <a:spcPct val="115000"/>
              </a:lnSpc>
              <a:spcBef>
                <a:spcPts val="0"/>
              </a:spcBef>
              <a:spcAft>
                <a:spcPts val="0"/>
              </a:spcAft>
              <a:buClr>
                <a:srgbClr val="000000"/>
              </a:buClr>
              <a:buSzPts val="2200"/>
              <a:buFont typeface="Candara"/>
              <a:buAutoNum type="arabicPeriod"/>
            </a:pPr>
            <a:r>
              <a:rPr b="1" lang="en-US">
                <a:solidFill>
                  <a:srgbClr val="000000"/>
                </a:solidFill>
                <a:latin typeface="Candara"/>
                <a:ea typeface="Candara"/>
                <a:cs typeface="Candara"/>
                <a:sym typeface="Candara"/>
              </a:rPr>
              <a:t>Optimizador Catalyst:</a:t>
            </a:r>
            <a:r>
              <a:rPr lang="en-US">
                <a:solidFill>
                  <a:srgbClr val="000000"/>
                </a:solidFill>
                <a:latin typeface="Candara"/>
                <a:ea typeface="Candara"/>
                <a:cs typeface="Candara"/>
                <a:sym typeface="Candara"/>
              </a:rPr>
              <a:t> Este componente clave analiza, planifica y optimiza las consultas estructuradas, eliminando la pérdida de rendimiento que ocurría con el código opaco.</a:t>
            </a:r>
            <a:endParaRPr>
              <a:solidFill>
                <a:srgbClr val="000000"/>
              </a:solidFill>
              <a:latin typeface="Candara"/>
              <a:ea typeface="Candara"/>
              <a:cs typeface="Candara"/>
              <a:sym typeface="Candara"/>
            </a:endParaRPr>
          </a:p>
          <a:p>
            <a:pPr indent="-368300" lvl="0" marL="457200" rtl="0" algn="l">
              <a:lnSpc>
                <a:spcPct val="115000"/>
              </a:lnSpc>
              <a:spcBef>
                <a:spcPts val="0"/>
              </a:spcBef>
              <a:spcAft>
                <a:spcPts val="0"/>
              </a:spcAft>
              <a:buClr>
                <a:srgbClr val="000000"/>
              </a:buClr>
              <a:buSzPts val="2200"/>
              <a:buFont typeface="Candara"/>
              <a:buAutoNum type="arabicPeriod"/>
            </a:pPr>
            <a:r>
              <a:rPr b="1" lang="en-US">
                <a:solidFill>
                  <a:srgbClr val="000000"/>
                </a:solidFill>
                <a:latin typeface="Candara"/>
                <a:ea typeface="Candara"/>
                <a:cs typeface="Candara"/>
                <a:sym typeface="Candara"/>
              </a:rPr>
              <a:t>Proyecto Tungsten:</a:t>
            </a:r>
            <a:r>
              <a:rPr lang="en-US">
                <a:solidFill>
                  <a:srgbClr val="000000"/>
                </a:solidFill>
                <a:latin typeface="Candara"/>
                <a:ea typeface="Candara"/>
                <a:cs typeface="Candara"/>
                <a:sym typeface="Candara"/>
              </a:rPr>
              <a:t> Se enfocó en la eficiencia a nivel de hardware, mejorando la serialización de datos y la gestión de memoria para acelerar la transferencia de datos entre workers.</a:t>
            </a:r>
            <a:endParaRPr sz="1100">
              <a:solidFill>
                <a:srgbClr val="1B1C1D"/>
              </a:solidFill>
              <a:latin typeface="Arial"/>
              <a:ea typeface="Arial"/>
              <a:cs typeface="Arial"/>
              <a:sym typeface="Arial"/>
            </a:endParaRPr>
          </a:p>
          <a:p>
            <a:pPr indent="0" lvl="0" marL="434975" rtl="0" algn="l">
              <a:lnSpc>
                <a:spcPct val="100000"/>
              </a:lnSpc>
              <a:spcBef>
                <a:spcPts val="1800"/>
              </a:spcBef>
              <a:spcAft>
                <a:spcPts val="0"/>
              </a:spcAft>
              <a:buNone/>
            </a:pPr>
            <a:r>
              <a:t/>
            </a:r>
            <a:endParaRPr/>
          </a:p>
        </p:txBody>
      </p:sp>
      <p:sp>
        <p:nvSpPr>
          <p:cNvPr id="157" name="Google Shape;157;p18"/>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58" name="Google Shape;158;p18"/>
          <p:cNvSpPr txBox="1"/>
          <p:nvPr>
            <p:ph type="title"/>
          </p:nvPr>
        </p:nvSpPr>
        <p:spPr>
          <a:xfrm>
            <a:off x="5113649" y="379100"/>
            <a:ext cx="1964700" cy="506100"/>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None/>
            </a:pPr>
            <a:r>
              <a:rPr lang="en-US">
                <a:latin typeface="Candara"/>
                <a:ea typeface="Candara"/>
                <a:cs typeface="Candara"/>
                <a:sym typeface="Candara"/>
              </a:rPr>
              <a:t>Spark SQL</a:t>
            </a:r>
            <a:endParaRPr/>
          </a:p>
        </p:txBody>
      </p:sp>
      <p:pic>
        <p:nvPicPr>
          <p:cNvPr id="159" name="Google Shape;159;p18"/>
          <p:cNvPicPr preferRelativeResize="0"/>
          <p:nvPr/>
        </p:nvPicPr>
        <p:blipFill>
          <a:blip r:embed="rId3">
            <a:alphaModFix/>
          </a:blip>
          <a:stretch>
            <a:fillRect/>
          </a:stretch>
        </p:blipFill>
        <p:spPr>
          <a:xfrm>
            <a:off x="8637423" y="2523925"/>
            <a:ext cx="3158712" cy="1810150"/>
          </a:xfrm>
          <a:prstGeom prst="rect">
            <a:avLst/>
          </a:prstGeom>
          <a:noFill/>
          <a:ln>
            <a:noFill/>
          </a:ln>
        </p:spPr>
      </p:pic>
      <p:sp>
        <p:nvSpPr>
          <p:cNvPr id="160" name="Google Shape;160;p18"/>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4683750" y="433800"/>
            <a:ext cx="2824500" cy="5061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a:latin typeface="Candara"/>
                <a:ea typeface="Candara"/>
                <a:cs typeface="Candara"/>
                <a:sym typeface="Candara"/>
              </a:rPr>
              <a:t>DataFrame</a:t>
            </a:r>
            <a:r>
              <a:rPr lang="en-US"/>
              <a:t> API</a:t>
            </a:r>
            <a:endParaRPr/>
          </a:p>
        </p:txBody>
      </p:sp>
      <p:sp>
        <p:nvSpPr>
          <p:cNvPr id="166" name="Google Shape;166;p19"/>
          <p:cNvSpPr txBox="1"/>
          <p:nvPr>
            <p:ph idx="1" type="body"/>
          </p:nvPr>
        </p:nvSpPr>
        <p:spPr>
          <a:xfrm>
            <a:off x="745091" y="1157164"/>
            <a:ext cx="10600200" cy="2424900"/>
          </a:xfrm>
          <a:prstGeom prst="rect">
            <a:avLst/>
          </a:prstGeom>
          <a:noFill/>
          <a:ln>
            <a:noFill/>
          </a:ln>
        </p:spPr>
        <p:txBody>
          <a:bodyPr anchorCtr="0" anchor="t" bIns="0" lIns="0" spcFirstLastPara="1" rIns="0" wrap="square" tIns="177150">
            <a:spAutoFit/>
          </a:bodyPr>
          <a:lstStyle/>
          <a:p>
            <a:pPr indent="-317500" lvl="0" marL="457200" rtl="0" algn="l">
              <a:lnSpc>
                <a:spcPct val="115000"/>
              </a:lnSpc>
              <a:spcBef>
                <a:spcPts val="1200"/>
              </a:spcBef>
              <a:spcAft>
                <a:spcPts val="0"/>
              </a:spcAft>
              <a:buClr>
                <a:srgbClr val="000000"/>
              </a:buClr>
              <a:buSzPts val="1400"/>
              <a:buFont typeface="Candara"/>
              <a:buChar char="●"/>
            </a:pPr>
            <a:r>
              <a:rPr lang="en-US">
                <a:solidFill>
                  <a:srgbClr val="000000"/>
                </a:solidFill>
                <a:latin typeface="Candara"/>
                <a:ea typeface="Candara"/>
                <a:cs typeface="Candara"/>
                <a:sym typeface="Candara"/>
              </a:rPr>
              <a:t>Inspirado en los </a:t>
            </a:r>
            <a:r>
              <a:rPr b="1" lang="en-US">
                <a:solidFill>
                  <a:srgbClr val="000000"/>
                </a:solidFill>
                <a:latin typeface="Candara"/>
                <a:ea typeface="Candara"/>
                <a:cs typeface="Candara"/>
                <a:sym typeface="Candara"/>
              </a:rPr>
              <a:t>pandas DataFrames</a:t>
            </a:r>
            <a:r>
              <a:rPr lang="en-US">
                <a:solidFill>
                  <a:srgbClr val="000000"/>
                </a:solidFill>
                <a:latin typeface="Candara"/>
                <a:ea typeface="Candara"/>
                <a:cs typeface="Candara"/>
                <a:sym typeface="Candara"/>
              </a:rPr>
              <a:t> en cuanto a estructura, formato y algunas operaciones específicas (permite el uso de </a:t>
            </a:r>
            <a:r>
              <a:rPr b="1" lang="en-US">
                <a:solidFill>
                  <a:srgbClr val="000000"/>
                </a:solidFill>
                <a:latin typeface="Candara"/>
                <a:ea typeface="Candara"/>
                <a:cs typeface="Candara"/>
                <a:sym typeface="Candara"/>
              </a:rPr>
              <a:t>Python</a:t>
            </a:r>
            <a:r>
              <a:rPr lang="en-US">
                <a:solidFill>
                  <a:srgbClr val="000000"/>
                </a:solidFill>
                <a:latin typeface="Candara"/>
                <a:ea typeface="Candara"/>
                <a:cs typeface="Candara"/>
                <a:sym typeface="Candara"/>
              </a:rPr>
              <a:t>, Scala, R o Java).</a:t>
            </a:r>
            <a:endParaRPr>
              <a:solidFill>
                <a:srgbClr val="000000"/>
              </a:solidFill>
              <a:latin typeface="Candara"/>
              <a:ea typeface="Candara"/>
              <a:cs typeface="Candara"/>
              <a:sym typeface="Candara"/>
            </a:endParaRPr>
          </a:p>
          <a:p>
            <a:pPr indent="-317500" lvl="0" marL="457200" rtl="0" algn="l">
              <a:lnSpc>
                <a:spcPct val="115000"/>
              </a:lnSpc>
              <a:spcBef>
                <a:spcPts val="0"/>
              </a:spcBef>
              <a:spcAft>
                <a:spcPts val="0"/>
              </a:spcAft>
              <a:buClr>
                <a:srgbClr val="000000"/>
              </a:buClr>
              <a:buSzPts val="1400"/>
              <a:buFont typeface="Candara"/>
              <a:buChar char="●"/>
            </a:pPr>
            <a:r>
              <a:rPr lang="en-US">
                <a:solidFill>
                  <a:srgbClr val="000000"/>
                </a:solidFill>
                <a:latin typeface="Candara"/>
                <a:ea typeface="Candara"/>
                <a:cs typeface="Candara"/>
                <a:sym typeface="Candara"/>
              </a:rPr>
              <a:t>Son como tablas distribuidas en memoria con </a:t>
            </a:r>
            <a:r>
              <a:rPr b="1" lang="en-US">
                <a:solidFill>
                  <a:srgbClr val="000000"/>
                </a:solidFill>
                <a:latin typeface="Candara"/>
                <a:ea typeface="Candara"/>
                <a:cs typeface="Candara"/>
                <a:sym typeface="Candara"/>
              </a:rPr>
              <a:t>columnas y esquemas</a:t>
            </a:r>
            <a:r>
              <a:rPr lang="en-US">
                <a:solidFill>
                  <a:srgbClr val="000000"/>
                </a:solidFill>
                <a:latin typeface="Candara"/>
                <a:ea typeface="Candara"/>
                <a:cs typeface="Candara"/>
                <a:sym typeface="Candara"/>
              </a:rPr>
              <a:t> con nombre, donde cada columna tiene un tipo de datos específico.</a:t>
            </a:r>
            <a:endParaRPr>
              <a:solidFill>
                <a:srgbClr val="000000"/>
              </a:solidFill>
              <a:latin typeface="Candara"/>
              <a:ea typeface="Candara"/>
              <a:cs typeface="Candara"/>
              <a:sym typeface="Candara"/>
            </a:endParaRPr>
          </a:p>
          <a:p>
            <a:pPr indent="-317500" lvl="0" marL="457200" rtl="0" algn="l">
              <a:lnSpc>
                <a:spcPct val="115000"/>
              </a:lnSpc>
              <a:spcBef>
                <a:spcPts val="0"/>
              </a:spcBef>
              <a:spcAft>
                <a:spcPts val="0"/>
              </a:spcAft>
              <a:buClr>
                <a:srgbClr val="000000"/>
              </a:buClr>
              <a:buSzPts val="1400"/>
              <a:buFont typeface="Candara"/>
              <a:buChar char="●"/>
            </a:pPr>
            <a:r>
              <a:rPr lang="en-US">
                <a:solidFill>
                  <a:srgbClr val="000000"/>
                </a:solidFill>
                <a:latin typeface="Candara"/>
                <a:ea typeface="Candara"/>
                <a:cs typeface="Candara"/>
                <a:sym typeface="Candara"/>
              </a:rPr>
              <a:t>A simple vista, un Spark DataFrame es como una </a:t>
            </a:r>
            <a:r>
              <a:rPr b="1" lang="en-US">
                <a:solidFill>
                  <a:srgbClr val="000000"/>
                </a:solidFill>
                <a:latin typeface="Candara"/>
                <a:ea typeface="Candara"/>
                <a:cs typeface="Candara"/>
                <a:sym typeface="Candara"/>
              </a:rPr>
              <a:t>tabla</a:t>
            </a:r>
            <a:r>
              <a:rPr lang="en-US">
                <a:solidFill>
                  <a:srgbClr val="000000"/>
                </a:solidFill>
                <a:latin typeface="Candara"/>
                <a:ea typeface="Candara"/>
                <a:cs typeface="Candara"/>
                <a:sym typeface="Candara"/>
              </a:rPr>
              <a:t>.</a:t>
            </a:r>
            <a:endParaRPr/>
          </a:p>
          <a:p>
            <a:pPr indent="0" lvl="0" marL="0" rtl="0" algn="l">
              <a:lnSpc>
                <a:spcPct val="100000"/>
              </a:lnSpc>
              <a:spcBef>
                <a:spcPts val="1310"/>
              </a:spcBef>
              <a:spcAft>
                <a:spcPts val="0"/>
              </a:spcAft>
              <a:buNone/>
            </a:pPr>
            <a:r>
              <a:t/>
            </a:r>
            <a:endParaRPr/>
          </a:p>
        </p:txBody>
      </p:sp>
      <p:pic>
        <p:nvPicPr>
          <p:cNvPr id="167" name="Google Shape;167;p19"/>
          <p:cNvPicPr preferRelativeResize="0"/>
          <p:nvPr/>
        </p:nvPicPr>
        <p:blipFill rotWithShape="1">
          <a:blip r:embed="rId3">
            <a:alphaModFix/>
          </a:blip>
          <a:srcRect b="0" l="0" r="0" t="0"/>
          <a:stretch/>
        </p:blipFill>
        <p:spPr>
          <a:xfrm>
            <a:off x="1032605" y="3549709"/>
            <a:ext cx="4955190" cy="2266943"/>
          </a:xfrm>
          <a:prstGeom prst="rect">
            <a:avLst/>
          </a:prstGeom>
          <a:noFill/>
          <a:ln>
            <a:noFill/>
          </a:ln>
        </p:spPr>
      </p:pic>
      <p:pic>
        <p:nvPicPr>
          <p:cNvPr id="168" name="Google Shape;168;p19"/>
          <p:cNvPicPr preferRelativeResize="0"/>
          <p:nvPr/>
        </p:nvPicPr>
        <p:blipFill rotWithShape="1">
          <a:blip r:embed="rId4">
            <a:alphaModFix/>
          </a:blip>
          <a:srcRect b="0" l="0" r="0" t="0"/>
          <a:stretch/>
        </p:blipFill>
        <p:spPr>
          <a:xfrm>
            <a:off x="7060732" y="3549707"/>
            <a:ext cx="3400048" cy="1514474"/>
          </a:xfrm>
          <a:prstGeom prst="rect">
            <a:avLst/>
          </a:prstGeom>
          <a:noFill/>
          <a:ln>
            <a:noFill/>
          </a:ln>
        </p:spPr>
      </p:pic>
      <p:sp>
        <p:nvSpPr>
          <p:cNvPr id="169" name="Google Shape;169;p19"/>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70" name="Google Shape;170;p19"/>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nvSpPr>
        <p:spPr>
          <a:xfrm>
            <a:off x="399190" y="1628417"/>
            <a:ext cx="5497200" cy="3066900"/>
          </a:xfrm>
          <a:prstGeom prst="rect">
            <a:avLst/>
          </a:prstGeom>
          <a:noFill/>
          <a:ln>
            <a:noFill/>
          </a:ln>
        </p:spPr>
        <p:txBody>
          <a:bodyPr anchorCtr="0" anchor="t" bIns="0" lIns="0" spcFirstLastPara="1" rIns="0" wrap="square" tIns="12700">
            <a:spAutoFit/>
          </a:bodyPr>
          <a:lstStyle/>
          <a:p>
            <a:pPr indent="-457200" lvl="0" marL="469900" marR="1258570" rtl="0" algn="l">
              <a:lnSpc>
                <a:spcPct val="100000"/>
              </a:lnSpc>
              <a:spcBef>
                <a:spcPts val="0"/>
              </a:spcBef>
              <a:spcAft>
                <a:spcPts val="0"/>
              </a:spcAft>
              <a:buNone/>
            </a:pPr>
            <a:r>
              <a:rPr lang="en-US" sz="1800">
                <a:solidFill>
                  <a:srgbClr val="001080"/>
                </a:solidFill>
                <a:latin typeface="Consolas"/>
                <a:ea typeface="Consolas"/>
                <a:cs typeface="Consolas"/>
                <a:sym typeface="Consolas"/>
              </a:rPr>
              <a:t>dataRDD </a:t>
            </a:r>
            <a:r>
              <a:rPr lang="en-US" sz="1800">
                <a:latin typeface="Consolas"/>
                <a:ea typeface="Consolas"/>
                <a:cs typeface="Consolas"/>
                <a:sym typeface="Consolas"/>
              </a:rPr>
              <a:t>= </a:t>
            </a:r>
            <a:r>
              <a:rPr lang="en-US" sz="1800">
                <a:solidFill>
                  <a:srgbClr val="001080"/>
                </a:solidFill>
                <a:latin typeface="Consolas"/>
                <a:ea typeface="Consolas"/>
                <a:cs typeface="Consolas"/>
                <a:sym typeface="Consolas"/>
              </a:rPr>
              <a:t>sc</a:t>
            </a:r>
            <a:r>
              <a:rPr lang="en-US" sz="1800">
                <a:solidFill>
                  <a:srgbClr val="3A3A3A"/>
                </a:solidFill>
                <a:latin typeface="Consolas"/>
                <a:ea typeface="Consolas"/>
                <a:cs typeface="Consolas"/>
                <a:sym typeface="Consolas"/>
              </a:rPr>
              <a:t>.parallelize([ (</a:t>
            </a:r>
            <a:r>
              <a:rPr lang="en-US" sz="1800">
                <a:solidFill>
                  <a:srgbClr val="A21414"/>
                </a:solidFill>
                <a:latin typeface="Consolas"/>
                <a:ea typeface="Consolas"/>
                <a:cs typeface="Consolas"/>
                <a:sym typeface="Consolas"/>
              </a:rPr>
              <a:t>"Brooke"</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20</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"Denny"</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31</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"Jules"</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30</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"TD"</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35</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"Brooke"</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25</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50"/>
              </a:spcBef>
              <a:spcAft>
                <a:spcPts val="0"/>
              </a:spcAft>
              <a:buNone/>
            </a:pPr>
            <a:r>
              <a:t/>
            </a:r>
            <a:endParaRPr sz="1800">
              <a:latin typeface="Consolas"/>
              <a:ea typeface="Consolas"/>
              <a:cs typeface="Consolas"/>
              <a:sym typeface="Consolas"/>
            </a:endParaRPr>
          </a:p>
          <a:p>
            <a:pPr indent="0" lvl="0" marL="12700" rtl="0" algn="l">
              <a:lnSpc>
                <a:spcPct val="100000"/>
              </a:lnSpc>
              <a:spcBef>
                <a:spcPts val="0"/>
              </a:spcBef>
              <a:spcAft>
                <a:spcPts val="0"/>
              </a:spcAft>
              <a:buNone/>
            </a:pPr>
            <a:r>
              <a:rPr lang="en-US" sz="1800">
                <a:solidFill>
                  <a:srgbClr val="001080"/>
                </a:solidFill>
                <a:latin typeface="Consolas"/>
                <a:ea typeface="Consolas"/>
                <a:cs typeface="Consolas"/>
                <a:sym typeface="Consolas"/>
              </a:rPr>
              <a:t>agesRDD </a:t>
            </a:r>
            <a:r>
              <a:rPr lang="en-US" sz="1800">
                <a:latin typeface="Consolas"/>
                <a:ea typeface="Consolas"/>
                <a:cs typeface="Consolas"/>
                <a:sym typeface="Consolas"/>
              </a:rPr>
              <a:t>= </a:t>
            </a:r>
            <a:r>
              <a:rPr lang="en-US" sz="1800">
                <a:solidFill>
                  <a:srgbClr val="3A3A3A"/>
                </a:solidFill>
                <a:latin typeface="Consolas"/>
                <a:ea typeface="Consolas"/>
                <a:cs typeface="Consolas"/>
                <a:sym typeface="Consolas"/>
              </a:rPr>
              <a:t>(</a:t>
            </a:r>
            <a:r>
              <a:rPr lang="en-US" sz="1800">
                <a:solidFill>
                  <a:srgbClr val="001080"/>
                </a:solidFill>
                <a:latin typeface="Consolas"/>
                <a:ea typeface="Consolas"/>
                <a:cs typeface="Consolas"/>
                <a:sym typeface="Consolas"/>
              </a:rPr>
              <a:t>dataRDD</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.map(</a:t>
            </a:r>
            <a:r>
              <a:rPr lang="en-US" sz="1800">
                <a:solidFill>
                  <a:srgbClr val="0000FF"/>
                </a:solidFill>
                <a:latin typeface="Consolas"/>
                <a:ea typeface="Consolas"/>
                <a:cs typeface="Consolas"/>
                <a:sym typeface="Consolas"/>
              </a:rPr>
              <a:t>lambda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0</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457200" lvl="0" marL="927100" marR="1177290" rtl="0" algn="l">
              <a:lnSpc>
                <a:spcPct val="100000"/>
              </a:lnSpc>
              <a:spcBef>
                <a:spcPts val="0"/>
              </a:spcBef>
              <a:spcAft>
                <a:spcPts val="0"/>
              </a:spcAft>
              <a:buNone/>
            </a:pPr>
            <a:r>
              <a:rPr lang="en-US" sz="1800">
                <a:solidFill>
                  <a:srgbClr val="3A3A3A"/>
                </a:solidFill>
                <a:latin typeface="Consolas"/>
                <a:ea typeface="Consolas"/>
                <a:cs typeface="Consolas"/>
                <a:sym typeface="Consolas"/>
              </a:rPr>
              <a:t>.reduceByKey(</a:t>
            </a:r>
            <a:r>
              <a:rPr lang="en-US" sz="1800">
                <a:solidFill>
                  <a:srgbClr val="0000FF"/>
                </a:solidFill>
                <a:latin typeface="Consolas"/>
                <a:ea typeface="Consolas"/>
                <a:cs typeface="Consolas"/>
                <a:sym typeface="Consolas"/>
              </a:rPr>
              <a:t>lambda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y</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0</a:t>
            </a:r>
            <a:r>
              <a:rPr lang="en-US" sz="1800">
                <a:solidFill>
                  <a:srgbClr val="3A3A3A"/>
                </a:solidFill>
                <a:latin typeface="Consolas"/>
                <a:ea typeface="Consolas"/>
                <a:cs typeface="Consolas"/>
                <a:sym typeface="Consolas"/>
              </a:rPr>
              <a:t>] </a:t>
            </a:r>
            <a:r>
              <a:rPr lang="en-US" sz="1800">
                <a:latin typeface="Consolas"/>
                <a:ea typeface="Consolas"/>
                <a:cs typeface="Consolas"/>
                <a:sym typeface="Consolas"/>
              </a:rPr>
              <a:t>+ </a:t>
            </a:r>
            <a:r>
              <a:rPr lang="en-US" sz="1800">
                <a:solidFill>
                  <a:srgbClr val="001080"/>
                </a:solidFill>
                <a:latin typeface="Consolas"/>
                <a:ea typeface="Consolas"/>
                <a:cs typeface="Consolas"/>
                <a:sym typeface="Consolas"/>
              </a:rPr>
              <a:t>y</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0</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 </a:t>
            </a:r>
            <a:r>
              <a:rPr lang="en-US" sz="1800">
                <a:latin typeface="Consolas"/>
                <a:ea typeface="Consolas"/>
                <a:cs typeface="Consolas"/>
                <a:sym typeface="Consolas"/>
              </a:rPr>
              <a:t>+ </a:t>
            </a:r>
            <a:r>
              <a:rPr lang="en-US" sz="1800">
                <a:solidFill>
                  <a:srgbClr val="001080"/>
                </a:solidFill>
                <a:latin typeface="Consolas"/>
                <a:ea typeface="Consolas"/>
                <a:cs typeface="Consolas"/>
                <a:sym typeface="Consolas"/>
              </a:rPr>
              <a:t>y</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470534" rtl="0" algn="l">
              <a:lnSpc>
                <a:spcPct val="100000"/>
              </a:lnSpc>
              <a:spcBef>
                <a:spcPts val="0"/>
              </a:spcBef>
              <a:spcAft>
                <a:spcPts val="0"/>
              </a:spcAft>
              <a:buNone/>
            </a:pPr>
            <a:r>
              <a:rPr lang="en-US" sz="1800">
                <a:solidFill>
                  <a:srgbClr val="3A3A3A"/>
                </a:solidFill>
                <a:latin typeface="Consolas"/>
                <a:ea typeface="Consolas"/>
                <a:cs typeface="Consolas"/>
                <a:sym typeface="Consolas"/>
              </a:rPr>
              <a:t>.map(</a:t>
            </a:r>
            <a:r>
              <a:rPr lang="en-US" sz="1800">
                <a:solidFill>
                  <a:srgbClr val="0000FF"/>
                </a:solidFill>
                <a:latin typeface="Consolas"/>
                <a:ea typeface="Consolas"/>
                <a:cs typeface="Consolas"/>
                <a:sym typeface="Consolas"/>
              </a:rPr>
              <a:t>lambda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0</a:t>
            </a:r>
            <a:r>
              <a:rPr lang="en-US" sz="1800">
                <a:solidFill>
                  <a:srgbClr val="3A3A3A"/>
                </a:solidFill>
                <a:latin typeface="Consolas"/>
                <a:ea typeface="Consolas"/>
                <a:cs typeface="Consolas"/>
                <a:sym typeface="Consolas"/>
              </a:rPr>
              <a:t>], </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0</a:t>
            </a:r>
            <a:r>
              <a:rPr lang="en-US" sz="1800">
                <a:solidFill>
                  <a:srgbClr val="3A3A3A"/>
                </a:solidFill>
                <a:latin typeface="Consolas"/>
                <a:ea typeface="Consolas"/>
                <a:cs typeface="Consolas"/>
                <a:sym typeface="Consolas"/>
              </a:rPr>
              <a:t>]</a:t>
            </a:r>
            <a:r>
              <a:rPr lang="en-US" sz="1800">
                <a:latin typeface="Consolas"/>
                <a:ea typeface="Consolas"/>
                <a:cs typeface="Consolas"/>
                <a:sym typeface="Consolas"/>
              </a:rPr>
              <a:t>/</a:t>
            </a:r>
            <a:r>
              <a:rPr lang="en-US" sz="1800">
                <a:solidFill>
                  <a:srgbClr val="001080"/>
                </a:solidFill>
                <a:latin typeface="Consolas"/>
                <a:ea typeface="Consolas"/>
                <a:cs typeface="Consolas"/>
                <a:sym typeface="Consolas"/>
              </a:rPr>
              <a:t>x</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a:t>
            </a:r>
            <a:r>
              <a:rPr lang="en-US" sz="1800">
                <a:solidFill>
                  <a:srgbClr val="088557"/>
                </a:solidFill>
                <a:latin typeface="Consolas"/>
                <a:ea typeface="Consolas"/>
                <a:cs typeface="Consolas"/>
                <a:sym typeface="Consolas"/>
              </a:rPr>
              <a:t>1</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p:txBody>
      </p:sp>
      <p:sp>
        <p:nvSpPr>
          <p:cNvPr id="176" name="Google Shape;176;p20"/>
          <p:cNvSpPr txBox="1"/>
          <p:nvPr/>
        </p:nvSpPr>
        <p:spPr>
          <a:xfrm>
            <a:off x="6625098" y="1354100"/>
            <a:ext cx="5638200" cy="3351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solidFill>
                  <a:srgbClr val="AE00DB"/>
                </a:solidFill>
                <a:latin typeface="Consolas"/>
                <a:ea typeface="Consolas"/>
                <a:cs typeface="Consolas"/>
                <a:sym typeface="Consolas"/>
              </a:rPr>
              <a:t>from </a:t>
            </a:r>
            <a:r>
              <a:rPr lang="en-US" sz="1800">
                <a:solidFill>
                  <a:srgbClr val="257E99"/>
                </a:solidFill>
                <a:latin typeface="Consolas"/>
                <a:ea typeface="Consolas"/>
                <a:cs typeface="Consolas"/>
                <a:sym typeface="Consolas"/>
              </a:rPr>
              <a:t>pyspark</a:t>
            </a:r>
            <a:r>
              <a:rPr lang="en-US" sz="1800">
                <a:solidFill>
                  <a:srgbClr val="3A3A3A"/>
                </a:solidFill>
                <a:latin typeface="Consolas"/>
                <a:ea typeface="Consolas"/>
                <a:cs typeface="Consolas"/>
                <a:sym typeface="Consolas"/>
              </a:rPr>
              <a:t>.</a:t>
            </a:r>
            <a:r>
              <a:rPr lang="en-US" sz="1800">
                <a:solidFill>
                  <a:srgbClr val="257E99"/>
                </a:solidFill>
                <a:latin typeface="Consolas"/>
                <a:ea typeface="Consolas"/>
                <a:cs typeface="Consolas"/>
                <a:sym typeface="Consolas"/>
              </a:rPr>
              <a:t>sql </a:t>
            </a:r>
            <a:r>
              <a:rPr lang="en-US" sz="1800">
                <a:solidFill>
                  <a:srgbClr val="AE00DB"/>
                </a:solidFill>
                <a:latin typeface="Consolas"/>
                <a:ea typeface="Consolas"/>
                <a:cs typeface="Consolas"/>
                <a:sym typeface="Consolas"/>
              </a:rPr>
              <a:t>import </a:t>
            </a:r>
            <a:r>
              <a:rPr lang="en-US" sz="1800">
                <a:solidFill>
                  <a:srgbClr val="257E99"/>
                </a:solidFill>
                <a:latin typeface="Consolas"/>
                <a:ea typeface="Consolas"/>
                <a:cs typeface="Consolas"/>
                <a:sym typeface="Consolas"/>
              </a:rPr>
              <a:t>SparkSession </a:t>
            </a:r>
            <a:r>
              <a:rPr lang="en-US" sz="1800">
                <a:solidFill>
                  <a:srgbClr val="AE00DB"/>
                </a:solidFill>
                <a:latin typeface="Consolas"/>
                <a:ea typeface="Consolas"/>
                <a:cs typeface="Consolas"/>
                <a:sym typeface="Consolas"/>
              </a:rPr>
              <a:t>from </a:t>
            </a:r>
            <a:r>
              <a:rPr lang="en-US" sz="1800">
                <a:solidFill>
                  <a:srgbClr val="257E99"/>
                </a:solidFill>
                <a:latin typeface="Consolas"/>
                <a:ea typeface="Consolas"/>
                <a:cs typeface="Consolas"/>
                <a:sym typeface="Consolas"/>
              </a:rPr>
              <a:t>pyspark</a:t>
            </a:r>
            <a:r>
              <a:rPr lang="en-US" sz="1800">
                <a:solidFill>
                  <a:srgbClr val="3A3A3A"/>
                </a:solidFill>
                <a:latin typeface="Consolas"/>
                <a:ea typeface="Consolas"/>
                <a:cs typeface="Consolas"/>
                <a:sym typeface="Consolas"/>
              </a:rPr>
              <a:t>.</a:t>
            </a:r>
            <a:r>
              <a:rPr lang="en-US" sz="1800">
                <a:solidFill>
                  <a:srgbClr val="257E99"/>
                </a:solidFill>
                <a:latin typeface="Consolas"/>
                <a:ea typeface="Consolas"/>
                <a:cs typeface="Consolas"/>
                <a:sym typeface="Consolas"/>
              </a:rPr>
              <a:t>sql</a:t>
            </a:r>
            <a:r>
              <a:rPr lang="en-US" sz="1800">
                <a:solidFill>
                  <a:srgbClr val="3A3A3A"/>
                </a:solidFill>
                <a:latin typeface="Consolas"/>
                <a:ea typeface="Consolas"/>
                <a:cs typeface="Consolas"/>
                <a:sym typeface="Consolas"/>
              </a:rPr>
              <a:t>.</a:t>
            </a:r>
            <a:r>
              <a:rPr lang="en-US" sz="1800">
                <a:solidFill>
                  <a:srgbClr val="257E99"/>
                </a:solidFill>
                <a:latin typeface="Consolas"/>
                <a:ea typeface="Consolas"/>
                <a:cs typeface="Consolas"/>
                <a:sym typeface="Consolas"/>
              </a:rPr>
              <a:t>functions </a:t>
            </a:r>
            <a:r>
              <a:rPr lang="en-US" sz="1800">
                <a:solidFill>
                  <a:srgbClr val="AE00DB"/>
                </a:solidFill>
                <a:latin typeface="Consolas"/>
                <a:ea typeface="Consolas"/>
                <a:cs typeface="Consolas"/>
                <a:sym typeface="Consolas"/>
              </a:rPr>
              <a:t>import </a:t>
            </a:r>
            <a:r>
              <a:rPr lang="en-US" sz="1800">
                <a:solidFill>
                  <a:srgbClr val="795E25"/>
                </a:solidFill>
                <a:latin typeface="Consolas"/>
                <a:ea typeface="Consolas"/>
                <a:cs typeface="Consolas"/>
                <a:sym typeface="Consolas"/>
              </a:rPr>
              <a:t>avg</a:t>
            </a:r>
            <a:endParaRPr sz="1800">
              <a:latin typeface="Consolas"/>
              <a:ea typeface="Consolas"/>
              <a:cs typeface="Consolas"/>
              <a:sym typeface="Consolas"/>
            </a:endParaRPr>
          </a:p>
          <a:p>
            <a:pPr indent="0" lvl="0" marL="0" rtl="0" algn="l">
              <a:lnSpc>
                <a:spcPct val="100000"/>
              </a:lnSpc>
              <a:spcBef>
                <a:spcPts val="50"/>
              </a:spcBef>
              <a:spcAft>
                <a:spcPts val="0"/>
              </a:spcAft>
              <a:buNone/>
            </a:pPr>
            <a:r>
              <a:t/>
            </a:r>
            <a:endParaRPr sz="1800">
              <a:latin typeface="Consolas"/>
              <a:ea typeface="Consolas"/>
              <a:cs typeface="Consolas"/>
              <a:sym typeface="Consolas"/>
            </a:endParaRPr>
          </a:p>
          <a:p>
            <a:pPr indent="0" lvl="0" marL="12700" rtl="0" algn="l">
              <a:lnSpc>
                <a:spcPct val="100000"/>
              </a:lnSpc>
              <a:spcBef>
                <a:spcPts val="0"/>
              </a:spcBef>
              <a:spcAft>
                <a:spcPts val="0"/>
              </a:spcAft>
              <a:buNone/>
            </a:pPr>
            <a:r>
              <a:rPr lang="en-US" sz="1800">
                <a:solidFill>
                  <a:srgbClr val="001080"/>
                </a:solidFill>
                <a:latin typeface="Consolas"/>
                <a:ea typeface="Consolas"/>
                <a:cs typeface="Consolas"/>
                <a:sym typeface="Consolas"/>
              </a:rPr>
              <a:t>spark </a:t>
            </a:r>
            <a:r>
              <a:rPr lang="en-US" sz="1800">
                <a:latin typeface="Consolas"/>
                <a:ea typeface="Consolas"/>
                <a:cs typeface="Consolas"/>
                <a:sym typeface="Consolas"/>
              </a:rPr>
              <a:t>= </a:t>
            </a:r>
            <a:r>
              <a:rPr lang="en-US" sz="1800">
                <a:solidFill>
                  <a:srgbClr val="3A3A3A"/>
                </a:solidFill>
                <a:latin typeface="Consolas"/>
                <a:ea typeface="Consolas"/>
                <a:cs typeface="Consolas"/>
                <a:sym typeface="Consolas"/>
              </a:rPr>
              <a:t>(</a:t>
            </a:r>
            <a:r>
              <a:rPr lang="en-US" sz="1800">
                <a:solidFill>
                  <a:srgbClr val="257E99"/>
                </a:solidFill>
                <a:latin typeface="Consolas"/>
                <a:ea typeface="Consolas"/>
                <a:cs typeface="Consolas"/>
                <a:sym typeface="Consolas"/>
              </a:rPr>
              <a:t>SparkSession</a:t>
            </a:r>
            <a:endParaRPr sz="1800">
              <a:latin typeface="Consolas"/>
              <a:ea typeface="Consolas"/>
              <a:cs typeface="Consolas"/>
              <a:sym typeface="Consolas"/>
            </a:endParaRPr>
          </a:p>
          <a:p>
            <a:pPr indent="0" lvl="0" marL="127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001080"/>
                </a:solidFill>
                <a:latin typeface="Consolas"/>
                <a:ea typeface="Consolas"/>
                <a:cs typeface="Consolas"/>
                <a:sym typeface="Consolas"/>
              </a:rPr>
              <a:t>builder</a:t>
            </a:r>
            <a:endParaRPr sz="1800">
              <a:latin typeface="Consolas"/>
              <a:ea typeface="Consolas"/>
              <a:cs typeface="Consolas"/>
              <a:sym typeface="Consolas"/>
            </a:endParaRPr>
          </a:p>
          <a:p>
            <a:pPr indent="0" lvl="0" marL="127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795E25"/>
                </a:solidFill>
                <a:latin typeface="Consolas"/>
                <a:ea typeface="Consolas"/>
                <a:cs typeface="Consolas"/>
                <a:sym typeface="Consolas"/>
              </a:rPr>
              <a:t>appName</a:t>
            </a: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"AuthorsAges"</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127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795E25"/>
                </a:solidFill>
                <a:latin typeface="Consolas"/>
                <a:ea typeface="Consolas"/>
                <a:cs typeface="Consolas"/>
                <a:sym typeface="Consolas"/>
              </a:rPr>
              <a:t>getOrCreate</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50"/>
              </a:spcBef>
              <a:spcAft>
                <a:spcPts val="0"/>
              </a:spcAft>
              <a:buNone/>
            </a:pPr>
            <a:r>
              <a:t/>
            </a:r>
            <a:endParaRPr sz="1800">
              <a:latin typeface="Consolas"/>
              <a:ea typeface="Consolas"/>
              <a:cs typeface="Consolas"/>
              <a:sym typeface="Consolas"/>
            </a:endParaRPr>
          </a:p>
          <a:p>
            <a:pPr indent="-457200" lvl="0" marL="469900" marR="424815" rtl="0" algn="l">
              <a:lnSpc>
                <a:spcPct val="100000"/>
              </a:lnSpc>
              <a:spcBef>
                <a:spcPts val="5"/>
              </a:spcBef>
              <a:spcAft>
                <a:spcPts val="0"/>
              </a:spcAft>
              <a:buNone/>
            </a:pPr>
            <a:r>
              <a:rPr lang="en-US" sz="1800">
                <a:solidFill>
                  <a:srgbClr val="001080"/>
                </a:solidFill>
                <a:latin typeface="Consolas"/>
                <a:ea typeface="Consolas"/>
                <a:cs typeface="Consolas"/>
                <a:sym typeface="Consolas"/>
              </a:rPr>
              <a:t>data_df </a:t>
            </a:r>
            <a:r>
              <a:rPr lang="en-US" sz="1800">
                <a:latin typeface="Consolas"/>
                <a:ea typeface="Consolas"/>
                <a:cs typeface="Consolas"/>
                <a:sym typeface="Consolas"/>
              </a:rPr>
              <a:t>= </a:t>
            </a:r>
            <a:r>
              <a:rPr lang="en-US" sz="1800">
                <a:solidFill>
                  <a:srgbClr val="001080"/>
                </a:solidFill>
                <a:latin typeface="Consolas"/>
                <a:ea typeface="Consolas"/>
                <a:cs typeface="Consolas"/>
                <a:sym typeface="Consolas"/>
              </a:rPr>
              <a:t>spark</a:t>
            </a:r>
            <a:r>
              <a:rPr lang="en-US" sz="1800">
                <a:solidFill>
                  <a:srgbClr val="3A3A3A"/>
                </a:solidFill>
                <a:latin typeface="Consolas"/>
                <a:ea typeface="Consolas"/>
                <a:cs typeface="Consolas"/>
                <a:sym typeface="Consolas"/>
              </a:rPr>
              <a:t>.</a:t>
            </a:r>
            <a:r>
              <a:rPr lang="en-US" sz="1800">
                <a:solidFill>
                  <a:srgbClr val="795E25"/>
                </a:solidFill>
                <a:latin typeface="Consolas"/>
                <a:ea typeface="Consolas"/>
                <a:cs typeface="Consolas"/>
                <a:sym typeface="Consolas"/>
              </a:rPr>
              <a:t>createDataFrame</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"Brooke"</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20</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"Denny"</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31</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"Jules"</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30</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"TD"</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35</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"Brooke"</a:t>
            </a:r>
            <a:r>
              <a:rPr lang="en-US" sz="1800">
                <a:solidFill>
                  <a:srgbClr val="3A3A3A"/>
                </a:solidFill>
                <a:latin typeface="Consolas"/>
                <a:ea typeface="Consolas"/>
                <a:cs typeface="Consolas"/>
                <a:sym typeface="Consolas"/>
              </a:rPr>
              <a:t>, </a:t>
            </a:r>
            <a:r>
              <a:rPr lang="en-US" sz="1800">
                <a:solidFill>
                  <a:srgbClr val="088557"/>
                </a:solidFill>
                <a:latin typeface="Consolas"/>
                <a:ea typeface="Consolas"/>
                <a:cs typeface="Consolas"/>
                <a:sym typeface="Consolas"/>
              </a:rPr>
              <a:t>25</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"name"</a:t>
            </a:r>
            <a:r>
              <a:rPr lang="en-US" sz="1800">
                <a:solidFill>
                  <a:srgbClr val="3A3A3A"/>
                </a:solidFill>
                <a:latin typeface="Consolas"/>
                <a:ea typeface="Consolas"/>
                <a:cs typeface="Consolas"/>
                <a:sym typeface="Consolas"/>
              </a:rPr>
              <a:t>, </a:t>
            </a:r>
            <a:r>
              <a:rPr lang="en-US" sz="1800">
                <a:solidFill>
                  <a:srgbClr val="A21414"/>
                </a:solidFill>
                <a:latin typeface="Consolas"/>
                <a:ea typeface="Consolas"/>
                <a:cs typeface="Consolas"/>
                <a:sym typeface="Consolas"/>
              </a:rPr>
              <a:t>"age"</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p:txBody>
      </p:sp>
      <p:sp>
        <p:nvSpPr>
          <p:cNvPr id="177" name="Google Shape;177;p20"/>
          <p:cNvSpPr txBox="1"/>
          <p:nvPr/>
        </p:nvSpPr>
        <p:spPr>
          <a:xfrm>
            <a:off x="6625796" y="4920253"/>
            <a:ext cx="2612400" cy="84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001080"/>
                </a:solidFill>
                <a:latin typeface="Consolas"/>
                <a:ea typeface="Consolas"/>
                <a:cs typeface="Consolas"/>
                <a:sym typeface="Consolas"/>
              </a:rPr>
              <a:t>avg_df </a:t>
            </a:r>
            <a:r>
              <a:rPr lang="en-US" sz="1800">
                <a:latin typeface="Consolas"/>
                <a:ea typeface="Consolas"/>
                <a:cs typeface="Consolas"/>
                <a:sym typeface="Consolas"/>
              </a:rPr>
              <a:t>= </a:t>
            </a:r>
            <a:r>
              <a:rPr lang="en-US" sz="1800">
                <a:solidFill>
                  <a:srgbClr val="3A3A3A"/>
                </a:solidFill>
                <a:latin typeface="Consolas"/>
                <a:ea typeface="Consolas"/>
                <a:cs typeface="Consolas"/>
                <a:sym typeface="Consolas"/>
              </a:rPr>
              <a:t>(</a:t>
            </a:r>
            <a:r>
              <a:rPr lang="en-US" sz="1800">
                <a:solidFill>
                  <a:srgbClr val="001080"/>
                </a:solidFill>
                <a:latin typeface="Consolas"/>
                <a:ea typeface="Consolas"/>
                <a:cs typeface="Consolas"/>
                <a:sym typeface="Consolas"/>
              </a:rPr>
              <a:t>data_df</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795E25"/>
                </a:solidFill>
                <a:latin typeface="Consolas"/>
                <a:ea typeface="Consolas"/>
                <a:cs typeface="Consolas"/>
                <a:sym typeface="Consolas"/>
              </a:rPr>
              <a:t>groupBy</a:t>
            </a: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"name"</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a:p>
            <a:pPr indent="0" lvl="0" marL="469900" rtl="0" algn="l">
              <a:lnSpc>
                <a:spcPct val="100000"/>
              </a:lnSpc>
              <a:spcBef>
                <a:spcPts val="0"/>
              </a:spcBef>
              <a:spcAft>
                <a:spcPts val="0"/>
              </a:spcAft>
              <a:buNone/>
            </a:pPr>
            <a:r>
              <a:rPr lang="en-US" sz="1800">
                <a:solidFill>
                  <a:srgbClr val="3A3A3A"/>
                </a:solidFill>
                <a:latin typeface="Consolas"/>
                <a:ea typeface="Consolas"/>
                <a:cs typeface="Consolas"/>
                <a:sym typeface="Consolas"/>
              </a:rPr>
              <a:t>.</a:t>
            </a:r>
            <a:r>
              <a:rPr lang="en-US" sz="1800">
                <a:solidFill>
                  <a:srgbClr val="795E25"/>
                </a:solidFill>
                <a:latin typeface="Consolas"/>
                <a:ea typeface="Consolas"/>
                <a:cs typeface="Consolas"/>
                <a:sym typeface="Consolas"/>
              </a:rPr>
              <a:t>agg</a:t>
            </a:r>
            <a:r>
              <a:rPr lang="en-US" sz="1800">
                <a:solidFill>
                  <a:srgbClr val="3A3A3A"/>
                </a:solidFill>
                <a:latin typeface="Consolas"/>
                <a:ea typeface="Consolas"/>
                <a:cs typeface="Consolas"/>
                <a:sym typeface="Consolas"/>
              </a:rPr>
              <a:t>(</a:t>
            </a:r>
            <a:r>
              <a:rPr lang="en-US" sz="1800">
                <a:solidFill>
                  <a:srgbClr val="795E25"/>
                </a:solidFill>
                <a:latin typeface="Consolas"/>
                <a:ea typeface="Consolas"/>
                <a:cs typeface="Consolas"/>
                <a:sym typeface="Consolas"/>
              </a:rPr>
              <a:t>avg</a:t>
            </a:r>
            <a:r>
              <a:rPr lang="en-US" sz="1800">
                <a:solidFill>
                  <a:srgbClr val="3A3A3A"/>
                </a:solidFill>
                <a:latin typeface="Consolas"/>
                <a:ea typeface="Consolas"/>
                <a:cs typeface="Consolas"/>
                <a:sym typeface="Consolas"/>
              </a:rPr>
              <a:t>(</a:t>
            </a:r>
            <a:r>
              <a:rPr lang="en-US" sz="1800">
                <a:solidFill>
                  <a:srgbClr val="A21414"/>
                </a:solidFill>
                <a:latin typeface="Consolas"/>
                <a:ea typeface="Consolas"/>
                <a:cs typeface="Consolas"/>
                <a:sym typeface="Consolas"/>
              </a:rPr>
              <a:t>"age"</a:t>
            </a:r>
            <a:r>
              <a:rPr lang="en-US" sz="1800">
                <a:solidFill>
                  <a:srgbClr val="3A3A3A"/>
                </a:solidFill>
                <a:latin typeface="Consolas"/>
                <a:ea typeface="Consolas"/>
                <a:cs typeface="Consolas"/>
                <a:sym typeface="Consolas"/>
              </a:rPr>
              <a:t>)))</a:t>
            </a:r>
            <a:endParaRPr sz="1800">
              <a:latin typeface="Consolas"/>
              <a:ea typeface="Consolas"/>
              <a:cs typeface="Consolas"/>
              <a:sym typeface="Consolas"/>
            </a:endParaRPr>
          </a:p>
        </p:txBody>
      </p:sp>
      <p:sp>
        <p:nvSpPr>
          <p:cNvPr id="178" name="Google Shape;178;p20"/>
          <p:cNvSpPr/>
          <p:nvPr/>
        </p:nvSpPr>
        <p:spPr>
          <a:xfrm>
            <a:off x="6064281" y="1336254"/>
            <a:ext cx="8254" cy="4371975"/>
          </a:xfrm>
          <a:custGeom>
            <a:rect b="b" l="l" r="r" t="t"/>
            <a:pathLst>
              <a:path extrusionOk="0" h="4371975" w="8254">
                <a:moveTo>
                  <a:pt x="8026" y="0"/>
                </a:moveTo>
                <a:lnTo>
                  <a:pt x="0" y="4371568"/>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79" name="Google Shape;179;p20"/>
          <p:cNvSpPr/>
          <p:nvPr/>
        </p:nvSpPr>
        <p:spPr>
          <a:xfrm>
            <a:off x="155425" y="3050891"/>
            <a:ext cx="5803900" cy="1717675"/>
          </a:xfrm>
          <a:custGeom>
            <a:rect b="b" l="l" r="r" t="t"/>
            <a:pathLst>
              <a:path extrusionOk="0" h="1717675" w="5803900">
                <a:moveTo>
                  <a:pt x="0" y="286270"/>
                </a:moveTo>
                <a:lnTo>
                  <a:pt x="3746" y="239836"/>
                </a:lnTo>
                <a:lnTo>
                  <a:pt x="14594" y="195787"/>
                </a:lnTo>
                <a:lnTo>
                  <a:pt x="31953" y="154713"/>
                </a:lnTo>
                <a:lnTo>
                  <a:pt x="55233" y="117203"/>
                </a:lnTo>
                <a:lnTo>
                  <a:pt x="83846" y="83846"/>
                </a:lnTo>
                <a:lnTo>
                  <a:pt x="117203" y="55233"/>
                </a:lnTo>
                <a:lnTo>
                  <a:pt x="154713" y="31953"/>
                </a:lnTo>
                <a:lnTo>
                  <a:pt x="195787" y="14594"/>
                </a:lnTo>
                <a:lnTo>
                  <a:pt x="239836" y="3746"/>
                </a:lnTo>
                <a:lnTo>
                  <a:pt x="286270" y="0"/>
                </a:lnTo>
                <a:lnTo>
                  <a:pt x="5517121" y="0"/>
                </a:lnTo>
                <a:lnTo>
                  <a:pt x="5563555" y="3746"/>
                </a:lnTo>
                <a:lnTo>
                  <a:pt x="5607604" y="14594"/>
                </a:lnTo>
                <a:lnTo>
                  <a:pt x="5648678" y="31953"/>
                </a:lnTo>
                <a:lnTo>
                  <a:pt x="5686188" y="55233"/>
                </a:lnTo>
                <a:lnTo>
                  <a:pt x="5719545" y="83846"/>
                </a:lnTo>
                <a:lnTo>
                  <a:pt x="5748158" y="117203"/>
                </a:lnTo>
                <a:lnTo>
                  <a:pt x="5771438" y="154713"/>
                </a:lnTo>
                <a:lnTo>
                  <a:pt x="5788797" y="195787"/>
                </a:lnTo>
                <a:lnTo>
                  <a:pt x="5799645" y="239836"/>
                </a:lnTo>
                <a:lnTo>
                  <a:pt x="5803392" y="286270"/>
                </a:lnTo>
                <a:lnTo>
                  <a:pt x="5803392" y="1431290"/>
                </a:lnTo>
                <a:lnTo>
                  <a:pt x="5799645" y="1477724"/>
                </a:lnTo>
                <a:lnTo>
                  <a:pt x="5788797" y="1521772"/>
                </a:lnTo>
                <a:lnTo>
                  <a:pt x="5771438" y="1562844"/>
                </a:lnTo>
                <a:lnTo>
                  <a:pt x="5748158" y="1600353"/>
                </a:lnTo>
                <a:lnTo>
                  <a:pt x="5719545" y="1633707"/>
                </a:lnTo>
                <a:lnTo>
                  <a:pt x="5686188" y="1662318"/>
                </a:lnTo>
                <a:lnTo>
                  <a:pt x="5648678" y="1685597"/>
                </a:lnTo>
                <a:lnTo>
                  <a:pt x="5607604" y="1702954"/>
                </a:lnTo>
                <a:lnTo>
                  <a:pt x="5563555" y="1713801"/>
                </a:lnTo>
                <a:lnTo>
                  <a:pt x="5517121" y="1717548"/>
                </a:lnTo>
                <a:lnTo>
                  <a:pt x="286270" y="1717548"/>
                </a:lnTo>
                <a:lnTo>
                  <a:pt x="239836" y="1713801"/>
                </a:lnTo>
                <a:lnTo>
                  <a:pt x="195787" y="1702954"/>
                </a:lnTo>
                <a:lnTo>
                  <a:pt x="154713" y="1685597"/>
                </a:lnTo>
                <a:lnTo>
                  <a:pt x="117203" y="1662318"/>
                </a:lnTo>
                <a:lnTo>
                  <a:pt x="83846" y="1633707"/>
                </a:lnTo>
                <a:lnTo>
                  <a:pt x="55233" y="1600353"/>
                </a:lnTo>
                <a:lnTo>
                  <a:pt x="31953" y="1562844"/>
                </a:lnTo>
                <a:lnTo>
                  <a:pt x="14594" y="1521772"/>
                </a:lnTo>
                <a:lnTo>
                  <a:pt x="3746" y="1477724"/>
                </a:lnTo>
                <a:lnTo>
                  <a:pt x="0" y="1431290"/>
                </a:lnTo>
                <a:lnTo>
                  <a:pt x="0" y="286270"/>
                </a:lnTo>
                <a:close/>
              </a:path>
            </a:pathLst>
          </a:custGeom>
          <a:noFill/>
          <a:ln cap="flat" cmpd="sng" w="28550">
            <a:solidFill>
              <a:srgbClr val="FFC000"/>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0" name="Google Shape;180;p20"/>
          <p:cNvSpPr/>
          <p:nvPr/>
        </p:nvSpPr>
        <p:spPr>
          <a:xfrm>
            <a:off x="6393471" y="4874986"/>
            <a:ext cx="3200400" cy="984885"/>
          </a:xfrm>
          <a:custGeom>
            <a:rect b="b" l="l" r="r" t="t"/>
            <a:pathLst>
              <a:path extrusionOk="0" h="984885" w="3200400">
                <a:moveTo>
                  <a:pt x="0" y="164084"/>
                </a:moveTo>
                <a:lnTo>
                  <a:pt x="5861" y="120461"/>
                </a:lnTo>
                <a:lnTo>
                  <a:pt x="22403" y="81264"/>
                </a:lnTo>
                <a:lnTo>
                  <a:pt x="48061" y="48056"/>
                </a:lnTo>
                <a:lnTo>
                  <a:pt x="81270" y="22400"/>
                </a:lnTo>
                <a:lnTo>
                  <a:pt x="120466" y="5860"/>
                </a:lnTo>
                <a:lnTo>
                  <a:pt x="164084" y="0"/>
                </a:lnTo>
                <a:lnTo>
                  <a:pt x="3036316" y="0"/>
                </a:lnTo>
                <a:lnTo>
                  <a:pt x="3079933" y="5860"/>
                </a:lnTo>
                <a:lnTo>
                  <a:pt x="3119129" y="22400"/>
                </a:lnTo>
                <a:lnTo>
                  <a:pt x="3152338" y="48056"/>
                </a:lnTo>
                <a:lnTo>
                  <a:pt x="3177996" y="81264"/>
                </a:lnTo>
                <a:lnTo>
                  <a:pt x="3194538" y="120461"/>
                </a:lnTo>
                <a:lnTo>
                  <a:pt x="3200400" y="164084"/>
                </a:lnTo>
                <a:lnTo>
                  <a:pt x="3200400" y="820407"/>
                </a:lnTo>
                <a:lnTo>
                  <a:pt x="3194538" y="864030"/>
                </a:lnTo>
                <a:lnTo>
                  <a:pt x="3177996" y="903229"/>
                </a:lnTo>
                <a:lnTo>
                  <a:pt x="3152338" y="936440"/>
                </a:lnTo>
                <a:lnTo>
                  <a:pt x="3119129" y="962099"/>
                </a:lnTo>
                <a:lnTo>
                  <a:pt x="3079933" y="978642"/>
                </a:lnTo>
                <a:lnTo>
                  <a:pt x="3036316" y="984504"/>
                </a:lnTo>
                <a:lnTo>
                  <a:pt x="164084" y="984504"/>
                </a:lnTo>
                <a:lnTo>
                  <a:pt x="120466" y="978642"/>
                </a:lnTo>
                <a:lnTo>
                  <a:pt x="81270" y="962099"/>
                </a:lnTo>
                <a:lnTo>
                  <a:pt x="48061" y="936440"/>
                </a:lnTo>
                <a:lnTo>
                  <a:pt x="22403" y="903229"/>
                </a:lnTo>
                <a:lnTo>
                  <a:pt x="5861" y="864030"/>
                </a:lnTo>
                <a:lnTo>
                  <a:pt x="0" y="820407"/>
                </a:lnTo>
                <a:lnTo>
                  <a:pt x="0" y="164084"/>
                </a:lnTo>
                <a:close/>
              </a:path>
            </a:pathLst>
          </a:custGeom>
          <a:noFill/>
          <a:ln cap="flat" cmpd="sng" w="28575">
            <a:solidFill>
              <a:srgbClr val="FFC000"/>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1" name="Google Shape;181;p20"/>
          <p:cNvSpPr/>
          <p:nvPr/>
        </p:nvSpPr>
        <p:spPr>
          <a:xfrm>
            <a:off x="10605044" y="4874221"/>
            <a:ext cx="1150620" cy="399414"/>
          </a:xfrm>
          <a:custGeom>
            <a:rect b="b" l="l" r="r" t="t"/>
            <a:pathLst>
              <a:path extrusionOk="0" h="399414" w="1150620">
                <a:moveTo>
                  <a:pt x="0" y="0"/>
                </a:moveTo>
                <a:lnTo>
                  <a:pt x="1150620" y="0"/>
                </a:lnTo>
                <a:lnTo>
                  <a:pt x="1150620" y="399287"/>
                </a:lnTo>
                <a:lnTo>
                  <a:pt x="0" y="399287"/>
                </a:lnTo>
                <a:lnTo>
                  <a:pt x="0" y="0"/>
                </a:lnTo>
                <a:close/>
              </a:path>
            </a:pathLst>
          </a:custGeom>
          <a:noFill/>
          <a:ln cap="flat" cmpd="sng" w="9525">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2" name="Google Shape;182;p20"/>
          <p:cNvSpPr txBox="1"/>
          <p:nvPr/>
        </p:nvSpPr>
        <p:spPr>
          <a:xfrm>
            <a:off x="10709821" y="4890244"/>
            <a:ext cx="9405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solidFill>
                  <a:srgbClr val="134262"/>
                </a:solidFill>
                <a:latin typeface="Calibri"/>
                <a:ea typeface="Calibri"/>
                <a:cs typeface="Calibri"/>
                <a:sym typeface="Calibri"/>
              </a:rPr>
              <a:t>SCHEMA</a:t>
            </a:r>
            <a:endParaRPr sz="2000">
              <a:latin typeface="Calibri"/>
              <a:ea typeface="Calibri"/>
              <a:cs typeface="Calibri"/>
              <a:sym typeface="Calibri"/>
            </a:endParaRPr>
          </a:p>
        </p:txBody>
      </p:sp>
      <p:grpSp>
        <p:nvGrpSpPr>
          <p:cNvPr id="183" name="Google Shape;183;p20"/>
          <p:cNvGrpSpPr/>
          <p:nvPr/>
        </p:nvGrpSpPr>
        <p:grpSpPr>
          <a:xfrm>
            <a:off x="10076038" y="4768573"/>
            <a:ext cx="580425" cy="342279"/>
            <a:chOff x="10108513" y="5158248"/>
            <a:chExt cx="580425" cy="342279"/>
          </a:xfrm>
        </p:grpSpPr>
        <p:sp>
          <p:nvSpPr>
            <p:cNvPr id="184" name="Google Shape;184;p20"/>
            <p:cNvSpPr/>
            <p:nvPr/>
          </p:nvSpPr>
          <p:spPr>
            <a:xfrm>
              <a:off x="10149188" y="5158262"/>
              <a:ext cx="539750" cy="342265"/>
            </a:xfrm>
            <a:custGeom>
              <a:rect b="b" l="l" r="r" t="t"/>
              <a:pathLst>
                <a:path extrusionOk="0" h="342264" w="539750">
                  <a:moveTo>
                    <a:pt x="539127" y="342188"/>
                  </a:moveTo>
                  <a:lnTo>
                    <a:pt x="486982" y="339992"/>
                  </a:lnTo>
                  <a:lnTo>
                    <a:pt x="435271" y="333597"/>
                  </a:lnTo>
                  <a:lnTo>
                    <a:pt x="384427" y="323293"/>
                  </a:lnTo>
                  <a:lnTo>
                    <a:pt x="334885" y="309368"/>
                  </a:lnTo>
                  <a:lnTo>
                    <a:pt x="287080" y="292112"/>
                  </a:lnTo>
                  <a:lnTo>
                    <a:pt x="241444" y="271814"/>
                  </a:lnTo>
                  <a:lnTo>
                    <a:pt x="198413" y="248764"/>
                  </a:lnTo>
                  <a:lnTo>
                    <a:pt x="158419" y="223251"/>
                  </a:lnTo>
                  <a:lnTo>
                    <a:pt x="121898" y="195564"/>
                  </a:lnTo>
                  <a:lnTo>
                    <a:pt x="89284" y="165993"/>
                  </a:lnTo>
                  <a:lnTo>
                    <a:pt x="61010" y="134827"/>
                  </a:lnTo>
                  <a:lnTo>
                    <a:pt x="37510" y="102355"/>
                  </a:lnTo>
                  <a:lnTo>
                    <a:pt x="19219" y="68867"/>
                  </a:lnTo>
                  <a:lnTo>
                    <a:pt x="6571" y="34652"/>
                  </a:lnTo>
                  <a:lnTo>
                    <a:pt x="0" y="0"/>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5" name="Google Shape;185;p20"/>
            <p:cNvSpPr/>
            <p:nvPr/>
          </p:nvSpPr>
          <p:spPr>
            <a:xfrm>
              <a:off x="10108513" y="5158248"/>
              <a:ext cx="88900" cy="78740"/>
            </a:xfrm>
            <a:custGeom>
              <a:rect b="b" l="l" r="r" t="t"/>
              <a:pathLst>
                <a:path extrusionOk="0" h="78739" w="88900">
                  <a:moveTo>
                    <a:pt x="0" y="78282"/>
                  </a:moveTo>
                  <a:lnTo>
                    <a:pt x="40678" y="0"/>
                  </a:lnTo>
                  <a:lnTo>
                    <a:pt x="88798" y="73939"/>
                  </a:lnTo>
                </a:path>
              </a:pathLst>
            </a:custGeom>
            <a:noFill/>
            <a:ln cap="flat" cmpd="sng" w="179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86" name="Google Shape;186;p20"/>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87" name="Google Shape;187;p20"/>
          <p:cNvSpPr txBox="1"/>
          <p:nvPr>
            <p:ph type="title"/>
          </p:nvPr>
        </p:nvSpPr>
        <p:spPr>
          <a:xfrm>
            <a:off x="2844450" y="358050"/>
            <a:ext cx="6503100" cy="5061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a:latin typeface="Candara"/>
                <a:ea typeface="Candara"/>
                <a:cs typeface="Candara"/>
                <a:sym typeface="Candara"/>
              </a:rPr>
              <a:t>Diferencia entre el uso de RDDs y DFs</a:t>
            </a:r>
            <a:endParaRPr/>
          </a:p>
        </p:txBody>
      </p:sp>
      <p:sp>
        <p:nvSpPr>
          <p:cNvPr id="188" name="Google Shape;188;p20"/>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idx="1" type="body"/>
          </p:nvPr>
        </p:nvSpPr>
        <p:spPr>
          <a:xfrm>
            <a:off x="404314" y="1468750"/>
            <a:ext cx="5337300" cy="4465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a:solidFill>
                  <a:srgbClr val="AE00DB"/>
                </a:solidFill>
              </a:rPr>
              <a:t>from </a:t>
            </a:r>
            <a:r>
              <a:rPr lang="en-US"/>
              <a:t>pyspark</a:t>
            </a:r>
            <a:r>
              <a:rPr lang="en-US">
                <a:solidFill>
                  <a:srgbClr val="3A3A3A"/>
                </a:solidFill>
              </a:rPr>
              <a:t>.</a:t>
            </a:r>
            <a:r>
              <a:rPr lang="en-US"/>
              <a:t>sql </a:t>
            </a:r>
            <a:r>
              <a:rPr lang="en-US">
                <a:solidFill>
                  <a:srgbClr val="AE00DB"/>
                </a:solidFill>
              </a:rPr>
              <a:t>import </a:t>
            </a:r>
            <a:r>
              <a:rPr lang="en-US"/>
              <a:t>SparkSession </a:t>
            </a:r>
            <a:r>
              <a:rPr lang="en-US">
                <a:solidFill>
                  <a:srgbClr val="AE00DB"/>
                </a:solidFill>
              </a:rPr>
              <a:t>from </a:t>
            </a:r>
            <a:r>
              <a:rPr lang="en-US"/>
              <a:t>pyspark</a:t>
            </a:r>
            <a:r>
              <a:rPr lang="en-US">
                <a:solidFill>
                  <a:srgbClr val="3A3A3A"/>
                </a:solidFill>
              </a:rPr>
              <a:t>.</a:t>
            </a:r>
            <a:r>
              <a:rPr lang="en-US"/>
              <a:t>sql</a:t>
            </a:r>
            <a:r>
              <a:rPr lang="en-US">
                <a:solidFill>
                  <a:srgbClr val="3A3A3A"/>
                </a:solidFill>
              </a:rPr>
              <a:t>.</a:t>
            </a:r>
            <a:r>
              <a:rPr lang="en-US"/>
              <a:t>functions </a:t>
            </a:r>
            <a:r>
              <a:rPr lang="en-US">
                <a:solidFill>
                  <a:srgbClr val="AE00DB"/>
                </a:solidFill>
              </a:rPr>
              <a:t>import </a:t>
            </a:r>
            <a:r>
              <a:rPr lang="en-US">
                <a:solidFill>
                  <a:srgbClr val="795E25"/>
                </a:solidFill>
              </a:rPr>
              <a:t>avg</a:t>
            </a:r>
            <a:endParaRPr/>
          </a:p>
          <a:p>
            <a:pPr indent="0" lvl="0" marL="0" rtl="0" algn="l">
              <a:lnSpc>
                <a:spcPct val="100000"/>
              </a:lnSpc>
              <a:spcBef>
                <a:spcPts val="50"/>
              </a:spcBef>
              <a:spcAft>
                <a:spcPts val="0"/>
              </a:spcAft>
              <a:buNone/>
            </a:pPr>
            <a:r>
              <a:t/>
            </a:r>
            <a:endParaRPr>
              <a:solidFill>
                <a:srgbClr val="795E25"/>
              </a:solidFill>
            </a:endParaRPr>
          </a:p>
          <a:p>
            <a:pPr indent="0" lvl="0" marL="12700" rtl="0" algn="l">
              <a:lnSpc>
                <a:spcPct val="100000"/>
              </a:lnSpc>
              <a:spcBef>
                <a:spcPts val="0"/>
              </a:spcBef>
              <a:spcAft>
                <a:spcPts val="0"/>
              </a:spcAft>
              <a:buNone/>
            </a:pPr>
            <a:r>
              <a:rPr lang="en-US">
                <a:solidFill>
                  <a:srgbClr val="001080"/>
                </a:solidFill>
              </a:rPr>
              <a:t>spark </a:t>
            </a:r>
            <a:r>
              <a:rPr lang="en-US">
                <a:solidFill>
                  <a:srgbClr val="000000"/>
                </a:solidFill>
              </a:rPr>
              <a:t>= </a:t>
            </a:r>
            <a:r>
              <a:rPr lang="en-US">
                <a:solidFill>
                  <a:srgbClr val="3A3A3A"/>
                </a:solidFill>
              </a:rPr>
              <a:t>(</a:t>
            </a:r>
            <a:r>
              <a:rPr lang="en-US"/>
              <a:t>SparkSession</a:t>
            </a:r>
            <a:endParaRPr/>
          </a:p>
          <a:p>
            <a:pPr indent="0" lvl="0" marL="12700" rtl="0" algn="l">
              <a:lnSpc>
                <a:spcPct val="100000"/>
              </a:lnSpc>
              <a:spcBef>
                <a:spcPts val="0"/>
              </a:spcBef>
              <a:spcAft>
                <a:spcPts val="0"/>
              </a:spcAft>
              <a:buNone/>
            </a:pPr>
            <a:r>
              <a:rPr lang="en-US">
                <a:solidFill>
                  <a:srgbClr val="3A3A3A"/>
                </a:solidFill>
              </a:rPr>
              <a:t>.</a:t>
            </a:r>
            <a:r>
              <a:rPr lang="en-US">
                <a:solidFill>
                  <a:srgbClr val="001080"/>
                </a:solidFill>
              </a:rPr>
              <a:t>builder</a:t>
            </a:r>
            <a:endParaRPr/>
          </a:p>
          <a:p>
            <a:pPr indent="0" lvl="0" marL="12700" rtl="0" algn="l">
              <a:lnSpc>
                <a:spcPct val="100000"/>
              </a:lnSpc>
              <a:spcBef>
                <a:spcPts val="0"/>
              </a:spcBef>
              <a:spcAft>
                <a:spcPts val="0"/>
              </a:spcAft>
              <a:buNone/>
            </a:pPr>
            <a:r>
              <a:rPr lang="en-US">
                <a:solidFill>
                  <a:srgbClr val="3A3A3A"/>
                </a:solidFill>
              </a:rPr>
              <a:t>.</a:t>
            </a:r>
            <a:r>
              <a:rPr lang="en-US">
                <a:solidFill>
                  <a:srgbClr val="795E25"/>
                </a:solidFill>
              </a:rPr>
              <a:t>appName</a:t>
            </a:r>
            <a:r>
              <a:rPr lang="en-US">
                <a:solidFill>
                  <a:srgbClr val="3A3A3A"/>
                </a:solidFill>
              </a:rPr>
              <a:t>(</a:t>
            </a:r>
            <a:r>
              <a:rPr lang="en-US">
                <a:solidFill>
                  <a:srgbClr val="A21414"/>
                </a:solidFill>
              </a:rPr>
              <a:t>"AuthorsAges"</a:t>
            </a:r>
            <a:r>
              <a:rPr lang="en-US">
                <a:solidFill>
                  <a:srgbClr val="3A3A3A"/>
                </a:solidFill>
              </a:rPr>
              <a:t>)</a:t>
            </a:r>
            <a:endParaRPr/>
          </a:p>
          <a:p>
            <a:pPr indent="0" lvl="0" marL="12700" rtl="0" algn="l">
              <a:lnSpc>
                <a:spcPct val="100000"/>
              </a:lnSpc>
              <a:spcBef>
                <a:spcPts val="0"/>
              </a:spcBef>
              <a:spcAft>
                <a:spcPts val="0"/>
              </a:spcAft>
              <a:buNone/>
            </a:pPr>
            <a:r>
              <a:rPr lang="en-US">
                <a:solidFill>
                  <a:srgbClr val="3A3A3A"/>
                </a:solidFill>
              </a:rPr>
              <a:t>.</a:t>
            </a:r>
            <a:r>
              <a:rPr lang="en-US">
                <a:solidFill>
                  <a:srgbClr val="795E25"/>
                </a:solidFill>
              </a:rPr>
              <a:t>getOrCreate</a:t>
            </a:r>
            <a:r>
              <a:rPr lang="en-US">
                <a:solidFill>
                  <a:srgbClr val="3A3A3A"/>
                </a:solidFill>
              </a:rPr>
              <a:t>())</a:t>
            </a:r>
            <a:endParaRPr/>
          </a:p>
          <a:p>
            <a:pPr indent="0" lvl="0" marL="0" rtl="0" algn="l">
              <a:lnSpc>
                <a:spcPct val="100000"/>
              </a:lnSpc>
              <a:spcBef>
                <a:spcPts val="50"/>
              </a:spcBef>
              <a:spcAft>
                <a:spcPts val="0"/>
              </a:spcAft>
              <a:buNone/>
            </a:pPr>
            <a:r>
              <a:t/>
            </a:r>
            <a:endParaRPr>
              <a:solidFill>
                <a:srgbClr val="3A3A3A"/>
              </a:solidFill>
            </a:endParaRPr>
          </a:p>
          <a:p>
            <a:pPr indent="-457200" lvl="0" marL="469900" marR="424815" rtl="0" algn="l">
              <a:lnSpc>
                <a:spcPct val="100000"/>
              </a:lnSpc>
              <a:spcBef>
                <a:spcPts val="5"/>
              </a:spcBef>
              <a:spcAft>
                <a:spcPts val="0"/>
              </a:spcAft>
              <a:buNone/>
            </a:pPr>
            <a:r>
              <a:rPr lang="en-US">
                <a:solidFill>
                  <a:srgbClr val="001080"/>
                </a:solidFill>
              </a:rPr>
              <a:t>data_df </a:t>
            </a:r>
            <a:r>
              <a:rPr lang="en-US">
                <a:solidFill>
                  <a:srgbClr val="000000"/>
                </a:solidFill>
              </a:rPr>
              <a:t>= </a:t>
            </a:r>
            <a:r>
              <a:rPr lang="en-US">
                <a:solidFill>
                  <a:srgbClr val="001080"/>
                </a:solidFill>
              </a:rPr>
              <a:t>spark</a:t>
            </a:r>
            <a:r>
              <a:rPr lang="en-US">
                <a:solidFill>
                  <a:srgbClr val="3A3A3A"/>
                </a:solidFill>
              </a:rPr>
              <a:t>.</a:t>
            </a:r>
            <a:r>
              <a:rPr lang="en-US">
                <a:solidFill>
                  <a:srgbClr val="795E25"/>
                </a:solidFill>
              </a:rPr>
              <a:t>createDataFrame</a:t>
            </a:r>
            <a:r>
              <a:rPr lang="en-US">
                <a:solidFill>
                  <a:srgbClr val="3A3A3A"/>
                </a:solidFill>
              </a:rPr>
              <a:t>([ (</a:t>
            </a:r>
            <a:r>
              <a:rPr lang="en-US">
                <a:solidFill>
                  <a:srgbClr val="A21414"/>
                </a:solidFill>
              </a:rPr>
              <a:t>"Brooke"</a:t>
            </a:r>
            <a:r>
              <a:rPr lang="en-US">
                <a:solidFill>
                  <a:srgbClr val="3A3A3A"/>
                </a:solidFill>
              </a:rPr>
              <a:t>, </a:t>
            </a:r>
            <a:r>
              <a:rPr lang="en-US">
                <a:solidFill>
                  <a:srgbClr val="088557"/>
                </a:solidFill>
              </a:rPr>
              <a:t>20</a:t>
            </a:r>
            <a:r>
              <a:rPr lang="en-US">
                <a:solidFill>
                  <a:srgbClr val="3A3A3A"/>
                </a:solidFill>
              </a:rPr>
              <a:t>), (</a:t>
            </a:r>
            <a:r>
              <a:rPr lang="en-US">
                <a:solidFill>
                  <a:srgbClr val="A21414"/>
                </a:solidFill>
              </a:rPr>
              <a:t>"Denny"</a:t>
            </a:r>
            <a:r>
              <a:rPr lang="en-US">
                <a:solidFill>
                  <a:srgbClr val="3A3A3A"/>
                </a:solidFill>
              </a:rPr>
              <a:t>, </a:t>
            </a:r>
            <a:r>
              <a:rPr lang="en-US">
                <a:solidFill>
                  <a:srgbClr val="088557"/>
                </a:solidFill>
              </a:rPr>
              <a:t>31</a:t>
            </a:r>
            <a:r>
              <a:rPr lang="en-US">
                <a:solidFill>
                  <a:srgbClr val="3A3A3A"/>
                </a:solidFill>
              </a:rPr>
              <a:t>),</a:t>
            </a:r>
            <a:endParaRPr/>
          </a:p>
          <a:p>
            <a:pPr indent="0" lvl="0" marL="469900" rtl="0" algn="l">
              <a:lnSpc>
                <a:spcPct val="100000"/>
              </a:lnSpc>
              <a:spcBef>
                <a:spcPts val="0"/>
              </a:spcBef>
              <a:spcAft>
                <a:spcPts val="0"/>
              </a:spcAft>
              <a:buNone/>
            </a:pPr>
            <a:r>
              <a:rPr lang="en-US">
                <a:solidFill>
                  <a:srgbClr val="3A3A3A"/>
                </a:solidFill>
              </a:rPr>
              <a:t>(</a:t>
            </a:r>
            <a:r>
              <a:rPr lang="en-US">
                <a:solidFill>
                  <a:srgbClr val="A21414"/>
                </a:solidFill>
              </a:rPr>
              <a:t>"Jules"</a:t>
            </a:r>
            <a:r>
              <a:rPr lang="en-US">
                <a:solidFill>
                  <a:srgbClr val="3A3A3A"/>
                </a:solidFill>
              </a:rPr>
              <a:t>, </a:t>
            </a:r>
            <a:r>
              <a:rPr lang="en-US">
                <a:solidFill>
                  <a:srgbClr val="088557"/>
                </a:solidFill>
              </a:rPr>
              <a:t>30</a:t>
            </a:r>
            <a:r>
              <a:rPr lang="en-US">
                <a:solidFill>
                  <a:srgbClr val="3A3A3A"/>
                </a:solidFill>
              </a:rPr>
              <a:t>), (</a:t>
            </a:r>
            <a:r>
              <a:rPr lang="en-US">
                <a:solidFill>
                  <a:srgbClr val="A21414"/>
                </a:solidFill>
              </a:rPr>
              <a:t>"TD"</a:t>
            </a:r>
            <a:r>
              <a:rPr lang="en-US">
                <a:solidFill>
                  <a:srgbClr val="3A3A3A"/>
                </a:solidFill>
              </a:rPr>
              <a:t>, </a:t>
            </a:r>
            <a:r>
              <a:rPr lang="en-US">
                <a:solidFill>
                  <a:srgbClr val="088557"/>
                </a:solidFill>
              </a:rPr>
              <a:t>35</a:t>
            </a:r>
            <a:r>
              <a:rPr lang="en-US">
                <a:solidFill>
                  <a:srgbClr val="3A3A3A"/>
                </a:solidFill>
              </a:rPr>
              <a:t>),</a:t>
            </a:r>
            <a:endParaRPr/>
          </a:p>
          <a:p>
            <a:pPr indent="0" lvl="0" marL="469900" rtl="0" algn="l">
              <a:lnSpc>
                <a:spcPct val="100000"/>
              </a:lnSpc>
              <a:spcBef>
                <a:spcPts val="0"/>
              </a:spcBef>
              <a:spcAft>
                <a:spcPts val="0"/>
              </a:spcAft>
              <a:buNone/>
            </a:pPr>
            <a:r>
              <a:rPr lang="en-US">
                <a:solidFill>
                  <a:srgbClr val="3A3A3A"/>
                </a:solidFill>
              </a:rPr>
              <a:t>(</a:t>
            </a:r>
            <a:r>
              <a:rPr lang="en-US">
                <a:solidFill>
                  <a:srgbClr val="A21414"/>
                </a:solidFill>
              </a:rPr>
              <a:t>"Brooke"</a:t>
            </a:r>
            <a:r>
              <a:rPr lang="en-US">
                <a:solidFill>
                  <a:srgbClr val="3A3A3A"/>
                </a:solidFill>
              </a:rPr>
              <a:t>, </a:t>
            </a:r>
            <a:r>
              <a:rPr lang="en-US">
                <a:solidFill>
                  <a:srgbClr val="088557"/>
                </a:solidFill>
              </a:rPr>
              <a:t>25</a:t>
            </a:r>
            <a:r>
              <a:rPr lang="en-US">
                <a:solidFill>
                  <a:srgbClr val="3A3A3A"/>
                </a:solidFill>
              </a:rPr>
              <a:t>)], [</a:t>
            </a:r>
            <a:r>
              <a:rPr lang="en-US">
                <a:solidFill>
                  <a:srgbClr val="A21414"/>
                </a:solidFill>
              </a:rPr>
              <a:t>"name"</a:t>
            </a:r>
            <a:r>
              <a:rPr lang="en-US">
                <a:solidFill>
                  <a:srgbClr val="3A3A3A"/>
                </a:solidFill>
              </a:rPr>
              <a:t>, </a:t>
            </a:r>
            <a:r>
              <a:rPr lang="en-US">
                <a:solidFill>
                  <a:srgbClr val="A21414"/>
                </a:solidFill>
              </a:rPr>
              <a:t>"age"</a:t>
            </a:r>
            <a:r>
              <a:rPr lang="en-US">
                <a:solidFill>
                  <a:srgbClr val="3A3A3A"/>
                </a:solidFill>
              </a:rPr>
              <a:t>])</a:t>
            </a:r>
            <a:endParaRPr/>
          </a:p>
          <a:p>
            <a:pPr indent="0" lvl="0" marL="0" rtl="0" algn="l">
              <a:lnSpc>
                <a:spcPct val="100000"/>
              </a:lnSpc>
              <a:spcBef>
                <a:spcPts val="50"/>
              </a:spcBef>
              <a:spcAft>
                <a:spcPts val="0"/>
              </a:spcAft>
              <a:buNone/>
            </a:pPr>
            <a:r>
              <a:t/>
            </a:r>
            <a:endParaRPr>
              <a:solidFill>
                <a:srgbClr val="3A3A3A"/>
              </a:solidFill>
            </a:endParaRPr>
          </a:p>
          <a:p>
            <a:pPr indent="0" lvl="0" marL="13334" rtl="0" algn="l">
              <a:lnSpc>
                <a:spcPct val="100000"/>
              </a:lnSpc>
              <a:spcBef>
                <a:spcPts val="0"/>
              </a:spcBef>
              <a:spcAft>
                <a:spcPts val="0"/>
              </a:spcAft>
              <a:buNone/>
            </a:pPr>
            <a:r>
              <a:rPr lang="en-US">
                <a:solidFill>
                  <a:srgbClr val="001080"/>
                </a:solidFill>
              </a:rPr>
              <a:t>avg_df </a:t>
            </a:r>
            <a:r>
              <a:rPr lang="en-US">
                <a:solidFill>
                  <a:srgbClr val="000000"/>
                </a:solidFill>
              </a:rPr>
              <a:t>= </a:t>
            </a:r>
            <a:r>
              <a:rPr lang="en-US">
                <a:solidFill>
                  <a:srgbClr val="3A3A3A"/>
                </a:solidFill>
              </a:rPr>
              <a:t>(</a:t>
            </a:r>
            <a:r>
              <a:rPr lang="en-US">
                <a:solidFill>
                  <a:srgbClr val="001080"/>
                </a:solidFill>
              </a:rPr>
              <a:t>data_df</a:t>
            </a:r>
            <a:endParaRPr/>
          </a:p>
          <a:p>
            <a:pPr indent="0" lvl="0" marL="470534" rtl="0" algn="l">
              <a:lnSpc>
                <a:spcPct val="100000"/>
              </a:lnSpc>
              <a:spcBef>
                <a:spcPts val="0"/>
              </a:spcBef>
              <a:spcAft>
                <a:spcPts val="0"/>
              </a:spcAft>
              <a:buNone/>
            </a:pPr>
            <a:r>
              <a:rPr lang="en-US">
                <a:solidFill>
                  <a:srgbClr val="3A3A3A"/>
                </a:solidFill>
              </a:rPr>
              <a:t>.</a:t>
            </a:r>
            <a:r>
              <a:rPr lang="en-US">
                <a:solidFill>
                  <a:srgbClr val="795E25"/>
                </a:solidFill>
              </a:rPr>
              <a:t>groupBy</a:t>
            </a:r>
            <a:r>
              <a:rPr lang="en-US">
                <a:solidFill>
                  <a:srgbClr val="3A3A3A"/>
                </a:solidFill>
              </a:rPr>
              <a:t>(</a:t>
            </a:r>
            <a:r>
              <a:rPr lang="en-US">
                <a:solidFill>
                  <a:srgbClr val="A21414"/>
                </a:solidFill>
              </a:rPr>
              <a:t>"name"</a:t>
            </a:r>
            <a:r>
              <a:rPr lang="en-US">
                <a:solidFill>
                  <a:srgbClr val="3A3A3A"/>
                </a:solidFill>
              </a:rPr>
              <a:t>)</a:t>
            </a:r>
            <a:endParaRPr/>
          </a:p>
          <a:p>
            <a:pPr indent="0" lvl="0" marL="470534" rtl="0" algn="l">
              <a:lnSpc>
                <a:spcPct val="100000"/>
              </a:lnSpc>
              <a:spcBef>
                <a:spcPts val="0"/>
              </a:spcBef>
              <a:spcAft>
                <a:spcPts val="0"/>
              </a:spcAft>
              <a:buNone/>
            </a:pPr>
            <a:r>
              <a:rPr lang="en-US">
                <a:solidFill>
                  <a:srgbClr val="3A3A3A"/>
                </a:solidFill>
              </a:rPr>
              <a:t>.</a:t>
            </a:r>
            <a:r>
              <a:rPr lang="en-US">
                <a:solidFill>
                  <a:srgbClr val="795E25"/>
                </a:solidFill>
              </a:rPr>
              <a:t>agg</a:t>
            </a:r>
            <a:r>
              <a:rPr lang="en-US">
                <a:solidFill>
                  <a:srgbClr val="3A3A3A"/>
                </a:solidFill>
              </a:rPr>
              <a:t>(</a:t>
            </a:r>
            <a:r>
              <a:rPr lang="en-US">
                <a:solidFill>
                  <a:srgbClr val="795E25"/>
                </a:solidFill>
              </a:rPr>
              <a:t>avg</a:t>
            </a:r>
            <a:r>
              <a:rPr lang="en-US">
                <a:solidFill>
                  <a:srgbClr val="3A3A3A"/>
                </a:solidFill>
              </a:rPr>
              <a:t>(</a:t>
            </a:r>
            <a:r>
              <a:rPr lang="en-US">
                <a:solidFill>
                  <a:srgbClr val="A21414"/>
                </a:solidFill>
              </a:rPr>
              <a:t>"age"</a:t>
            </a:r>
            <a:r>
              <a:rPr lang="en-US">
                <a:solidFill>
                  <a:srgbClr val="3A3A3A"/>
                </a:solidFill>
              </a:rPr>
              <a:t>)))</a:t>
            </a:r>
            <a:endParaRPr/>
          </a:p>
        </p:txBody>
      </p:sp>
      <p:sp>
        <p:nvSpPr>
          <p:cNvPr id="194" name="Google Shape;194;p21"/>
          <p:cNvSpPr/>
          <p:nvPr/>
        </p:nvSpPr>
        <p:spPr>
          <a:xfrm>
            <a:off x="5595430" y="1516904"/>
            <a:ext cx="8254" cy="4371975"/>
          </a:xfrm>
          <a:custGeom>
            <a:rect b="b" l="l" r="r" t="t"/>
            <a:pathLst>
              <a:path extrusionOk="0" h="4371975" w="8254">
                <a:moveTo>
                  <a:pt x="8026" y="0"/>
                </a:moveTo>
                <a:lnTo>
                  <a:pt x="0" y="4371568"/>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5" name="Google Shape;195;p21"/>
          <p:cNvSpPr/>
          <p:nvPr/>
        </p:nvSpPr>
        <p:spPr>
          <a:xfrm>
            <a:off x="174567" y="4991628"/>
            <a:ext cx="3200400" cy="984885"/>
          </a:xfrm>
          <a:custGeom>
            <a:rect b="b" l="l" r="r" t="t"/>
            <a:pathLst>
              <a:path extrusionOk="0" h="984885" w="3200400">
                <a:moveTo>
                  <a:pt x="0" y="164083"/>
                </a:moveTo>
                <a:lnTo>
                  <a:pt x="5861" y="120461"/>
                </a:lnTo>
                <a:lnTo>
                  <a:pt x="22403" y="81264"/>
                </a:lnTo>
                <a:lnTo>
                  <a:pt x="48061" y="48056"/>
                </a:lnTo>
                <a:lnTo>
                  <a:pt x="81270" y="22400"/>
                </a:lnTo>
                <a:lnTo>
                  <a:pt x="120466" y="5860"/>
                </a:lnTo>
                <a:lnTo>
                  <a:pt x="164084" y="0"/>
                </a:lnTo>
                <a:lnTo>
                  <a:pt x="3036316" y="0"/>
                </a:lnTo>
                <a:lnTo>
                  <a:pt x="3079933" y="5860"/>
                </a:lnTo>
                <a:lnTo>
                  <a:pt x="3119129" y="22400"/>
                </a:lnTo>
                <a:lnTo>
                  <a:pt x="3152338" y="48056"/>
                </a:lnTo>
                <a:lnTo>
                  <a:pt x="3177996" y="81264"/>
                </a:lnTo>
                <a:lnTo>
                  <a:pt x="3194538" y="120461"/>
                </a:lnTo>
                <a:lnTo>
                  <a:pt x="3200400" y="164083"/>
                </a:lnTo>
                <a:lnTo>
                  <a:pt x="3200400" y="820407"/>
                </a:lnTo>
                <a:lnTo>
                  <a:pt x="3194538" y="864030"/>
                </a:lnTo>
                <a:lnTo>
                  <a:pt x="3177996" y="903229"/>
                </a:lnTo>
                <a:lnTo>
                  <a:pt x="3152338" y="936440"/>
                </a:lnTo>
                <a:lnTo>
                  <a:pt x="3119129" y="962099"/>
                </a:lnTo>
                <a:lnTo>
                  <a:pt x="3079933" y="978642"/>
                </a:lnTo>
                <a:lnTo>
                  <a:pt x="3036316" y="984503"/>
                </a:lnTo>
                <a:lnTo>
                  <a:pt x="164084" y="984503"/>
                </a:lnTo>
                <a:lnTo>
                  <a:pt x="120466" y="978642"/>
                </a:lnTo>
                <a:lnTo>
                  <a:pt x="81270" y="962099"/>
                </a:lnTo>
                <a:lnTo>
                  <a:pt x="48061" y="936440"/>
                </a:lnTo>
                <a:lnTo>
                  <a:pt x="22403" y="903229"/>
                </a:lnTo>
                <a:lnTo>
                  <a:pt x="5861" y="864030"/>
                </a:lnTo>
                <a:lnTo>
                  <a:pt x="0" y="820407"/>
                </a:lnTo>
                <a:lnTo>
                  <a:pt x="0" y="164083"/>
                </a:lnTo>
                <a:close/>
              </a:path>
            </a:pathLst>
          </a:custGeom>
          <a:noFill/>
          <a:ln cap="flat" cmpd="sng" w="28550">
            <a:solidFill>
              <a:srgbClr val="FFC000"/>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6" name="Google Shape;196;p21"/>
          <p:cNvSpPr txBox="1"/>
          <p:nvPr>
            <p:ph idx="2" type="body"/>
          </p:nvPr>
        </p:nvSpPr>
        <p:spPr>
          <a:xfrm>
            <a:off x="6267686" y="1458850"/>
            <a:ext cx="5751900" cy="44658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a:solidFill>
                  <a:srgbClr val="0000FF"/>
                </a:solidFill>
              </a:rPr>
              <a:t>import </a:t>
            </a:r>
            <a:r>
              <a:rPr lang="en-US"/>
              <a:t>org.apache.spark.sql.functions.avg </a:t>
            </a:r>
            <a:r>
              <a:rPr lang="en-US">
                <a:solidFill>
                  <a:srgbClr val="0000FF"/>
                </a:solidFill>
              </a:rPr>
              <a:t>import </a:t>
            </a:r>
            <a:r>
              <a:rPr lang="en-US"/>
              <a:t>org.apache.spark.sql.</a:t>
            </a:r>
            <a:r>
              <a:rPr lang="en-US">
                <a:solidFill>
                  <a:srgbClr val="257E99"/>
                </a:solidFill>
              </a:rPr>
              <a:t>SparkSession</a:t>
            </a:r>
            <a:endParaRPr/>
          </a:p>
          <a:p>
            <a:pPr indent="0" lvl="0" marL="0" rtl="0" algn="l">
              <a:lnSpc>
                <a:spcPct val="100000"/>
              </a:lnSpc>
              <a:spcBef>
                <a:spcPts val="50"/>
              </a:spcBef>
              <a:spcAft>
                <a:spcPts val="0"/>
              </a:spcAft>
              <a:buNone/>
            </a:pPr>
            <a:r>
              <a:t/>
            </a:r>
            <a:endParaRPr>
              <a:solidFill>
                <a:srgbClr val="257E99"/>
              </a:solidFill>
            </a:endParaRPr>
          </a:p>
          <a:p>
            <a:pPr indent="0" lvl="0" marL="12700" rtl="0" algn="l">
              <a:lnSpc>
                <a:spcPct val="100000"/>
              </a:lnSpc>
              <a:spcBef>
                <a:spcPts val="0"/>
              </a:spcBef>
              <a:spcAft>
                <a:spcPts val="0"/>
              </a:spcAft>
              <a:buNone/>
            </a:pPr>
            <a:r>
              <a:rPr lang="en-US">
                <a:solidFill>
                  <a:srgbClr val="0000FF"/>
                </a:solidFill>
              </a:rPr>
              <a:t>val </a:t>
            </a:r>
            <a:r>
              <a:rPr lang="en-US">
                <a:solidFill>
                  <a:srgbClr val="001080"/>
                </a:solidFill>
              </a:rPr>
              <a:t>spark </a:t>
            </a:r>
            <a:r>
              <a:rPr lang="en-US">
                <a:solidFill>
                  <a:srgbClr val="000000"/>
                </a:solidFill>
              </a:rPr>
              <a:t>= </a:t>
            </a:r>
            <a:r>
              <a:rPr lang="en-US">
                <a:solidFill>
                  <a:srgbClr val="257E99"/>
                </a:solidFill>
              </a:rPr>
              <a:t>SparkSession</a:t>
            </a:r>
            <a:endParaRPr/>
          </a:p>
          <a:p>
            <a:pPr indent="0" lvl="0" marL="469900" rtl="0" algn="l">
              <a:lnSpc>
                <a:spcPct val="100000"/>
              </a:lnSpc>
              <a:spcBef>
                <a:spcPts val="0"/>
              </a:spcBef>
              <a:spcAft>
                <a:spcPts val="0"/>
              </a:spcAft>
              <a:buNone/>
            </a:pPr>
            <a:r>
              <a:rPr lang="en-US"/>
              <a:t>.builder</a:t>
            </a:r>
            <a:endParaRPr/>
          </a:p>
          <a:p>
            <a:pPr indent="0" lvl="0" marL="469900" rtl="0" algn="l">
              <a:lnSpc>
                <a:spcPct val="100000"/>
              </a:lnSpc>
              <a:spcBef>
                <a:spcPts val="0"/>
              </a:spcBef>
              <a:spcAft>
                <a:spcPts val="0"/>
              </a:spcAft>
              <a:buNone/>
            </a:pPr>
            <a:r>
              <a:rPr lang="en-US"/>
              <a:t>.appName(</a:t>
            </a:r>
            <a:r>
              <a:rPr lang="en-US">
                <a:solidFill>
                  <a:srgbClr val="A21414"/>
                </a:solidFill>
              </a:rPr>
              <a:t>"AuthorsAges"</a:t>
            </a:r>
            <a:r>
              <a:rPr lang="en-US"/>
              <a:t>)</a:t>
            </a:r>
            <a:endParaRPr/>
          </a:p>
          <a:p>
            <a:pPr indent="0" lvl="0" marL="469900" rtl="0" algn="l">
              <a:lnSpc>
                <a:spcPct val="100000"/>
              </a:lnSpc>
              <a:spcBef>
                <a:spcPts val="0"/>
              </a:spcBef>
              <a:spcAft>
                <a:spcPts val="0"/>
              </a:spcAft>
              <a:buNone/>
            </a:pPr>
            <a:r>
              <a:rPr lang="en-US"/>
              <a:t>.getOrCreate()</a:t>
            </a:r>
            <a:endParaRPr/>
          </a:p>
          <a:p>
            <a:pPr indent="0" lvl="0" marL="0" rtl="0" algn="l">
              <a:lnSpc>
                <a:spcPct val="100000"/>
              </a:lnSpc>
              <a:spcBef>
                <a:spcPts val="50"/>
              </a:spcBef>
              <a:spcAft>
                <a:spcPts val="0"/>
              </a:spcAft>
              <a:buNone/>
            </a:pPr>
            <a:r>
              <a:t/>
            </a:r>
            <a:endParaRPr/>
          </a:p>
          <a:p>
            <a:pPr indent="-457200" lvl="0" marL="469900" marR="255270" rtl="0" algn="l">
              <a:lnSpc>
                <a:spcPct val="100000"/>
              </a:lnSpc>
              <a:spcBef>
                <a:spcPts val="5"/>
              </a:spcBef>
              <a:spcAft>
                <a:spcPts val="0"/>
              </a:spcAft>
              <a:buNone/>
            </a:pPr>
            <a:r>
              <a:rPr lang="en-US">
                <a:solidFill>
                  <a:srgbClr val="0000FF"/>
                </a:solidFill>
              </a:rPr>
              <a:t>val </a:t>
            </a:r>
            <a:r>
              <a:rPr lang="en-US">
                <a:solidFill>
                  <a:srgbClr val="001080"/>
                </a:solidFill>
              </a:rPr>
              <a:t>dataDF </a:t>
            </a:r>
            <a:r>
              <a:rPr lang="en-US">
                <a:solidFill>
                  <a:srgbClr val="000000"/>
                </a:solidFill>
              </a:rPr>
              <a:t>= </a:t>
            </a:r>
            <a:r>
              <a:rPr lang="en-US"/>
              <a:t>spark.createDataFrame(</a:t>
            </a:r>
            <a:r>
              <a:rPr lang="en-US">
                <a:solidFill>
                  <a:srgbClr val="257E99"/>
                </a:solidFill>
              </a:rPr>
              <a:t>Seq</a:t>
            </a:r>
            <a:r>
              <a:rPr lang="en-US"/>
              <a:t>( (</a:t>
            </a:r>
            <a:r>
              <a:rPr lang="en-US">
                <a:solidFill>
                  <a:srgbClr val="A21414"/>
                </a:solidFill>
              </a:rPr>
              <a:t>"Brooke"</a:t>
            </a:r>
            <a:r>
              <a:rPr lang="en-US"/>
              <a:t>, </a:t>
            </a:r>
            <a:r>
              <a:rPr lang="en-US">
                <a:solidFill>
                  <a:srgbClr val="088557"/>
                </a:solidFill>
              </a:rPr>
              <a:t>25</a:t>
            </a:r>
            <a:r>
              <a:rPr lang="en-US"/>
              <a:t>), (</a:t>
            </a:r>
            <a:r>
              <a:rPr lang="en-US">
                <a:solidFill>
                  <a:srgbClr val="A21414"/>
                </a:solidFill>
              </a:rPr>
              <a:t>"Denny"</a:t>
            </a:r>
            <a:r>
              <a:rPr lang="en-US"/>
              <a:t>, </a:t>
            </a:r>
            <a:r>
              <a:rPr lang="en-US">
                <a:solidFill>
                  <a:srgbClr val="088557"/>
                </a:solidFill>
              </a:rPr>
              <a:t>31</a:t>
            </a:r>
            <a:r>
              <a:rPr lang="en-US"/>
              <a:t>),</a:t>
            </a:r>
            <a:endParaRPr/>
          </a:p>
          <a:p>
            <a:pPr indent="0" lvl="0" marL="469900" rtl="0" algn="l">
              <a:lnSpc>
                <a:spcPct val="100000"/>
              </a:lnSpc>
              <a:spcBef>
                <a:spcPts val="0"/>
              </a:spcBef>
              <a:spcAft>
                <a:spcPts val="0"/>
              </a:spcAft>
              <a:buNone/>
            </a:pPr>
            <a:r>
              <a:rPr lang="en-US"/>
              <a:t>(</a:t>
            </a:r>
            <a:r>
              <a:rPr lang="en-US">
                <a:solidFill>
                  <a:srgbClr val="A21414"/>
                </a:solidFill>
              </a:rPr>
              <a:t>"Jules"</a:t>
            </a:r>
            <a:r>
              <a:rPr lang="en-US"/>
              <a:t>, </a:t>
            </a:r>
            <a:r>
              <a:rPr lang="en-US">
                <a:solidFill>
                  <a:srgbClr val="088557"/>
                </a:solidFill>
              </a:rPr>
              <a:t>30</a:t>
            </a:r>
            <a:r>
              <a:rPr lang="en-US"/>
              <a:t>), (</a:t>
            </a:r>
            <a:r>
              <a:rPr lang="en-US">
                <a:solidFill>
                  <a:srgbClr val="A21414"/>
                </a:solidFill>
              </a:rPr>
              <a:t>"TD"</a:t>
            </a:r>
            <a:r>
              <a:rPr lang="en-US"/>
              <a:t>, </a:t>
            </a:r>
            <a:r>
              <a:rPr lang="en-US">
                <a:solidFill>
                  <a:srgbClr val="088557"/>
                </a:solidFill>
              </a:rPr>
              <a:t>35</a:t>
            </a:r>
            <a:r>
              <a:rPr lang="en-US"/>
              <a:t>),</a:t>
            </a:r>
            <a:endParaRPr/>
          </a:p>
          <a:p>
            <a:pPr indent="0" lvl="0" marL="469900" rtl="0" algn="l">
              <a:lnSpc>
                <a:spcPct val="100000"/>
              </a:lnSpc>
              <a:spcBef>
                <a:spcPts val="0"/>
              </a:spcBef>
              <a:spcAft>
                <a:spcPts val="0"/>
              </a:spcAft>
              <a:buNone/>
            </a:pPr>
            <a:r>
              <a:rPr lang="en-US"/>
              <a:t>(</a:t>
            </a:r>
            <a:r>
              <a:rPr lang="en-US">
                <a:solidFill>
                  <a:srgbClr val="A21414"/>
                </a:solidFill>
              </a:rPr>
              <a:t>"Brooke"</a:t>
            </a:r>
            <a:r>
              <a:rPr lang="en-US"/>
              <a:t>, </a:t>
            </a:r>
            <a:r>
              <a:rPr lang="en-US">
                <a:solidFill>
                  <a:srgbClr val="088557"/>
                </a:solidFill>
              </a:rPr>
              <a:t>25</a:t>
            </a:r>
            <a:r>
              <a:rPr lang="en-US"/>
              <a:t>))).toDF(</a:t>
            </a:r>
            <a:r>
              <a:rPr lang="en-US">
                <a:solidFill>
                  <a:srgbClr val="A21414"/>
                </a:solidFill>
              </a:rPr>
              <a:t>"name"</a:t>
            </a:r>
            <a:r>
              <a:rPr lang="en-US"/>
              <a:t>, </a:t>
            </a:r>
            <a:r>
              <a:rPr lang="en-US">
                <a:solidFill>
                  <a:srgbClr val="A21414"/>
                </a:solidFill>
              </a:rPr>
              <a:t>"age"</a:t>
            </a:r>
            <a:r>
              <a:rPr lang="en-US"/>
              <a:t>)</a:t>
            </a:r>
            <a:endParaRPr/>
          </a:p>
          <a:p>
            <a:pPr indent="0" lvl="0" marL="0" rtl="0" algn="l">
              <a:lnSpc>
                <a:spcPct val="100000"/>
              </a:lnSpc>
              <a:spcBef>
                <a:spcPts val="50"/>
              </a:spcBef>
              <a:spcAft>
                <a:spcPts val="0"/>
              </a:spcAft>
              <a:buNone/>
            </a:pPr>
            <a:r>
              <a:t/>
            </a:r>
            <a:endParaRPr/>
          </a:p>
          <a:p>
            <a:pPr indent="0" lvl="0" marL="12700" rtl="0" algn="l">
              <a:lnSpc>
                <a:spcPct val="100000"/>
              </a:lnSpc>
              <a:spcBef>
                <a:spcPts val="0"/>
              </a:spcBef>
              <a:spcAft>
                <a:spcPts val="0"/>
              </a:spcAft>
              <a:buNone/>
            </a:pPr>
            <a:r>
              <a:rPr lang="en-US">
                <a:solidFill>
                  <a:srgbClr val="0000FF"/>
                </a:solidFill>
              </a:rPr>
              <a:t>val </a:t>
            </a:r>
            <a:r>
              <a:rPr lang="en-US">
                <a:solidFill>
                  <a:srgbClr val="001080"/>
                </a:solidFill>
              </a:rPr>
              <a:t>avgDF </a:t>
            </a:r>
            <a:r>
              <a:rPr lang="en-US">
                <a:solidFill>
                  <a:srgbClr val="000000"/>
                </a:solidFill>
              </a:rPr>
              <a:t>= </a:t>
            </a:r>
            <a:r>
              <a:rPr lang="en-US"/>
              <a:t>dataDF</a:t>
            </a:r>
            <a:endParaRPr/>
          </a:p>
          <a:p>
            <a:pPr indent="0" lvl="0" marL="469900" rtl="0" algn="l">
              <a:lnSpc>
                <a:spcPct val="100000"/>
              </a:lnSpc>
              <a:spcBef>
                <a:spcPts val="0"/>
              </a:spcBef>
              <a:spcAft>
                <a:spcPts val="0"/>
              </a:spcAft>
              <a:buNone/>
            </a:pPr>
            <a:r>
              <a:rPr lang="en-US"/>
              <a:t>.groupBy(</a:t>
            </a:r>
            <a:r>
              <a:rPr lang="en-US">
                <a:solidFill>
                  <a:srgbClr val="A21414"/>
                </a:solidFill>
              </a:rPr>
              <a:t>"name"</a:t>
            </a:r>
            <a:r>
              <a:rPr lang="en-US"/>
              <a:t>)</a:t>
            </a:r>
            <a:endParaRPr/>
          </a:p>
          <a:p>
            <a:pPr indent="0" lvl="0" marL="469900" rtl="0" algn="l">
              <a:lnSpc>
                <a:spcPct val="100000"/>
              </a:lnSpc>
              <a:spcBef>
                <a:spcPts val="0"/>
              </a:spcBef>
              <a:spcAft>
                <a:spcPts val="0"/>
              </a:spcAft>
              <a:buNone/>
            </a:pPr>
            <a:r>
              <a:rPr lang="en-US"/>
              <a:t>.agg(avg(</a:t>
            </a:r>
            <a:r>
              <a:rPr lang="en-US">
                <a:solidFill>
                  <a:srgbClr val="A21414"/>
                </a:solidFill>
              </a:rPr>
              <a:t>"age"</a:t>
            </a:r>
            <a:r>
              <a:rPr lang="en-US"/>
              <a:t>))</a:t>
            </a:r>
            <a:endParaRPr/>
          </a:p>
        </p:txBody>
      </p:sp>
      <p:sp>
        <p:nvSpPr>
          <p:cNvPr id="197" name="Google Shape;197;p21"/>
          <p:cNvSpPr/>
          <p:nvPr/>
        </p:nvSpPr>
        <p:spPr>
          <a:xfrm>
            <a:off x="6069399" y="4990104"/>
            <a:ext cx="3200400" cy="984885"/>
          </a:xfrm>
          <a:custGeom>
            <a:rect b="b" l="l" r="r" t="t"/>
            <a:pathLst>
              <a:path extrusionOk="0" h="984885" w="3200400">
                <a:moveTo>
                  <a:pt x="0" y="164083"/>
                </a:moveTo>
                <a:lnTo>
                  <a:pt x="5861" y="120461"/>
                </a:lnTo>
                <a:lnTo>
                  <a:pt x="22403" y="81264"/>
                </a:lnTo>
                <a:lnTo>
                  <a:pt x="48061" y="48056"/>
                </a:lnTo>
                <a:lnTo>
                  <a:pt x="81270" y="22400"/>
                </a:lnTo>
                <a:lnTo>
                  <a:pt x="120466" y="5860"/>
                </a:lnTo>
                <a:lnTo>
                  <a:pt x="164084" y="0"/>
                </a:lnTo>
                <a:lnTo>
                  <a:pt x="3036316" y="0"/>
                </a:lnTo>
                <a:lnTo>
                  <a:pt x="3079933" y="5860"/>
                </a:lnTo>
                <a:lnTo>
                  <a:pt x="3119129" y="22400"/>
                </a:lnTo>
                <a:lnTo>
                  <a:pt x="3152338" y="48056"/>
                </a:lnTo>
                <a:lnTo>
                  <a:pt x="3177996" y="81264"/>
                </a:lnTo>
                <a:lnTo>
                  <a:pt x="3194538" y="120461"/>
                </a:lnTo>
                <a:lnTo>
                  <a:pt x="3200400" y="164083"/>
                </a:lnTo>
                <a:lnTo>
                  <a:pt x="3200400" y="820407"/>
                </a:lnTo>
                <a:lnTo>
                  <a:pt x="3194538" y="864030"/>
                </a:lnTo>
                <a:lnTo>
                  <a:pt x="3177996" y="903229"/>
                </a:lnTo>
                <a:lnTo>
                  <a:pt x="3152338" y="936440"/>
                </a:lnTo>
                <a:lnTo>
                  <a:pt x="3119129" y="962099"/>
                </a:lnTo>
                <a:lnTo>
                  <a:pt x="3079933" y="978642"/>
                </a:lnTo>
                <a:lnTo>
                  <a:pt x="3036316" y="984503"/>
                </a:lnTo>
                <a:lnTo>
                  <a:pt x="164084" y="984503"/>
                </a:lnTo>
                <a:lnTo>
                  <a:pt x="120466" y="978642"/>
                </a:lnTo>
                <a:lnTo>
                  <a:pt x="81270" y="962099"/>
                </a:lnTo>
                <a:lnTo>
                  <a:pt x="48061" y="936440"/>
                </a:lnTo>
                <a:lnTo>
                  <a:pt x="22403" y="903229"/>
                </a:lnTo>
                <a:lnTo>
                  <a:pt x="5861" y="864030"/>
                </a:lnTo>
                <a:lnTo>
                  <a:pt x="0" y="820407"/>
                </a:lnTo>
                <a:lnTo>
                  <a:pt x="0" y="164083"/>
                </a:lnTo>
                <a:close/>
              </a:path>
            </a:pathLst>
          </a:custGeom>
          <a:noFill/>
          <a:ln cap="flat" cmpd="sng" w="28575">
            <a:solidFill>
              <a:srgbClr val="FFC000"/>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8" name="Google Shape;198;p21"/>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199" name="Google Shape;199;p21"/>
          <p:cNvSpPr txBox="1"/>
          <p:nvPr>
            <p:ph type="title"/>
          </p:nvPr>
        </p:nvSpPr>
        <p:spPr>
          <a:xfrm>
            <a:off x="3010050" y="347250"/>
            <a:ext cx="6171900" cy="5061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a:latin typeface="Candara"/>
                <a:ea typeface="Candara"/>
                <a:cs typeface="Candara"/>
                <a:sym typeface="Candara"/>
              </a:rPr>
              <a:t>Estructura común en el uso de APIs</a:t>
            </a:r>
            <a:endParaRPr/>
          </a:p>
        </p:txBody>
      </p:sp>
      <p:sp>
        <p:nvSpPr>
          <p:cNvPr id="200" name="Google Shape;200;p21"/>
          <p:cNvSpPr txBox="1"/>
          <p:nvPr/>
        </p:nvSpPr>
        <p:spPr>
          <a:xfrm>
            <a:off x="2376975" y="971600"/>
            <a:ext cx="13920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rgbClr val="A21414"/>
                </a:solidFill>
                <a:latin typeface="Candara"/>
                <a:ea typeface="Candara"/>
                <a:cs typeface="Candara"/>
                <a:sym typeface="Candara"/>
              </a:rPr>
              <a:t>PYSPARK</a:t>
            </a:r>
            <a:endParaRPr sz="2100">
              <a:solidFill>
                <a:srgbClr val="A21414"/>
              </a:solidFill>
              <a:latin typeface="Candara"/>
              <a:ea typeface="Candara"/>
              <a:cs typeface="Candara"/>
              <a:sym typeface="Candara"/>
            </a:endParaRPr>
          </a:p>
        </p:txBody>
      </p:sp>
      <p:sp>
        <p:nvSpPr>
          <p:cNvPr id="201" name="Google Shape;201;p21"/>
          <p:cNvSpPr txBox="1"/>
          <p:nvPr/>
        </p:nvSpPr>
        <p:spPr>
          <a:xfrm>
            <a:off x="8210025" y="1025825"/>
            <a:ext cx="1867200" cy="37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100">
                <a:solidFill>
                  <a:srgbClr val="A21414"/>
                </a:solidFill>
                <a:latin typeface="Candara"/>
                <a:ea typeface="Candara"/>
                <a:cs typeface="Candara"/>
                <a:sym typeface="Candara"/>
              </a:rPr>
              <a:t>SPARK SCALA</a:t>
            </a:r>
            <a:endParaRPr sz="2100">
              <a:solidFill>
                <a:srgbClr val="A21414"/>
              </a:solidFill>
              <a:latin typeface="Candara"/>
              <a:ea typeface="Candara"/>
              <a:cs typeface="Candara"/>
              <a:sym typeface="Candara"/>
            </a:endParaRPr>
          </a:p>
        </p:txBody>
      </p:sp>
      <p:sp>
        <p:nvSpPr>
          <p:cNvPr id="202" name="Google Shape;202;p21"/>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graphicFrame>
        <p:nvGraphicFramePr>
          <p:cNvPr id="208" name="Google Shape;208;p22"/>
          <p:cNvGraphicFramePr/>
          <p:nvPr/>
        </p:nvGraphicFramePr>
        <p:xfrm>
          <a:off x="2166925" y="1543050"/>
          <a:ext cx="3000000" cy="3000000"/>
        </p:xfrm>
        <a:graphic>
          <a:graphicData uri="http://schemas.openxmlformats.org/drawingml/2006/table">
            <a:tbl>
              <a:tblPr>
                <a:noFill/>
                <a:tableStyleId>{92F27DF3-DFDB-4867-B384-2E589A408171}</a:tableStyleId>
              </a:tblPr>
              <a:tblGrid>
                <a:gridCol w="1638300"/>
                <a:gridCol w="1885950"/>
                <a:gridCol w="3133725"/>
                <a:gridCol w="1200150"/>
              </a:tblGrid>
              <a:tr h="342900">
                <a:tc>
                  <a:txBody>
                    <a:bodyPr/>
                    <a:lstStyle/>
                    <a:p>
                      <a:pPr indent="0" lvl="0" marL="0" rtl="0" algn="ctr">
                        <a:lnSpc>
                          <a:spcPct val="115000"/>
                        </a:lnSpc>
                        <a:spcBef>
                          <a:spcPts val="0"/>
                        </a:spcBef>
                        <a:spcAft>
                          <a:spcPts val="0"/>
                        </a:spcAft>
                        <a:buNone/>
                      </a:pPr>
                      <a:r>
                        <a:rPr b="1" lang="en-US" sz="1100">
                          <a:solidFill>
                            <a:schemeClr val="lt1"/>
                          </a:solidFill>
                          <a:latin typeface="Candara"/>
                          <a:ea typeface="Candara"/>
                          <a:cs typeface="Candara"/>
                          <a:sym typeface="Candara"/>
                        </a:rPr>
                        <a:t>Tipo de Dato Spark</a:t>
                      </a:r>
                      <a:endParaRPr b="1" sz="1100">
                        <a:solidFill>
                          <a:schemeClr val="lt1"/>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100">
                          <a:solidFill>
                            <a:schemeClr val="lt1"/>
                          </a:solidFill>
                          <a:latin typeface="Candara"/>
                          <a:ea typeface="Candara"/>
                          <a:cs typeface="Candara"/>
                          <a:sym typeface="Candara"/>
                        </a:rPr>
                        <a:t>Equivalente en Python</a:t>
                      </a:r>
                      <a:endParaRPr b="1" sz="1100">
                        <a:solidFill>
                          <a:schemeClr val="lt1"/>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100">
                          <a:solidFill>
                            <a:schemeClr val="lt1"/>
                          </a:solidFill>
                          <a:latin typeface="Candara"/>
                          <a:ea typeface="Candara"/>
                          <a:cs typeface="Candara"/>
                          <a:sym typeface="Candara"/>
                        </a:rPr>
                        <a:t>Clase API para Instanciar</a:t>
                      </a:r>
                      <a:endParaRPr b="1" sz="1100">
                        <a:solidFill>
                          <a:schemeClr val="lt1"/>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chemeClr val="dk2"/>
                    </a:solidFill>
                  </a:tcPr>
                </a:tc>
                <a:tc>
                  <a:txBody>
                    <a:bodyPr/>
                    <a:lstStyle/>
                    <a:p>
                      <a:pPr indent="0" lvl="0" marL="0" rtl="0" algn="ctr">
                        <a:lnSpc>
                          <a:spcPct val="115000"/>
                        </a:lnSpc>
                        <a:spcBef>
                          <a:spcPts val="0"/>
                        </a:spcBef>
                        <a:spcAft>
                          <a:spcPts val="0"/>
                        </a:spcAft>
                        <a:buNone/>
                      </a:pPr>
                      <a:r>
                        <a:rPr b="1" lang="en-US" sz="1100">
                          <a:solidFill>
                            <a:schemeClr val="lt1"/>
                          </a:solidFill>
                          <a:latin typeface="Candara"/>
                          <a:ea typeface="Candara"/>
                          <a:cs typeface="Candara"/>
                          <a:sym typeface="Candara"/>
                        </a:rPr>
                        <a:t>Categoría</a:t>
                      </a:r>
                      <a:endParaRPr b="1" sz="1100">
                        <a:solidFill>
                          <a:schemeClr val="lt1"/>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chemeClr val="dk2"/>
                    </a:solidFill>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StringType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str</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DataTypes.StringType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Básico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1000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IntegerType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int</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DataTypes.IntegerType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Básico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LongType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int</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DataTypes.LongType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Básico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DoubleType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float</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DataTypes.DoubleType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Básico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BooleanType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bool</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DataTypes.BooleanType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Básico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DateType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datetime.date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DateType()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Estructurado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TimestampType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datetime.datetime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TimestampType()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Estructurado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ArrayType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list, tuple o array</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ArrayType(dataType, [nullable])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Estructurado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MapType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dict</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MapType(keyType, valueType, [nullable])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Estructurado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StructType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List o tuple</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StructType([fields])</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solidFill>
                            <a:srgbClr val="1B1C1D"/>
                          </a:solidFill>
                          <a:latin typeface="Candara"/>
                          <a:ea typeface="Candara"/>
                          <a:cs typeface="Candara"/>
                          <a:sym typeface="Candara"/>
                        </a:rPr>
                        <a:t>Estructurado</a:t>
                      </a:r>
                      <a:endParaRPr b="1" sz="1100">
                        <a:solidFill>
                          <a:srgbClr val="1B1C1D"/>
                        </a:solidFill>
                        <a:latin typeface="Candara"/>
                        <a:ea typeface="Candara"/>
                        <a:cs typeface="Candara"/>
                        <a:sym typeface="Candara"/>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
        <p:nvSpPr>
          <p:cNvPr id="209" name="Google Shape;209;p22"/>
          <p:cNvSpPr txBox="1"/>
          <p:nvPr>
            <p:ph idx="4294967295" type="title"/>
          </p:nvPr>
        </p:nvSpPr>
        <p:spPr>
          <a:xfrm>
            <a:off x="2627400" y="347250"/>
            <a:ext cx="6937200" cy="506100"/>
          </a:xfrm>
          <a:prstGeom prst="rect">
            <a:avLst/>
          </a:prstGeom>
          <a:noFill/>
          <a:ln>
            <a:noFill/>
          </a:ln>
        </p:spPr>
        <p:txBody>
          <a:bodyPr anchorCtr="0" anchor="t" bIns="0" lIns="0" spcFirstLastPara="1" rIns="0" wrap="square" tIns="13325">
            <a:spAutoFit/>
          </a:bodyPr>
          <a:lstStyle/>
          <a:p>
            <a:pPr indent="0" lvl="0" marL="0" marR="0" rtl="0" algn="l">
              <a:lnSpc>
                <a:spcPct val="100000"/>
              </a:lnSpc>
              <a:spcBef>
                <a:spcPts val="0"/>
              </a:spcBef>
              <a:spcAft>
                <a:spcPts val="0"/>
              </a:spcAft>
              <a:buNone/>
            </a:pPr>
            <a:r>
              <a:rPr lang="en-US">
                <a:latin typeface="Candara"/>
                <a:ea typeface="Candara"/>
                <a:cs typeface="Candara"/>
                <a:sym typeface="Candara"/>
              </a:rPr>
              <a:t>Tipos de datos soportados por Pyspark</a:t>
            </a:r>
            <a:endParaRPr/>
          </a:p>
        </p:txBody>
      </p:sp>
      <p:sp>
        <p:nvSpPr>
          <p:cNvPr id="210" name="Google Shape;210;p22"/>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3"/>
          <p:cNvSpPr txBox="1"/>
          <p:nvPr>
            <p:ph type="title"/>
          </p:nvPr>
        </p:nvSpPr>
        <p:spPr>
          <a:xfrm>
            <a:off x="4467925" y="365625"/>
            <a:ext cx="36501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DataFrame Schema</a:t>
            </a:r>
            <a:endParaRPr/>
          </a:p>
        </p:txBody>
      </p:sp>
      <p:sp>
        <p:nvSpPr>
          <p:cNvPr id="216" name="Google Shape;216;p23"/>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217" name="Google Shape;217;p23"/>
          <p:cNvSpPr txBox="1"/>
          <p:nvPr/>
        </p:nvSpPr>
        <p:spPr>
          <a:xfrm>
            <a:off x="721375" y="1221200"/>
            <a:ext cx="5989500" cy="4482900"/>
          </a:xfrm>
          <a:prstGeom prst="rect">
            <a:avLst/>
          </a:prstGeom>
          <a:noFill/>
          <a:ln>
            <a:noFill/>
          </a:ln>
        </p:spPr>
        <p:txBody>
          <a:bodyPr anchorCtr="0" anchor="t" bIns="0" lIns="0" spcFirstLastPara="1" rIns="0" wrap="square" tIns="177150">
            <a:spAutoFit/>
          </a:bodyPr>
          <a:lstStyle/>
          <a:p>
            <a:pPr indent="0" lvl="0" marL="12700" rtl="0" algn="l">
              <a:lnSpc>
                <a:spcPct val="100000"/>
              </a:lnSpc>
              <a:spcBef>
                <a:spcPts val="0"/>
              </a:spcBef>
              <a:spcAft>
                <a:spcPts val="0"/>
              </a:spcAft>
              <a:buNone/>
            </a:pPr>
            <a:r>
              <a:rPr lang="en-US" sz="2000">
                <a:latin typeface="Candara"/>
                <a:ea typeface="Candara"/>
                <a:cs typeface="Candara"/>
                <a:sym typeface="Candara"/>
              </a:rPr>
              <a:t>Spark te permite definir un esquema de dos maneras:</a:t>
            </a:r>
            <a:endParaRPr sz="2000">
              <a:latin typeface="Candara"/>
              <a:ea typeface="Candara"/>
              <a:cs typeface="Candara"/>
              <a:sym typeface="Candara"/>
            </a:endParaRPr>
          </a:p>
          <a:p>
            <a:pPr indent="-342265" lvl="0" marL="354965" rtl="0" algn="l">
              <a:lnSpc>
                <a:spcPct val="100000"/>
              </a:lnSpc>
              <a:spcBef>
                <a:spcPts val="1295"/>
              </a:spcBef>
              <a:spcAft>
                <a:spcPts val="0"/>
              </a:spcAft>
              <a:buSzPts val="2000"/>
              <a:buFont typeface="Candara"/>
              <a:buChar char="•"/>
            </a:pPr>
            <a:r>
              <a:rPr lang="en-US" sz="2000">
                <a:latin typeface="Candara"/>
                <a:ea typeface="Candara"/>
                <a:cs typeface="Candara"/>
                <a:sym typeface="Candara"/>
              </a:rPr>
              <a:t>D</a:t>
            </a:r>
            <a:r>
              <a:rPr lang="en-US" sz="2000">
                <a:latin typeface="Candara"/>
                <a:ea typeface="Candara"/>
                <a:cs typeface="Candara"/>
                <a:sym typeface="Candara"/>
              </a:rPr>
              <a:t>efinirlo mediante programación utilizando la API Spark DataFrame</a:t>
            </a:r>
            <a:endParaRPr sz="2000">
              <a:latin typeface="Candara"/>
              <a:ea typeface="Candara"/>
              <a:cs typeface="Candara"/>
              <a:sym typeface="Candara"/>
            </a:endParaRPr>
          </a:p>
          <a:p>
            <a:pPr indent="0" lvl="0" marL="781685" rtl="0" algn="l">
              <a:lnSpc>
                <a:spcPct val="100000"/>
              </a:lnSpc>
              <a:spcBef>
                <a:spcPts val="695"/>
              </a:spcBef>
              <a:spcAft>
                <a:spcPts val="0"/>
              </a:spcAft>
              <a:buNone/>
            </a:pPr>
            <a:r>
              <a:rPr lang="en-US" sz="1800">
                <a:solidFill>
                  <a:srgbClr val="AE00DB"/>
                </a:solidFill>
                <a:latin typeface="Candara"/>
                <a:ea typeface="Candara"/>
                <a:cs typeface="Candara"/>
                <a:sym typeface="Candara"/>
              </a:rPr>
              <a:t>from </a:t>
            </a:r>
            <a:r>
              <a:rPr lang="en-US" sz="1800">
                <a:solidFill>
                  <a:srgbClr val="3A3A3A"/>
                </a:solidFill>
                <a:latin typeface="Candara"/>
                <a:ea typeface="Candara"/>
                <a:cs typeface="Candara"/>
                <a:sym typeface="Candara"/>
              </a:rPr>
              <a:t>pyspark.sql.types </a:t>
            </a:r>
            <a:r>
              <a:rPr lang="en-US" sz="1800">
                <a:solidFill>
                  <a:srgbClr val="AE00DB"/>
                </a:solidFill>
                <a:latin typeface="Candara"/>
                <a:ea typeface="Candara"/>
                <a:cs typeface="Candara"/>
                <a:sym typeface="Candara"/>
              </a:rPr>
              <a:t>import </a:t>
            </a:r>
            <a:r>
              <a:rPr lang="en-US" sz="1800">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50"/>
              </a:spcBef>
              <a:spcAft>
                <a:spcPts val="0"/>
              </a:spcAft>
              <a:buNone/>
            </a:pPr>
            <a:r>
              <a:t/>
            </a:r>
            <a:endParaRPr sz="1800">
              <a:latin typeface="Candara"/>
              <a:ea typeface="Candara"/>
              <a:cs typeface="Candara"/>
              <a:sym typeface="Candara"/>
            </a:endParaRPr>
          </a:p>
          <a:p>
            <a:pPr indent="0" lvl="0" marL="781685" rtl="0" algn="l">
              <a:lnSpc>
                <a:spcPct val="100000"/>
              </a:lnSpc>
              <a:spcBef>
                <a:spcPts val="0"/>
              </a:spcBef>
              <a:spcAft>
                <a:spcPts val="0"/>
              </a:spcAft>
              <a:buNone/>
            </a:pPr>
            <a:r>
              <a:rPr lang="en-US" sz="1800">
                <a:solidFill>
                  <a:srgbClr val="3A3A3A"/>
                </a:solidFill>
                <a:latin typeface="Candara"/>
                <a:ea typeface="Candara"/>
                <a:cs typeface="Candara"/>
                <a:sym typeface="Candara"/>
              </a:rPr>
              <a:t>schema </a:t>
            </a:r>
            <a:r>
              <a:rPr lang="en-US" sz="1800">
                <a:latin typeface="Candara"/>
                <a:ea typeface="Candara"/>
                <a:cs typeface="Candara"/>
                <a:sym typeface="Candara"/>
              </a:rPr>
              <a:t>= </a:t>
            </a:r>
            <a:r>
              <a:rPr lang="en-US" sz="1800">
                <a:solidFill>
                  <a:srgbClr val="3A3A3A"/>
                </a:solidFill>
                <a:latin typeface="Candara"/>
                <a:ea typeface="Candara"/>
                <a:cs typeface="Candara"/>
                <a:sym typeface="Candara"/>
              </a:rPr>
              <a:t>StructType([</a:t>
            </a:r>
            <a:endParaRPr sz="1800">
              <a:latin typeface="Candara"/>
              <a:ea typeface="Candara"/>
              <a:cs typeface="Candara"/>
              <a:sym typeface="Candara"/>
            </a:endParaRPr>
          </a:p>
          <a:p>
            <a:pPr indent="0" lvl="0" marL="1238885" marR="535940" rtl="0" algn="l">
              <a:lnSpc>
                <a:spcPct val="100000"/>
              </a:lnSpc>
              <a:spcBef>
                <a:spcPts val="0"/>
              </a:spcBef>
              <a:spcAft>
                <a:spcPts val="0"/>
              </a:spcAft>
              <a:buNone/>
            </a:pPr>
            <a:r>
              <a:rPr lang="en-US" sz="1800">
                <a:solidFill>
                  <a:srgbClr val="3A3A3A"/>
                </a:solidFill>
                <a:latin typeface="Candara"/>
                <a:ea typeface="Candara"/>
                <a:cs typeface="Candara"/>
                <a:sym typeface="Candara"/>
              </a:rPr>
              <a:t>StructField(</a:t>
            </a:r>
            <a:r>
              <a:rPr lang="en-US" sz="1800">
                <a:solidFill>
                  <a:srgbClr val="A21414"/>
                </a:solidFill>
                <a:latin typeface="Candara"/>
                <a:ea typeface="Candara"/>
                <a:cs typeface="Candara"/>
                <a:sym typeface="Candara"/>
              </a:rPr>
              <a:t>"author"</a:t>
            </a:r>
            <a:r>
              <a:rPr lang="en-US" sz="1800">
                <a:solidFill>
                  <a:srgbClr val="3A3A3A"/>
                </a:solidFill>
                <a:latin typeface="Candara"/>
                <a:ea typeface="Candara"/>
                <a:cs typeface="Candara"/>
                <a:sym typeface="Candara"/>
              </a:rPr>
              <a:t>, StringType(), </a:t>
            </a:r>
            <a:r>
              <a:rPr lang="en-US" sz="1800">
                <a:solidFill>
                  <a:srgbClr val="0000FF"/>
                </a:solidFill>
                <a:latin typeface="Candara"/>
                <a:ea typeface="Candara"/>
                <a:cs typeface="Candara"/>
                <a:sym typeface="Candara"/>
              </a:rPr>
              <a:t>False</a:t>
            </a:r>
            <a:r>
              <a:rPr lang="en-US" sz="1800">
                <a:solidFill>
                  <a:srgbClr val="3A3A3A"/>
                </a:solidFill>
                <a:latin typeface="Candara"/>
                <a:ea typeface="Candara"/>
                <a:cs typeface="Candara"/>
                <a:sym typeface="Candara"/>
              </a:rPr>
              <a:t>), StructField(</a:t>
            </a:r>
            <a:r>
              <a:rPr lang="en-US" sz="1800">
                <a:solidFill>
                  <a:srgbClr val="A21414"/>
                </a:solidFill>
                <a:latin typeface="Candara"/>
                <a:ea typeface="Candara"/>
                <a:cs typeface="Candara"/>
                <a:sym typeface="Candara"/>
              </a:rPr>
              <a:t>"title"</a:t>
            </a:r>
            <a:r>
              <a:rPr lang="en-US" sz="1800">
                <a:solidFill>
                  <a:srgbClr val="3A3A3A"/>
                </a:solidFill>
                <a:latin typeface="Candara"/>
                <a:ea typeface="Candara"/>
                <a:cs typeface="Candara"/>
                <a:sym typeface="Candara"/>
              </a:rPr>
              <a:t>, StringType(), </a:t>
            </a:r>
            <a:r>
              <a:rPr lang="en-US" sz="1800">
                <a:solidFill>
                  <a:srgbClr val="0000FF"/>
                </a:solidFill>
                <a:latin typeface="Candara"/>
                <a:ea typeface="Candara"/>
                <a:cs typeface="Candara"/>
                <a:sym typeface="Candara"/>
              </a:rPr>
              <a:t>False</a:t>
            </a:r>
            <a:r>
              <a:rPr lang="en-US" sz="1800">
                <a:solidFill>
                  <a:srgbClr val="3A3A3A"/>
                </a:solidFill>
                <a:latin typeface="Candara"/>
                <a:ea typeface="Candara"/>
                <a:cs typeface="Candara"/>
                <a:sym typeface="Candara"/>
              </a:rPr>
              <a:t>), StructField(</a:t>
            </a:r>
            <a:r>
              <a:rPr lang="en-US" sz="1800">
                <a:solidFill>
                  <a:srgbClr val="A21414"/>
                </a:solidFill>
                <a:latin typeface="Candara"/>
                <a:ea typeface="Candara"/>
                <a:cs typeface="Candara"/>
                <a:sym typeface="Candara"/>
              </a:rPr>
              <a:t>"pages"</a:t>
            </a:r>
            <a:r>
              <a:rPr lang="en-US" sz="1800">
                <a:solidFill>
                  <a:srgbClr val="3A3A3A"/>
                </a:solidFill>
                <a:latin typeface="Candara"/>
                <a:ea typeface="Candara"/>
                <a:cs typeface="Candara"/>
                <a:sym typeface="Candara"/>
              </a:rPr>
              <a:t>, IntegerType(), </a:t>
            </a:r>
            <a:r>
              <a:rPr lang="en-US" sz="1800">
                <a:solidFill>
                  <a:srgbClr val="0000FF"/>
                </a:solidFill>
                <a:latin typeface="Candara"/>
                <a:ea typeface="Candara"/>
                <a:cs typeface="Candara"/>
                <a:sym typeface="Candara"/>
              </a:rPr>
              <a:t>False</a:t>
            </a:r>
            <a:r>
              <a:rPr lang="en-US" sz="1800">
                <a:solidFill>
                  <a:srgbClr val="3A3A3A"/>
                </a:solidFill>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345"/>
              </a:spcBef>
              <a:spcAft>
                <a:spcPts val="0"/>
              </a:spcAft>
              <a:buNone/>
            </a:pPr>
            <a:r>
              <a:t/>
            </a:r>
            <a:endParaRPr sz="1800">
              <a:latin typeface="Candara"/>
              <a:ea typeface="Candara"/>
              <a:cs typeface="Candara"/>
              <a:sym typeface="Candara"/>
            </a:endParaRPr>
          </a:p>
          <a:p>
            <a:pPr indent="-342265" lvl="0" marL="354965" rtl="0" algn="l">
              <a:lnSpc>
                <a:spcPct val="100000"/>
              </a:lnSpc>
              <a:spcBef>
                <a:spcPts val="0"/>
              </a:spcBef>
              <a:spcAft>
                <a:spcPts val="0"/>
              </a:spcAft>
              <a:buSzPts val="2000"/>
              <a:buFont typeface="Candara"/>
              <a:buChar char="•"/>
            </a:pPr>
            <a:r>
              <a:rPr lang="en-US" sz="2000">
                <a:latin typeface="Candara"/>
                <a:ea typeface="Candara"/>
                <a:cs typeface="Candara"/>
                <a:sym typeface="Candara"/>
              </a:rPr>
              <a:t>Utilizar una cadena de lenguaje de definición de datos (DDL), utilizada en SQL</a:t>
            </a:r>
            <a:endParaRPr sz="2000">
              <a:latin typeface="Candara"/>
              <a:ea typeface="Candara"/>
              <a:cs typeface="Candara"/>
              <a:sym typeface="Candara"/>
            </a:endParaRPr>
          </a:p>
          <a:p>
            <a:pPr indent="0" lvl="0" marL="781685" rtl="0" algn="l">
              <a:lnSpc>
                <a:spcPct val="100000"/>
              </a:lnSpc>
              <a:spcBef>
                <a:spcPts val="1889"/>
              </a:spcBef>
              <a:spcAft>
                <a:spcPts val="0"/>
              </a:spcAft>
              <a:buNone/>
            </a:pPr>
            <a:r>
              <a:rPr lang="en-US" sz="1800">
                <a:solidFill>
                  <a:srgbClr val="3A3A3A"/>
                </a:solidFill>
                <a:latin typeface="Candara"/>
                <a:ea typeface="Candara"/>
                <a:cs typeface="Candara"/>
                <a:sym typeface="Candara"/>
              </a:rPr>
              <a:t>schema </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"author STRING, title STRING, pages INT"</a:t>
            </a:r>
            <a:endParaRPr sz="1800">
              <a:latin typeface="Candara"/>
              <a:ea typeface="Candara"/>
              <a:cs typeface="Candara"/>
              <a:sym typeface="Candara"/>
            </a:endParaRPr>
          </a:p>
        </p:txBody>
      </p:sp>
      <p:sp>
        <p:nvSpPr>
          <p:cNvPr id="218" name="Google Shape;218;p23"/>
          <p:cNvSpPr txBox="1"/>
          <p:nvPr/>
        </p:nvSpPr>
        <p:spPr>
          <a:xfrm>
            <a:off x="7219525" y="1850875"/>
            <a:ext cx="4297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3A3A3A"/>
                </a:solidFill>
                <a:latin typeface="Candara"/>
                <a:ea typeface="Candara"/>
                <a:cs typeface="Candara"/>
                <a:sym typeface="Candara"/>
              </a:rPr>
              <a:t>books_df = spark.createDataFrame(data, schema=</a:t>
            </a:r>
            <a:r>
              <a:rPr lang="en-US" sz="1800">
                <a:solidFill>
                  <a:srgbClr val="A21414"/>
                </a:solidFill>
                <a:latin typeface="Candara"/>
                <a:ea typeface="Candara"/>
                <a:cs typeface="Candara"/>
                <a:sym typeface="Candara"/>
              </a:rPr>
              <a:t>schema</a:t>
            </a:r>
            <a:r>
              <a:rPr lang="en-US" sz="1800">
                <a:solidFill>
                  <a:srgbClr val="3A3A3A"/>
                </a:solidFill>
                <a:latin typeface="Candara"/>
                <a:ea typeface="Candara"/>
                <a:cs typeface="Candara"/>
                <a:sym typeface="Candara"/>
              </a:rPr>
              <a:t>)</a:t>
            </a:r>
            <a:endParaRPr/>
          </a:p>
        </p:txBody>
      </p:sp>
      <p:sp>
        <p:nvSpPr>
          <p:cNvPr id="219" name="Google Shape;219;p23"/>
          <p:cNvSpPr/>
          <p:nvPr/>
        </p:nvSpPr>
        <p:spPr>
          <a:xfrm>
            <a:off x="7100475" y="1775125"/>
            <a:ext cx="4481100" cy="865800"/>
          </a:xfrm>
          <a:prstGeom prst="roundRect">
            <a:avLst>
              <a:gd fmla="val 16667" name="adj"/>
            </a:avLst>
          </a:prstGeom>
          <a:noFill/>
          <a:ln cap="flat" cmpd="sng" w="9525">
            <a:solidFill>
              <a:srgbClr val="A2141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0" name="Google Shape;220;p23"/>
          <p:cNvSpPr txBox="1"/>
          <p:nvPr/>
        </p:nvSpPr>
        <p:spPr>
          <a:xfrm>
            <a:off x="7026425" y="3798075"/>
            <a:ext cx="4145700" cy="1618800"/>
          </a:xfrm>
          <a:prstGeom prst="rect">
            <a:avLst/>
          </a:prstGeom>
          <a:noFill/>
          <a:ln>
            <a:noFill/>
          </a:ln>
        </p:spPr>
        <p:txBody>
          <a:bodyPr anchorCtr="0" anchor="t" bIns="91425" lIns="91425" spcFirstLastPara="1" rIns="91425" wrap="square" tIns="91425">
            <a:noAutofit/>
          </a:bodyPr>
          <a:lstStyle/>
          <a:p>
            <a:pPr indent="-323850" lvl="0" marL="457200" rtl="0" algn="just">
              <a:spcBef>
                <a:spcPts val="0"/>
              </a:spcBef>
              <a:spcAft>
                <a:spcPts val="0"/>
              </a:spcAft>
              <a:buSzPts val="1500"/>
              <a:buFont typeface="Candara"/>
              <a:buChar char="-"/>
            </a:pPr>
            <a:r>
              <a:rPr lang="en-US" sz="1500">
                <a:latin typeface="Candara"/>
                <a:ea typeface="Candara"/>
                <a:cs typeface="Candara"/>
                <a:sym typeface="Candara"/>
              </a:rPr>
              <a:t>Spark es capaz de inferir un esquema cuando </a:t>
            </a:r>
            <a:r>
              <a:rPr lang="en-US" sz="1500">
                <a:latin typeface="Candara"/>
                <a:ea typeface="Candara"/>
                <a:cs typeface="Candara"/>
                <a:sym typeface="Candara"/>
              </a:rPr>
              <a:t>estás</a:t>
            </a:r>
            <a:r>
              <a:rPr lang="en-US" sz="1500">
                <a:latin typeface="Candara"/>
                <a:ea typeface="Candara"/>
                <a:cs typeface="Candara"/>
                <a:sym typeface="Candara"/>
              </a:rPr>
              <a:t> leyendo por ejemplo un csv, pero no es recomendado</a:t>
            </a:r>
            <a:endParaRPr sz="1500">
              <a:latin typeface="Candara"/>
              <a:ea typeface="Candara"/>
              <a:cs typeface="Candara"/>
              <a:sym typeface="Candara"/>
            </a:endParaRPr>
          </a:p>
          <a:p>
            <a:pPr indent="0" lvl="0" marL="457200" rtl="0" algn="just">
              <a:spcBef>
                <a:spcPts val="0"/>
              </a:spcBef>
              <a:spcAft>
                <a:spcPts val="0"/>
              </a:spcAft>
              <a:buNone/>
            </a:pPr>
            <a:r>
              <a:rPr lang="en-US" sz="1500">
                <a:latin typeface="Candara"/>
                <a:ea typeface="Candara"/>
                <a:cs typeface="Candara"/>
                <a:sym typeface="Candara"/>
              </a:rPr>
              <a:t> </a:t>
            </a:r>
            <a:endParaRPr sz="1500">
              <a:latin typeface="Candara"/>
              <a:ea typeface="Candara"/>
              <a:cs typeface="Candara"/>
              <a:sym typeface="Candara"/>
            </a:endParaRPr>
          </a:p>
          <a:p>
            <a:pPr indent="-323850" lvl="0" marL="457200" rtl="0" algn="just">
              <a:spcBef>
                <a:spcPts val="0"/>
              </a:spcBef>
              <a:spcAft>
                <a:spcPts val="0"/>
              </a:spcAft>
              <a:buSzPts val="1500"/>
              <a:buFont typeface="Candara"/>
              <a:buChar char="-"/>
            </a:pPr>
            <a:r>
              <a:rPr lang="en-US" sz="1500">
                <a:latin typeface="Candara"/>
                <a:ea typeface="Candara"/>
                <a:cs typeface="Candara"/>
                <a:sym typeface="Candara"/>
              </a:rPr>
              <a:t>Al guardar el archivo, el esquema también es guardado</a:t>
            </a:r>
            <a:endParaRPr sz="1500">
              <a:latin typeface="Candara"/>
              <a:ea typeface="Candara"/>
              <a:cs typeface="Candara"/>
              <a:sym typeface="Candara"/>
            </a:endParaRPr>
          </a:p>
        </p:txBody>
      </p:sp>
      <p:sp>
        <p:nvSpPr>
          <p:cNvPr id="221" name="Google Shape;221;p23"/>
          <p:cNvSpPr/>
          <p:nvPr/>
        </p:nvSpPr>
        <p:spPr>
          <a:xfrm rot="5400000">
            <a:off x="8954725" y="3030675"/>
            <a:ext cx="523800" cy="5061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2" name="Google Shape;222;p23"/>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228" name="Google Shape;228;p24"/>
          <p:cNvSpPr txBox="1"/>
          <p:nvPr/>
        </p:nvSpPr>
        <p:spPr>
          <a:xfrm>
            <a:off x="587050" y="927825"/>
            <a:ext cx="11124300" cy="3407400"/>
          </a:xfrm>
          <a:prstGeom prst="rect">
            <a:avLst/>
          </a:prstGeom>
          <a:noFill/>
          <a:ln>
            <a:noFill/>
          </a:ln>
        </p:spPr>
        <p:txBody>
          <a:bodyPr anchorCtr="0" anchor="t" bIns="0" lIns="0" spcFirstLastPara="1" rIns="0" wrap="square" tIns="177150">
            <a:spAutoFit/>
          </a:bodyPr>
          <a:lstStyle/>
          <a:p>
            <a:pPr indent="-329565" lvl="0" marL="354330" marR="5080" rtl="0" algn="l">
              <a:lnSpc>
                <a:spcPct val="150000"/>
              </a:lnSpc>
              <a:spcBef>
                <a:spcPts val="110"/>
              </a:spcBef>
              <a:spcAft>
                <a:spcPts val="0"/>
              </a:spcAft>
              <a:buSzPts val="1800"/>
              <a:buFont typeface="Candara"/>
              <a:buChar char="•"/>
            </a:pPr>
            <a:r>
              <a:rPr lang="en-US" sz="1800">
                <a:latin typeface="Candara"/>
                <a:ea typeface="Candara"/>
                <a:cs typeface="Candara"/>
                <a:sym typeface="Candara"/>
              </a:rPr>
              <a:t>Una fila en Spark es un objeto Row genérico que contiene una o más columnas.</a:t>
            </a:r>
            <a:endParaRPr sz="1800">
              <a:latin typeface="Candara"/>
              <a:ea typeface="Candara"/>
              <a:cs typeface="Candara"/>
              <a:sym typeface="Candara"/>
            </a:endParaRPr>
          </a:p>
          <a:p>
            <a:pPr indent="-329565" lvl="0" marL="354330" marR="5080" rtl="0" algn="l">
              <a:lnSpc>
                <a:spcPct val="150000"/>
              </a:lnSpc>
              <a:spcBef>
                <a:spcPts val="110"/>
              </a:spcBef>
              <a:spcAft>
                <a:spcPts val="0"/>
              </a:spcAft>
              <a:buSzPts val="1800"/>
              <a:buFont typeface="Candara"/>
              <a:buChar char="•"/>
            </a:pPr>
            <a:r>
              <a:rPr lang="en-US" sz="1800">
                <a:latin typeface="Candara"/>
                <a:ea typeface="Candara"/>
                <a:cs typeface="Candara"/>
                <a:sym typeface="Candara"/>
              </a:rPr>
              <a:t>Cada columna puede ser del mismo tipo de datos o pueden tener tipos diferentes (entero, cadena, mapa, matriz, etc.).</a:t>
            </a:r>
            <a:endParaRPr sz="1800">
              <a:latin typeface="Candara"/>
              <a:ea typeface="Candara"/>
              <a:cs typeface="Candara"/>
              <a:sym typeface="Candara"/>
            </a:endParaRPr>
          </a:p>
          <a:p>
            <a:pPr indent="-329565" lvl="0" marL="354330" marR="5080" rtl="0" algn="l">
              <a:lnSpc>
                <a:spcPct val="150000"/>
              </a:lnSpc>
              <a:spcBef>
                <a:spcPts val="110"/>
              </a:spcBef>
              <a:spcAft>
                <a:spcPts val="0"/>
              </a:spcAft>
              <a:buSzPts val="1800"/>
              <a:buFont typeface="Candara"/>
              <a:buChar char="•"/>
            </a:pPr>
            <a:r>
              <a:rPr lang="en-US" sz="1800">
                <a:latin typeface="Candara"/>
                <a:ea typeface="Candara"/>
                <a:cs typeface="Candara"/>
                <a:sym typeface="Candara"/>
              </a:rPr>
              <a:t>Puede instanciar una fila en cada uno de los lenguajes compatibles con Spark y acceder a sus campos mediante un índice que comienza en 0.</a:t>
            </a:r>
            <a:endParaRPr sz="1800">
              <a:latin typeface="Candara"/>
              <a:ea typeface="Candara"/>
              <a:cs typeface="Candara"/>
              <a:sym typeface="Candara"/>
            </a:endParaRPr>
          </a:p>
          <a:p>
            <a:pPr indent="-329565" lvl="0" marL="354330" marR="5080" rtl="0" algn="l">
              <a:lnSpc>
                <a:spcPct val="150000"/>
              </a:lnSpc>
              <a:spcBef>
                <a:spcPts val="110"/>
              </a:spcBef>
              <a:spcAft>
                <a:spcPts val="0"/>
              </a:spcAft>
              <a:buSzPts val="1800"/>
              <a:buFont typeface="Candara"/>
              <a:buChar char="•"/>
            </a:pPr>
            <a:r>
              <a:rPr lang="en-US" sz="1800">
                <a:latin typeface="Candara"/>
                <a:ea typeface="Candara"/>
                <a:cs typeface="Candara"/>
                <a:sym typeface="Candara"/>
              </a:rPr>
              <a:t>Los objetos Row se pueden utilizar para crear DataFrames si los necesita para una interactividad y exploración rápidas (normalmente usaremos .parquet, .csv …)</a:t>
            </a:r>
            <a:endParaRPr sz="1800">
              <a:latin typeface="Candara"/>
              <a:ea typeface="Candara"/>
              <a:cs typeface="Candara"/>
              <a:sym typeface="Candara"/>
            </a:endParaRPr>
          </a:p>
          <a:p>
            <a:pPr indent="0" lvl="0" marL="427990" marR="8756015" rtl="0" algn="l">
              <a:lnSpc>
                <a:spcPct val="100000"/>
              </a:lnSpc>
              <a:spcBef>
                <a:spcPts val="0"/>
              </a:spcBef>
              <a:spcAft>
                <a:spcPts val="0"/>
              </a:spcAft>
              <a:buNone/>
            </a:pPr>
            <a:r>
              <a:t/>
            </a:r>
            <a:endParaRPr sz="1800">
              <a:latin typeface="Candara"/>
              <a:ea typeface="Candara"/>
              <a:cs typeface="Candara"/>
              <a:sym typeface="Candara"/>
            </a:endParaRPr>
          </a:p>
        </p:txBody>
      </p:sp>
      <p:sp>
        <p:nvSpPr>
          <p:cNvPr id="229" name="Google Shape;229;p24"/>
          <p:cNvSpPr txBox="1"/>
          <p:nvPr>
            <p:ph type="title"/>
          </p:nvPr>
        </p:nvSpPr>
        <p:spPr>
          <a:xfrm>
            <a:off x="4882525" y="322325"/>
            <a:ext cx="24291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Objetos Row</a:t>
            </a:r>
            <a:endParaRPr/>
          </a:p>
        </p:txBody>
      </p:sp>
      <p:pic>
        <p:nvPicPr>
          <p:cNvPr id="230" name="Google Shape;230;p24" title="Captura de pantalla 2025-11-18 a las 16.07.55.png"/>
          <p:cNvPicPr preferRelativeResize="0"/>
          <p:nvPr/>
        </p:nvPicPr>
        <p:blipFill>
          <a:blip r:embed="rId3">
            <a:alphaModFix/>
          </a:blip>
          <a:stretch>
            <a:fillRect/>
          </a:stretch>
        </p:blipFill>
        <p:spPr>
          <a:xfrm>
            <a:off x="3222900" y="4228975"/>
            <a:ext cx="5852610" cy="1648622"/>
          </a:xfrm>
          <a:prstGeom prst="rect">
            <a:avLst/>
          </a:prstGeom>
          <a:noFill/>
          <a:ln>
            <a:noFill/>
          </a:ln>
        </p:spPr>
      </p:pic>
      <p:sp>
        <p:nvSpPr>
          <p:cNvPr id="231" name="Google Shape;231;p24"/>
          <p:cNvSpPr txBox="1"/>
          <p:nvPr>
            <p:ph idx="11" type="ftr"/>
          </p:nvPr>
        </p:nvSpPr>
        <p:spPr>
          <a:xfrm>
            <a:off x="5408699" y="6584675"/>
            <a:ext cx="13746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SPARK SQL: DATAFRAME API</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5"/>
          <p:cNvSpPr/>
          <p:nvPr/>
        </p:nvSpPr>
        <p:spPr>
          <a:xfrm>
            <a:off x="1207008" y="4343400"/>
            <a:ext cx="9875520" cy="0"/>
          </a:xfrm>
          <a:custGeom>
            <a:rect b="b" l="l" r="r" t="t"/>
            <a:pathLst>
              <a:path extrusionOk="0" h="120000" w="9875520">
                <a:moveTo>
                  <a:pt x="0" y="0"/>
                </a:moveTo>
                <a:lnTo>
                  <a:pt x="9875520" y="0"/>
                </a:lnTo>
              </a:path>
            </a:pathLst>
          </a:custGeom>
          <a:noFill/>
          <a:ln cap="flat" cmpd="sng" w="9525">
            <a:solidFill>
              <a:srgbClr val="7E7E7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7" name="Google Shape;237;p25"/>
          <p:cNvSpPr txBox="1"/>
          <p:nvPr>
            <p:ph type="title"/>
          </p:nvPr>
        </p:nvSpPr>
        <p:spPr>
          <a:xfrm>
            <a:off x="1176019" y="3399472"/>
            <a:ext cx="8363100" cy="751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solidFill>
                  <a:schemeClr val="dk2"/>
                </a:solidFill>
                <a:latin typeface="Candara"/>
                <a:ea typeface="Candara"/>
                <a:cs typeface="Candara"/>
                <a:sym typeface="Candara"/>
              </a:rPr>
              <a:t>3. Operaciones con Dataframes</a:t>
            </a:r>
            <a:endParaRPr sz="5400"/>
          </a:p>
        </p:txBody>
      </p:sp>
      <p:sp>
        <p:nvSpPr>
          <p:cNvPr id="238" name="Google Shape;238;p25"/>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
        <p:nvSpPr>
          <p:cNvPr id="239" name="Google Shape;239;p25"/>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6"/>
          <p:cNvSpPr txBox="1"/>
          <p:nvPr>
            <p:ph type="title"/>
          </p:nvPr>
        </p:nvSpPr>
        <p:spPr>
          <a:xfrm>
            <a:off x="4865178" y="341674"/>
            <a:ext cx="2481000" cy="505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a:latin typeface="Candara"/>
                <a:ea typeface="Candara"/>
                <a:cs typeface="Candara"/>
                <a:sym typeface="Candara"/>
              </a:rPr>
              <a:t>Leer y Escribir</a:t>
            </a:r>
            <a:endParaRPr>
              <a:latin typeface="Candara"/>
              <a:ea typeface="Candara"/>
              <a:cs typeface="Candara"/>
              <a:sym typeface="Candara"/>
            </a:endParaRPr>
          </a:p>
        </p:txBody>
      </p:sp>
      <p:sp>
        <p:nvSpPr>
          <p:cNvPr id="245" name="Google Shape;245;p26"/>
          <p:cNvSpPr txBox="1"/>
          <p:nvPr/>
        </p:nvSpPr>
        <p:spPr>
          <a:xfrm>
            <a:off x="572775" y="1276525"/>
            <a:ext cx="11065800" cy="3919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008000"/>
                </a:solidFill>
                <a:latin typeface="Candara"/>
                <a:ea typeface="Candara"/>
                <a:cs typeface="Candara"/>
                <a:sym typeface="Candara"/>
              </a:rPr>
              <a:t># Leer</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latin typeface="Candara"/>
                <a:ea typeface="Candara"/>
                <a:cs typeface="Candara"/>
                <a:sym typeface="Candara"/>
              </a:rPr>
              <a:t>a</a:t>
            </a:r>
            <a:r>
              <a:rPr lang="en-US" sz="1800">
                <a:highlight>
                  <a:schemeClr val="lt1"/>
                </a:highlight>
                <a:latin typeface="Candara"/>
                <a:ea typeface="Candara"/>
                <a:cs typeface="Candara"/>
                <a:sym typeface="Candara"/>
              </a:rPr>
              <a:t>ccountDF = </a:t>
            </a:r>
            <a:r>
              <a:rPr lang="en-US" sz="1800">
                <a:solidFill>
                  <a:srgbClr val="3A3A3A"/>
                </a:solidFill>
                <a:highlight>
                  <a:schemeClr val="lt1"/>
                </a:highlight>
                <a:latin typeface="Candara"/>
                <a:ea typeface="Candara"/>
                <a:cs typeface="Candara"/>
                <a:sym typeface="Candara"/>
              </a:rPr>
              <a:t>(spark.read.option(</a:t>
            </a:r>
            <a:r>
              <a:rPr lang="en-US" sz="1800">
                <a:solidFill>
                  <a:srgbClr val="A21414"/>
                </a:solidFill>
                <a:highlight>
                  <a:schemeClr val="lt1"/>
                </a:highlight>
                <a:latin typeface="Candara"/>
                <a:ea typeface="Candara"/>
                <a:cs typeface="Candara"/>
                <a:sym typeface="Candara"/>
              </a:rPr>
              <a:t>"header"</a:t>
            </a:r>
            <a:r>
              <a:rPr lang="en-US" sz="1800">
                <a:solidFill>
                  <a:srgbClr val="3A3A3A"/>
                </a:solidFill>
                <a:highlight>
                  <a:schemeClr val="lt1"/>
                </a:highlight>
                <a:latin typeface="Candara"/>
                <a:ea typeface="Candara"/>
                <a:cs typeface="Candara"/>
                <a:sym typeface="Candara"/>
              </a:rPr>
              <a:t>, </a:t>
            </a:r>
            <a:r>
              <a:rPr lang="en-US" sz="1800">
                <a:solidFill>
                  <a:srgbClr val="0000FF"/>
                </a:solidFill>
                <a:highlight>
                  <a:schemeClr val="lt1"/>
                </a:highlight>
                <a:latin typeface="Candara"/>
                <a:ea typeface="Candara"/>
                <a:cs typeface="Candara"/>
                <a:sym typeface="Candara"/>
              </a:rPr>
              <a:t>True</a:t>
            </a:r>
            <a:r>
              <a:rPr lang="en-US" sz="1800">
                <a:solidFill>
                  <a:srgbClr val="3A3A3A"/>
                </a:solidFill>
                <a:highlight>
                  <a:schemeClr val="lt1"/>
                </a:highlight>
                <a:latin typeface="Candara"/>
                <a:ea typeface="Candara"/>
                <a:cs typeface="Candara"/>
                <a:sym typeface="Candara"/>
              </a:rPr>
              <a:t>).option(</a:t>
            </a:r>
            <a:r>
              <a:rPr lang="en-US" sz="1800">
                <a:solidFill>
                  <a:srgbClr val="A21414"/>
                </a:solidFill>
                <a:highlight>
                  <a:schemeClr val="lt1"/>
                </a:highlight>
                <a:latin typeface="Candara"/>
                <a:ea typeface="Candara"/>
                <a:cs typeface="Candara"/>
                <a:sym typeface="Candara"/>
              </a:rPr>
              <a:t>"inferSchema"</a:t>
            </a:r>
            <a:r>
              <a:rPr lang="en-US" sz="1800">
                <a:solidFill>
                  <a:srgbClr val="3A3A3A"/>
                </a:solidFill>
                <a:highlight>
                  <a:schemeClr val="lt1"/>
                </a:highlight>
                <a:latin typeface="Candara"/>
                <a:ea typeface="Candara"/>
                <a:cs typeface="Candara"/>
                <a:sym typeface="Candara"/>
              </a:rPr>
              <a:t>, </a:t>
            </a:r>
            <a:r>
              <a:rPr lang="en-US" sz="1800">
                <a:solidFill>
                  <a:srgbClr val="0000FF"/>
                </a:solidFill>
                <a:highlight>
                  <a:schemeClr val="lt1"/>
                </a:highlight>
                <a:latin typeface="Candara"/>
                <a:ea typeface="Candara"/>
                <a:cs typeface="Candara"/>
                <a:sym typeface="Candara"/>
              </a:rPr>
              <a:t>True</a:t>
            </a:r>
            <a:r>
              <a:rPr lang="en-US" sz="1800">
                <a:solidFill>
                  <a:srgbClr val="3A3A3A"/>
                </a:solidFill>
                <a:highlight>
                  <a:schemeClr val="lt1"/>
                </a:highlight>
                <a:latin typeface="Candara"/>
                <a:ea typeface="Candara"/>
                <a:cs typeface="Candara"/>
                <a:sym typeface="Candara"/>
              </a:rPr>
              <a:t>)</a:t>
            </a:r>
            <a:endParaRPr sz="1800">
              <a:highlight>
                <a:schemeClr val="lt1"/>
              </a:highlight>
              <a:latin typeface="Candara"/>
              <a:ea typeface="Candara"/>
              <a:cs typeface="Candara"/>
              <a:sym typeface="Candara"/>
            </a:endParaRPr>
          </a:p>
          <a:p>
            <a:pPr indent="0" lvl="0" marL="469900" rtl="0" algn="l">
              <a:lnSpc>
                <a:spcPct val="100000"/>
              </a:lnSpc>
              <a:spcBef>
                <a:spcPts val="0"/>
              </a:spcBef>
              <a:spcAft>
                <a:spcPts val="0"/>
              </a:spcAft>
              <a:buNone/>
            </a:pPr>
            <a:r>
              <a:rPr lang="en-US" sz="1800">
                <a:highlight>
                  <a:schemeClr val="lt1"/>
                </a:highlight>
                <a:latin typeface="Candara"/>
                <a:ea typeface="Candara"/>
                <a:cs typeface="Candara"/>
                <a:sym typeface="Candara"/>
              </a:rPr>
              <a:t>.csv</a:t>
            </a:r>
            <a:r>
              <a:rPr lang="en-US" sz="1800">
                <a:solidFill>
                  <a:srgbClr val="3A3A3A"/>
                </a:solidFill>
                <a:highlight>
                  <a:schemeClr val="lt1"/>
                </a:highlight>
                <a:latin typeface="Candara"/>
                <a:ea typeface="Candara"/>
                <a:cs typeface="Candara"/>
                <a:sym typeface="Candara"/>
              </a:rPr>
              <a:t>(</a:t>
            </a:r>
            <a:r>
              <a:rPr lang="en-US" sz="1800">
                <a:solidFill>
                  <a:srgbClr val="A21414"/>
                </a:solidFill>
                <a:highlight>
                  <a:schemeClr val="lt1"/>
                </a:highlight>
                <a:latin typeface="Candara"/>
                <a:ea typeface="Candara"/>
                <a:cs typeface="Candara"/>
                <a:sym typeface="Candara"/>
              </a:rPr>
              <a:t>"path_value"</a:t>
            </a:r>
            <a:r>
              <a:rPr lang="en-US" sz="1800">
                <a:solidFill>
                  <a:srgbClr val="3A3A3A"/>
                </a:solidFill>
                <a:highlight>
                  <a:schemeClr val="lt1"/>
                </a:highlight>
                <a:latin typeface="Candara"/>
                <a:ea typeface="Candara"/>
                <a:cs typeface="Candara"/>
                <a:sym typeface="Candara"/>
              </a:rPr>
              <a:t>))</a:t>
            </a:r>
            <a:endParaRPr sz="1800">
              <a:highlight>
                <a:schemeClr val="lt1"/>
              </a:highlight>
              <a:latin typeface="Candara"/>
              <a:ea typeface="Candara"/>
              <a:cs typeface="Candara"/>
              <a:sym typeface="Candara"/>
            </a:endParaRPr>
          </a:p>
          <a:p>
            <a:pPr indent="0" lvl="0" marL="0" rtl="0" algn="l">
              <a:lnSpc>
                <a:spcPct val="100000"/>
              </a:lnSpc>
              <a:spcBef>
                <a:spcPts val="50"/>
              </a:spcBef>
              <a:spcAft>
                <a:spcPts val="0"/>
              </a:spcAft>
              <a:buNone/>
            </a:pPr>
            <a:r>
              <a:t/>
            </a:r>
            <a:endParaRPr sz="1800">
              <a:highlight>
                <a:schemeClr val="lt1"/>
              </a:highlight>
              <a:latin typeface="Candara"/>
              <a:ea typeface="Candara"/>
              <a:cs typeface="Candara"/>
              <a:sym typeface="Candara"/>
            </a:endParaRPr>
          </a:p>
          <a:p>
            <a:pPr indent="0" lvl="0" marL="12700" rtl="0" algn="l">
              <a:lnSpc>
                <a:spcPct val="100000"/>
              </a:lnSpc>
              <a:spcBef>
                <a:spcPts val="0"/>
              </a:spcBef>
              <a:spcAft>
                <a:spcPts val="0"/>
              </a:spcAft>
              <a:buNone/>
            </a:pPr>
            <a:r>
              <a:rPr lang="en-US" sz="1800">
                <a:highlight>
                  <a:schemeClr val="lt1"/>
                </a:highlight>
                <a:latin typeface="Candara"/>
                <a:ea typeface="Candara"/>
                <a:cs typeface="Candara"/>
                <a:sym typeface="Candara"/>
              </a:rPr>
              <a:t>accountDF = </a:t>
            </a:r>
            <a:r>
              <a:rPr lang="en-US" sz="1800">
                <a:solidFill>
                  <a:srgbClr val="3A3A3A"/>
                </a:solidFill>
                <a:highlight>
                  <a:schemeClr val="lt1"/>
                </a:highlight>
                <a:latin typeface="Candara"/>
                <a:ea typeface="Candara"/>
                <a:cs typeface="Candara"/>
                <a:sym typeface="Candara"/>
              </a:rPr>
              <a:t>(spark.read.option(</a:t>
            </a:r>
            <a:r>
              <a:rPr lang="en-US" sz="1800">
                <a:solidFill>
                  <a:srgbClr val="A21414"/>
                </a:solidFill>
                <a:highlight>
                  <a:schemeClr val="lt1"/>
                </a:highlight>
                <a:latin typeface="Candara"/>
                <a:ea typeface="Candara"/>
                <a:cs typeface="Candara"/>
                <a:sym typeface="Candara"/>
              </a:rPr>
              <a:t>"header"</a:t>
            </a:r>
            <a:r>
              <a:rPr lang="en-US" sz="1800">
                <a:solidFill>
                  <a:srgbClr val="3A3A3A"/>
                </a:solidFill>
                <a:highlight>
                  <a:schemeClr val="lt1"/>
                </a:highlight>
                <a:latin typeface="Candara"/>
                <a:ea typeface="Candara"/>
                <a:cs typeface="Candara"/>
                <a:sym typeface="Candara"/>
              </a:rPr>
              <a:t>, </a:t>
            </a:r>
            <a:r>
              <a:rPr lang="en-US" sz="1800">
                <a:solidFill>
                  <a:srgbClr val="0000FF"/>
                </a:solidFill>
                <a:highlight>
                  <a:schemeClr val="lt1"/>
                </a:highlight>
                <a:latin typeface="Candara"/>
                <a:ea typeface="Candara"/>
                <a:cs typeface="Candara"/>
                <a:sym typeface="Candara"/>
              </a:rPr>
              <a:t>True</a:t>
            </a:r>
            <a:r>
              <a:rPr lang="en-US" sz="1800">
                <a:solidFill>
                  <a:srgbClr val="3A3A3A"/>
                </a:solidFill>
                <a:highlight>
                  <a:schemeClr val="lt1"/>
                </a:highlight>
                <a:latin typeface="Candara"/>
                <a:ea typeface="Candara"/>
                <a:cs typeface="Candara"/>
                <a:sym typeface="Candara"/>
              </a:rPr>
              <a:t>).option(</a:t>
            </a:r>
            <a:r>
              <a:rPr lang="en-US" sz="1800">
                <a:solidFill>
                  <a:srgbClr val="A21414"/>
                </a:solidFill>
                <a:highlight>
                  <a:schemeClr val="lt1"/>
                </a:highlight>
                <a:latin typeface="Candara"/>
                <a:ea typeface="Candara"/>
                <a:cs typeface="Candara"/>
                <a:sym typeface="Candara"/>
              </a:rPr>
              <a:t>"inferSchema"</a:t>
            </a:r>
            <a:r>
              <a:rPr lang="en-US" sz="1800">
                <a:solidFill>
                  <a:srgbClr val="3A3A3A"/>
                </a:solidFill>
                <a:highlight>
                  <a:schemeClr val="lt1"/>
                </a:highlight>
                <a:latin typeface="Candara"/>
                <a:ea typeface="Candara"/>
                <a:cs typeface="Candara"/>
                <a:sym typeface="Candara"/>
              </a:rPr>
              <a:t>, </a:t>
            </a:r>
            <a:r>
              <a:rPr lang="en-US" sz="1800">
                <a:solidFill>
                  <a:srgbClr val="0000FF"/>
                </a:solidFill>
                <a:highlight>
                  <a:schemeClr val="lt1"/>
                </a:highlight>
                <a:latin typeface="Candara"/>
                <a:ea typeface="Candara"/>
                <a:cs typeface="Candara"/>
                <a:sym typeface="Candara"/>
              </a:rPr>
              <a:t>True</a:t>
            </a:r>
            <a:r>
              <a:rPr lang="en-US" sz="1800">
                <a:solidFill>
                  <a:srgbClr val="3A3A3A"/>
                </a:solidFill>
                <a:highlight>
                  <a:schemeClr val="lt1"/>
                </a:highlight>
                <a:latin typeface="Candara"/>
                <a:ea typeface="Candara"/>
                <a:cs typeface="Candara"/>
                <a:sym typeface="Candara"/>
              </a:rPr>
              <a:t>)</a:t>
            </a:r>
            <a:endParaRPr sz="1800">
              <a:highlight>
                <a:schemeClr val="lt1"/>
              </a:highlight>
              <a:latin typeface="Candara"/>
              <a:ea typeface="Candara"/>
              <a:cs typeface="Candara"/>
              <a:sym typeface="Candara"/>
            </a:endParaRPr>
          </a:p>
          <a:p>
            <a:pPr indent="0" lvl="0" marL="469900" rtl="0" algn="l">
              <a:lnSpc>
                <a:spcPct val="100000"/>
              </a:lnSpc>
              <a:spcBef>
                <a:spcPts val="0"/>
              </a:spcBef>
              <a:spcAft>
                <a:spcPts val="0"/>
              </a:spcAft>
              <a:buNone/>
            </a:pPr>
            <a:r>
              <a:rPr lang="en-US" sz="1800">
                <a:solidFill>
                  <a:srgbClr val="3A3A3A"/>
                </a:solidFill>
                <a:highlight>
                  <a:schemeClr val="lt1"/>
                </a:highlight>
                <a:latin typeface="Candara"/>
                <a:ea typeface="Candara"/>
                <a:cs typeface="Candara"/>
                <a:sym typeface="Candara"/>
              </a:rPr>
              <a:t>.format(</a:t>
            </a:r>
            <a:r>
              <a:rPr lang="en-US" sz="1800">
                <a:solidFill>
                  <a:srgbClr val="A21414"/>
                </a:solidFill>
                <a:highlight>
                  <a:schemeClr val="lt1"/>
                </a:highlight>
                <a:latin typeface="Candara"/>
                <a:ea typeface="Candara"/>
                <a:cs typeface="Candara"/>
                <a:sym typeface="Candara"/>
              </a:rPr>
              <a:t>"csv"</a:t>
            </a:r>
            <a:r>
              <a:rPr lang="en-US" sz="1800">
                <a:solidFill>
                  <a:srgbClr val="3A3A3A"/>
                </a:solidFill>
                <a:highlight>
                  <a:schemeClr val="lt1"/>
                </a:highlight>
                <a:latin typeface="Candara"/>
                <a:ea typeface="Candara"/>
                <a:cs typeface="Candara"/>
                <a:sym typeface="Candara"/>
              </a:rPr>
              <a:t>).load (</a:t>
            </a:r>
            <a:r>
              <a:rPr lang="en-US" sz="1800">
                <a:solidFill>
                  <a:srgbClr val="A21414"/>
                </a:solidFill>
                <a:highlight>
                  <a:schemeClr val="lt1"/>
                </a:highlight>
                <a:latin typeface="Candara"/>
                <a:ea typeface="Candara"/>
                <a:cs typeface="Candara"/>
                <a:sym typeface="Candara"/>
              </a:rPr>
              <a:t>"path_value"</a:t>
            </a:r>
            <a:r>
              <a:rPr lang="en-US" sz="1800">
                <a:solidFill>
                  <a:srgbClr val="3A3A3A"/>
                </a:solidFill>
                <a:highlight>
                  <a:schemeClr val="lt1"/>
                </a:highlight>
                <a:latin typeface="Candara"/>
                <a:ea typeface="Candara"/>
                <a:cs typeface="Candara"/>
                <a:sym typeface="Candara"/>
              </a:rPr>
              <a:t>))</a:t>
            </a:r>
            <a:endParaRPr sz="1800">
              <a:highlight>
                <a:schemeClr val="lt1"/>
              </a:highlight>
              <a:latin typeface="Candara"/>
              <a:ea typeface="Candara"/>
              <a:cs typeface="Candara"/>
              <a:sym typeface="Candara"/>
            </a:endParaRPr>
          </a:p>
          <a:p>
            <a:pPr indent="0" lvl="0" marL="0" rtl="0" algn="l">
              <a:lnSpc>
                <a:spcPct val="100000"/>
              </a:lnSpc>
              <a:spcBef>
                <a:spcPts val="50"/>
              </a:spcBef>
              <a:spcAft>
                <a:spcPts val="0"/>
              </a:spcAft>
              <a:buNone/>
            </a:pPr>
            <a:r>
              <a:t/>
            </a:r>
            <a:endParaRPr sz="1800">
              <a:highlight>
                <a:schemeClr val="lt1"/>
              </a:highlight>
              <a:latin typeface="Candara"/>
              <a:ea typeface="Candara"/>
              <a:cs typeface="Candara"/>
              <a:sym typeface="Candara"/>
            </a:endParaRPr>
          </a:p>
          <a:p>
            <a:pPr indent="0" lvl="0" marL="13334" rtl="0" algn="l">
              <a:lnSpc>
                <a:spcPct val="100000"/>
              </a:lnSpc>
              <a:spcBef>
                <a:spcPts val="5"/>
              </a:spcBef>
              <a:spcAft>
                <a:spcPts val="0"/>
              </a:spcAft>
              <a:buNone/>
            </a:pPr>
            <a:r>
              <a:rPr lang="en-US" sz="1800">
                <a:solidFill>
                  <a:srgbClr val="008000"/>
                </a:solidFill>
                <a:highlight>
                  <a:schemeClr val="lt1"/>
                </a:highlight>
                <a:latin typeface="Candara"/>
                <a:ea typeface="Candara"/>
                <a:cs typeface="Candara"/>
                <a:sym typeface="Candara"/>
              </a:rPr>
              <a:t># Escribir</a:t>
            </a:r>
            <a:endParaRPr sz="1800">
              <a:highlight>
                <a:schemeClr val="lt1"/>
              </a:highlight>
              <a:latin typeface="Candara"/>
              <a:ea typeface="Candara"/>
              <a:cs typeface="Candara"/>
              <a:sym typeface="Candara"/>
            </a:endParaRPr>
          </a:p>
          <a:p>
            <a:pPr indent="0" lvl="0" marL="13334" rtl="0" algn="l">
              <a:lnSpc>
                <a:spcPct val="100000"/>
              </a:lnSpc>
              <a:spcBef>
                <a:spcPts val="0"/>
              </a:spcBef>
              <a:spcAft>
                <a:spcPts val="0"/>
              </a:spcAft>
              <a:buNone/>
            </a:pPr>
            <a:r>
              <a:rPr lang="en-US" sz="1800">
                <a:highlight>
                  <a:schemeClr val="lt1"/>
                </a:highlight>
                <a:latin typeface="Candara"/>
                <a:ea typeface="Candara"/>
                <a:cs typeface="Candara"/>
                <a:sym typeface="Candara"/>
              </a:rPr>
              <a:t>accountDF</a:t>
            </a:r>
            <a:r>
              <a:rPr lang="en-US" sz="1800">
                <a:solidFill>
                  <a:srgbClr val="3A3A3A"/>
                </a:solidFill>
                <a:highlight>
                  <a:schemeClr val="lt1"/>
                </a:highlight>
                <a:latin typeface="Candara"/>
                <a:ea typeface="Candara"/>
                <a:cs typeface="Candara"/>
                <a:sym typeface="Candara"/>
              </a:rPr>
              <a:t>.write.csv(</a:t>
            </a:r>
            <a:r>
              <a:rPr lang="en-US" sz="1800">
                <a:solidFill>
                  <a:srgbClr val="A21414"/>
                </a:solidFill>
                <a:highlight>
                  <a:schemeClr val="lt1"/>
                </a:highlight>
                <a:latin typeface="Candara"/>
                <a:ea typeface="Candara"/>
                <a:cs typeface="Candara"/>
                <a:sym typeface="Candara"/>
              </a:rPr>
              <a:t>"path_value"</a:t>
            </a:r>
            <a:r>
              <a:rPr lang="en-US" sz="1800">
                <a:solidFill>
                  <a:srgbClr val="3A3A3A"/>
                </a:solidFill>
                <a:highlight>
                  <a:schemeClr val="lt1"/>
                </a:highlight>
                <a:latin typeface="Candara"/>
                <a:ea typeface="Candara"/>
                <a:cs typeface="Candara"/>
                <a:sym typeface="Candara"/>
              </a:rPr>
              <a:t>))</a:t>
            </a:r>
            <a:endParaRPr sz="1800">
              <a:highlight>
                <a:schemeClr val="lt1"/>
              </a:highlight>
              <a:latin typeface="Candara"/>
              <a:ea typeface="Candara"/>
              <a:cs typeface="Candara"/>
              <a:sym typeface="Candara"/>
            </a:endParaRPr>
          </a:p>
          <a:p>
            <a:pPr indent="0" lvl="0" marL="0" rtl="0" algn="l">
              <a:lnSpc>
                <a:spcPct val="100000"/>
              </a:lnSpc>
              <a:spcBef>
                <a:spcPts val="50"/>
              </a:spcBef>
              <a:spcAft>
                <a:spcPts val="0"/>
              </a:spcAft>
              <a:buNone/>
            </a:pPr>
            <a:r>
              <a:t/>
            </a:r>
            <a:endParaRPr sz="1800">
              <a:highlight>
                <a:schemeClr val="lt1"/>
              </a:highlight>
              <a:latin typeface="Candara"/>
              <a:ea typeface="Candara"/>
              <a:cs typeface="Candara"/>
              <a:sym typeface="Candara"/>
            </a:endParaRPr>
          </a:p>
          <a:p>
            <a:pPr indent="0" lvl="0" marL="13334" rtl="0" algn="l">
              <a:lnSpc>
                <a:spcPct val="100000"/>
              </a:lnSpc>
              <a:spcBef>
                <a:spcPts val="0"/>
              </a:spcBef>
              <a:spcAft>
                <a:spcPts val="0"/>
              </a:spcAft>
              <a:buNone/>
            </a:pPr>
            <a:r>
              <a:rPr lang="en-US" sz="1800">
                <a:highlight>
                  <a:schemeClr val="lt1"/>
                </a:highlight>
                <a:latin typeface="Candara"/>
                <a:ea typeface="Candara"/>
                <a:cs typeface="Candara"/>
                <a:sym typeface="Candara"/>
              </a:rPr>
              <a:t>accountDF</a:t>
            </a:r>
            <a:r>
              <a:rPr lang="en-US" sz="1800">
                <a:solidFill>
                  <a:srgbClr val="3A3A3A"/>
                </a:solidFill>
                <a:highlight>
                  <a:schemeClr val="lt1"/>
                </a:highlight>
                <a:latin typeface="Candara"/>
                <a:ea typeface="Candara"/>
                <a:cs typeface="Candara"/>
                <a:sym typeface="Candara"/>
              </a:rPr>
              <a:t>.write.format(</a:t>
            </a:r>
            <a:r>
              <a:rPr lang="en-US" sz="1800">
                <a:solidFill>
                  <a:srgbClr val="A21414"/>
                </a:solidFill>
                <a:highlight>
                  <a:schemeClr val="lt1"/>
                </a:highlight>
                <a:latin typeface="Candara"/>
                <a:ea typeface="Candara"/>
                <a:cs typeface="Candara"/>
                <a:sym typeface="Candara"/>
              </a:rPr>
              <a:t>"csv"</a:t>
            </a:r>
            <a:r>
              <a:rPr lang="en-US" sz="1800">
                <a:solidFill>
                  <a:srgbClr val="3A3A3A"/>
                </a:solidFill>
                <a:highlight>
                  <a:schemeClr val="lt1"/>
                </a:highlight>
                <a:latin typeface="Candara"/>
                <a:ea typeface="Candara"/>
                <a:cs typeface="Candara"/>
                <a:sym typeface="Candara"/>
              </a:rPr>
              <a:t>).save(</a:t>
            </a:r>
            <a:r>
              <a:rPr lang="en-US" sz="1800">
                <a:solidFill>
                  <a:srgbClr val="A21414"/>
                </a:solidFill>
                <a:highlight>
                  <a:schemeClr val="lt1"/>
                </a:highlight>
                <a:latin typeface="Candara"/>
                <a:ea typeface="Candara"/>
                <a:cs typeface="Candara"/>
                <a:sym typeface="Candara"/>
              </a:rPr>
              <a:t>"path_value"</a:t>
            </a:r>
            <a:r>
              <a:rPr lang="en-US" sz="1800">
                <a:solidFill>
                  <a:srgbClr val="3A3A3A"/>
                </a:solidFill>
                <a:highlight>
                  <a:schemeClr val="lt1"/>
                </a:highlight>
                <a:latin typeface="Candara"/>
                <a:ea typeface="Candara"/>
                <a:cs typeface="Candara"/>
                <a:sym typeface="Candara"/>
              </a:rPr>
              <a:t>)</a:t>
            </a:r>
            <a:endParaRPr sz="1800">
              <a:highlight>
                <a:schemeClr val="lt1"/>
              </a:highlight>
              <a:latin typeface="Candara"/>
              <a:ea typeface="Candara"/>
              <a:cs typeface="Candara"/>
              <a:sym typeface="Candara"/>
            </a:endParaRPr>
          </a:p>
          <a:p>
            <a:pPr indent="0" lvl="0" marL="0" rtl="0" algn="l">
              <a:lnSpc>
                <a:spcPct val="100000"/>
              </a:lnSpc>
              <a:spcBef>
                <a:spcPts val="50"/>
              </a:spcBef>
              <a:spcAft>
                <a:spcPts val="0"/>
              </a:spcAft>
              <a:buNone/>
            </a:pPr>
            <a:r>
              <a:t/>
            </a:r>
            <a:endParaRPr sz="1800">
              <a:latin typeface="Candara"/>
              <a:ea typeface="Candara"/>
              <a:cs typeface="Candara"/>
              <a:sym typeface="Candara"/>
            </a:endParaRPr>
          </a:p>
          <a:p>
            <a:pPr indent="0" lvl="0" marL="13334" marR="5080" rtl="0" algn="l">
              <a:lnSpc>
                <a:spcPct val="100000"/>
              </a:lnSpc>
              <a:spcBef>
                <a:spcPts val="5"/>
              </a:spcBef>
              <a:spcAft>
                <a:spcPts val="0"/>
              </a:spcAft>
              <a:buNone/>
            </a:pPr>
            <a:r>
              <a:rPr lang="en-US" sz="1800">
                <a:solidFill>
                  <a:srgbClr val="008000"/>
                </a:solidFill>
                <a:latin typeface="Candara"/>
                <a:ea typeface="Candara"/>
                <a:cs typeface="Candara"/>
                <a:sym typeface="Candara"/>
              </a:rPr>
              <a:t># Podemos guardarlo en formato tabla para posteriormente utilizar queries para consultarla</a:t>
            </a:r>
            <a:endParaRPr sz="1800">
              <a:solidFill>
                <a:srgbClr val="008000"/>
              </a:solidFill>
              <a:latin typeface="Candara"/>
              <a:ea typeface="Candara"/>
              <a:cs typeface="Candara"/>
              <a:sym typeface="Candara"/>
            </a:endParaRPr>
          </a:p>
          <a:p>
            <a:pPr indent="0" lvl="0" marL="13334" marR="5080" rtl="0" algn="l">
              <a:lnSpc>
                <a:spcPct val="100000"/>
              </a:lnSpc>
              <a:spcBef>
                <a:spcPts val="5"/>
              </a:spcBef>
              <a:spcAft>
                <a:spcPts val="0"/>
              </a:spcAft>
              <a:buNone/>
            </a:pPr>
            <a:r>
              <a:rPr lang="en-US" sz="1800">
                <a:latin typeface="Candara"/>
                <a:ea typeface="Candara"/>
                <a:cs typeface="Candara"/>
                <a:sym typeface="Candara"/>
              </a:rPr>
              <a:t>accountDF</a:t>
            </a:r>
            <a:r>
              <a:rPr lang="en-US" sz="1800">
                <a:solidFill>
                  <a:srgbClr val="3A3A3A"/>
                </a:solidFill>
                <a:latin typeface="Candara"/>
                <a:ea typeface="Candara"/>
                <a:cs typeface="Candara"/>
                <a:sym typeface="Candara"/>
              </a:rPr>
              <a:t>.write.format("parquet").saveAsTable(</a:t>
            </a:r>
            <a:r>
              <a:rPr lang="en-US" sz="1800">
                <a:solidFill>
                  <a:srgbClr val="A21414"/>
                </a:solidFill>
                <a:latin typeface="Candara"/>
                <a:ea typeface="Candara"/>
                <a:cs typeface="Candara"/>
                <a:sym typeface="Candara"/>
              </a:rPr>
              <a:t>"table_name"</a:t>
            </a:r>
            <a:r>
              <a:rPr lang="en-US" sz="1800">
                <a:solidFill>
                  <a:srgbClr val="3A3A3A"/>
                </a:solidFill>
                <a:latin typeface="Candara"/>
                <a:ea typeface="Candara"/>
                <a:cs typeface="Candara"/>
                <a:sym typeface="Candara"/>
              </a:rPr>
              <a:t>)</a:t>
            </a:r>
            <a:endParaRPr sz="1800">
              <a:latin typeface="Candara"/>
              <a:ea typeface="Candara"/>
              <a:cs typeface="Candara"/>
              <a:sym typeface="Candara"/>
            </a:endParaRPr>
          </a:p>
        </p:txBody>
      </p:sp>
      <p:sp>
        <p:nvSpPr>
          <p:cNvPr id="246" name="Google Shape;246;p26"/>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247" name="Google Shape;247;p26"/>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7"/>
          <p:cNvSpPr txBox="1"/>
          <p:nvPr>
            <p:ph type="title"/>
          </p:nvPr>
        </p:nvSpPr>
        <p:spPr>
          <a:xfrm>
            <a:off x="2148921" y="371610"/>
            <a:ext cx="7633800" cy="506100"/>
          </a:xfrm>
          <a:prstGeom prst="rect">
            <a:avLst/>
          </a:prstGeom>
          <a:noFill/>
          <a:ln>
            <a:noFill/>
          </a:ln>
        </p:spPr>
        <p:txBody>
          <a:bodyPr anchorCtr="0" anchor="t" bIns="0" lIns="0" spcFirstLastPara="1" rIns="0" wrap="square" tIns="13325">
            <a:spAutoFit/>
          </a:bodyPr>
          <a:lstStyle/>
          <a:p>
            <a:pPr indent="0" lvl="0" marL="2041525" rtl="0" algn="l">
              <a:lnSpc>
                <a:spcPct val="100000"/>
              </a:lnSpc>
              <a:spcBef>
                <a:spcPts val="0"/>
              </a:spcBef>
              <a:spcAft>
                <a:spcPts val="0"/>
              </a:spcAft>
              <a:buNone/>
            </a:pPr>
            <a:r>
              <a:rPr lang="en-US">
                <a:latin typeface="Candara"/>
                <a:ea typeface="Candara"/>
                <a:cs typeface="Candara"/>
                <a:sym typeface="Candara"/>
              </a:rPr>
              <a:t>Proyecciones y Filtros</a:t>
            </a:r>
            <a:endParaRPr/>
          </a:p>
        </p:txBody>
      </p:sp>
      <p:sp>
        <p:nvSpPr>
          <p:cNvPr id="253" name="Google Shape;253;p27"/>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254" name="Google Shape;254;p27"/>
          <p:cNvSpPr txBox="1"/>
          <p:nvPr/>
        </p:nvSpPr>
        <p:spPr>
          <a:xfrm>
            <a:off x="812801" y="1478400"/>
            <a:ext cx="10931100" cy="3357600"/>
          </a:xfrm>
          <a:prstGeom prst="rect">
            <a:avLst/>
          </a:prstGeom>
          <a:noFill/>
          <a:ln>
            <a:noFill/>
          </a:ln>
        </p:spPr>
        <p:txBody>
          <a:bodyPr anchorCtr="0" anchor="t" bIns="0" lIns="0" spcFirstLastPara="1" rIns="0" wrap="square" tIns="12700">
            <a:spAutoFit/>
          </a:bodyPr>
          <a:lstStyle/>
          <a:p>
            <a:pPr indent="0" lvl="0" marL="12700" marR="4017009" rtl="0" algn="l">
              <a:lnSpc>
                <a:spcPct val="100000"/>
              </a:lnSpc>
              <a:spcBef>
                <a:spcPts val="0"/>
              </a:spcBef>
              <a:spcAft>
                <a:spcPts val="0"/>
              </a:spcAft>
              <a:buNone/>
            </a:pPr>
            <a:r>
              <a:rPr lang="en-US" sz="1800">
                <a:solidFill>
                  <a:srgbClr val="008000"/>
                </a:solidFill>
                <a:latin typeface="Consolas"/>
                <a:ea typeface="Consolas"/>
                <a:cs typeface="Consolas"/>
                <a:sym typeface="Consolas"/>
              </a:rPr>
              <a:t># Proyecciones = select() -&gt; afecta a las </a:t>
            </a:r>
            <a:r>
              <a:rPr lang="en-US" sz="1800">
                <a:solidFill>
                  <a:srgbClr val="008000"/>
                </a:solidFill>
                <a:latin typeface="Consolas"/>
                <a:ea typeface="Consolas"/>
                <a:cs typeface="Consolas"/>
                <a:sym typeface="Consolas"/>
              </a:rPr>
              <a:t>COLUMNAS</a:t>
            </a:r>
            <a:r>
              <a:rPr lang="en-US" sz="1800">
                <a:solidFill>
                  <a:srgbClr val="008000"/>
                </a:solidFill>
                <a:latin typeface="Consolas"/>
                <a:ea typeface="Consolas"/>
                <a:cs typeface="Consolas"/>
                <a:sym typeface="Consolas"/>
              </a:rPr>
              <a:t> </a:t>
            </a:r>
            <a:r>
              <a:rPr lang="en-US" sz="1800">
                <a:latin typeface="Consolas"/>
                <a:ea typeface="Consolas"/>
                <a:cs typeface="Consolas"/>
                <a:sym typeface="Consolas"/>
              </a:rPr>
              <a:t>newDF = accountDF.select(</a:t>
            </a:r>
            <a:r>
              <a:rPr lang="en-US" sz="1800">
                <a:solidFill>
                  <a:srgbClr val="A21414"/>
                </a:solidFill>
                <a:latin typeface="Consolas"/>
                <a:ea typeface="Consolas"/>
                <a:cs typeface="Consolas"/>
                <a:sym typeface="Consolas"/>
              </a:rPr>
              <a:t>"</a:t>
            </a:r>
            <a:r>
              <a:rPr lang="en-US" sz="1800">
                <a:solidFill>
                  <a:srgbClr val="A21414"/>
                </a:solidFill>
                <a:latin typeface="Consolas"/>
                <a:ea typeface="Consolas"/>
                <a:cs typeface="Consolas"/>
                <a:sym typeface="Consolas"/>
              </a:rPr>
              <a:t>col_name 1</a:t>
            </a:r>
            <a:r>
              <a:rPr lang="en-US" sz="1800">
                <a:solidFill>
                  <a:srgbClr val="A21414"/>
                </a:solidFill>
                <a:latin typeface="Consolas"/>
                <a:ea typeface="Consolas"/>
                <a:cs typeface="Consolas"/>
                <a:sym typeface="Consolas"/>
              </a:rPr>
              <a:t>"</a:t>
            </a:r>
            <a:r>
              <a:rPr lang="en-US" sz="1800">
                <a:latin typeface="Consolas"/>
                <a:ea typeface="Consolas"/>
                <a:cs typeface="Consolas"/>
                <a:sym typeface="Consolas"/>
              </a:rPr>
              <a:t>, </a:t>
            </a:r>
            <a:r>
              <a:rPr lang="en-US" sz="1800">
                <a:solidFill>
                  <a:srgbClr val="A21414"/>
                </a:solidFill>
                <a:latin typeface="Consolas"/>
                <a:ea typeface="Consolas"/>
                <a:cs typeface="Consolas"/>
                <a:sym typeface="Consolas"/>
              </a:rPr>
              <a:t>"</a:t>
            </a:r>
            <a:r>
              <a:rPr lang="en-US" sz="1800">
                <a:solidFill>
                  <a:srgbClr val="A21414"/>
                </a:solidFill>
                <a:latin typeface="Consolas"/>
                <a:ea typeface="Consolas"/>
                <a:cs typeface="Consolas"/>
                <a:sym typeface="Consolas"/>
              </a:rPr>
              <a:t>col_name 2</a:t>
            </a:r>
            <a:r>
              <a:rPr lang="en-US" sz="1800">
                <a:solidFill>
                  <a:srgbClr val="A21414"/>
                </a:solidFill>
                <a:latin typeface="Consolas"/>
                <a:ea typeface="Consolas"/>
                <a:cs typeface="Consolas"/>
                <a:sym typeface="Consolas"/>
              </a:rPr>
              <a:t>"</a:t>
            </a:r>
            <a:r>
              <a:rPr lang="en-US"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50"/>
              </a:spcBef>
              <a:spcAft>
                <a:spcPts val="0"/>
              </a:spcAft>
              <a:buNone/>
            </a:pPr>
            <a:r>
              <a:t/>
            </a:r>
            <a:endParaRPr sz="1800">
              <a:latin typeface="Consolas"/>
              <a:ea typeface="Consolas"/>
              <a:cs typeface="Consolas"/>
              <a:sym typeface="Consolas"/>
            </a:endParaRPr>
          </a:p>
          <a:p>
            <a:pPr indent="0" lvl="0" marL="12700" marR="5080" rtl="0" algn="l">
              <a:lnSpc>
                <a:spcPct val="100000"/>
              </a:lnSpc>
              <a:spcBef>
                <a:spcPts val="0"/>
              </a:spcBef>
              <a:spcAft>
                <a:spcPts val="0"/>
              </a:spcAft>
              <a:buNone/>
            </a:pPr>
            <a:r>
              <a:rPr lang="en-US" sz="1800">
                <a:solidFill>
                  <a:srgbClr val="008000"/>
                </a:solidFill>
                <a:latin typeface="Consolas"/>
                <a:ea typeface="Consolas"/>
                <a:cs typeface="Consolas"/>
                <a:sym typeface="Consolas"/>
              </a:rPr>
              <a:t># drop() es el opuesto del select() -&gt; las columnas pasadas como argumento se eliminan </a:t>
            </a:r>
            <a:endParaRPr sz="1800">
              <a:solidFill>
                <a:srgbClr val="008000"/>
              </a:solidFill>
              <a:latin typeface="Consolas"/>
              <a:ea typeface="Consolas"/>
              <a:cs typeface="Consolas"/>
              <a:sym typeface="Consolas"/>
            </a:endParaRPr>
          </a:p>
          <a:p>
            <a:pPr indent="0" lvl="0" marL="12700" marR="5080" rtl="0" algn="l">
              <a:lnSpc>
                <a:spcPct val="100000"/>
              </a:lnSpc>
              <a:spcBef>
                <a:spcPts val="0"/>
              </a:spcBef>
              <a:spcAft>
                <a:spcPts val="0"/>
              </a:spcAft>
              <a:buNone/>
            </a:pPr>
            <a:r>
              <a:rPr lang="en-US" sz="1800">
                <a:latin typeface="Consolas"/>
                <a:ea typeface="Consolas"/>
                <a:cs typeface="Consolas"/>
                <a:sym typeface="Consolas"/>
              </a:rPr>
              <a:t>newDF = accountDF.drop(</a:t>
            </a:r>
            <a:r>
              <a:rPr lang="en-US" sz="1800">
                <a:solidFill>
                  <a:srgbClr val="A21414"/>
                </a:solidFill>
                <a:latin typeface="Consolas"/>
                <a:ea typeface="Consolas"/>
                <a:cs typeface="Consolas"/>
                <a:sym typeface="Consolas"/>
              </a:rPr>
              <a:t>"col_name"</a:t>
            </a:r>
            <a:r>
              <a:rPr lang="en-US"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0"/>
              </a:spcBef>
              <a:spcAft>
                <a:spcPts val="0"/>
              </a:spcAft>
              <a:buNone/>
            </a:pPr>
            <a:r>
              <a:t/>
            </a:r>
            <a:endParaRPr sz="1800">
              <a:latin typeface="Consolas"/>
              <a:ea typeface="Consolas"/>
              <a:cs typeface="Consolas"/>
              <a:sym typeface="Consolas"/>
            </a:endParaRPr>
          </a:p>
          <a:p>
            <a:pPr indent="0" lvl="0" marL="0" rtl="0" algn="l">
              <a:lnSpc>
                <a:spcPct val="100000"/>
              </a:lnSpc>
              <a:spcBef>
                <a:spcPts val="105"/>
              </a:spcBef>
              <a:spcAft>
                <a:spcPts val="0"/>
              </a:spcAft>
              <a:buNone/>
            </a:pPr>
            <a:r>
              <a:t/>
            </a:r>
            <a:endParaRPr sz="1800">
              <a:latin typeface="Consolas"/>
              <a:ea typeface="Consolas"/>
              <a:cs typeface="Consolas"/>
              <a:sym typeface="Consolas"/>
            </a:endParaRPr>
          </a:p>
          <a:p>
            <a:pPr indent="-635" lvl="0" marL="12700" marR="4141470" rtl="0" algn="l">
              <a:lnSpc>
                <a:spcPct val="100000"/>
              </a:lnSpc>
              <a:spcBef>
                <a:spcPts val="0"/>
              </a:spcBef>
              <a:spcAft>
                <a:spcPts val="0"/>
              </a:spcAft>
              <a:buNone/>
            </a:pPr>
            <a:r>
              <a:rPr lang="en-US" sz="1800">
                <a:solidFill>
                  <a:srgbClr val="008000"/>
                </a:solidFill>
                <a:latin typeface="Consolas"/>
                <a:ea typeface="Consolas"/>
                <a:cs typeface="Consolas"/>
                <a:sym typeface="Consolas"/>
              </a:rPr>
              <a:t># Filtros = filter() o where() -&gt; afecta a FILAS </a:t>
            </a:r>
            <a:r>
              <a:rPr lang="en-US" sz="1800">
                <a:latin typeface="Consolas"/>
                <a:ea typeface="Consolas"/>
                <a:cs typeface="Consolas"/>
                <a:sym typeface="Consolas"/>
              </a:rPr>
              <a:t>newDF = accountDF.filter(col(</a:t>
            </a:r>
            <a:r>
              <a:rPr lang="en-US" sz="1800">
                <a:solidFill>
                  <a:srgbClr val="A21414"/>
                </a:solidFill>
                <a:latin typeface="Consolas"/>
                <a:ea typeface="Consolas"/>
                <a:cs typeface="Consolas"/>
                <a:sym typeface="Consolas"/>
              </a:rPr>
              <a:t>"col_name"</a:t>
            </a:r>
            <a:r>
              <a:rPr lang="en-US" sz="1800">
                <a:latin typeface="Consolas"/>
                <a:ea typeface="Consolas"/>
                <a:cs typeface="Consolas"/>
                <a:sym typeface="Consolas"/>
              </a:rPr>
              <a:t>) &gt; </a:t>
            </a:r>
            <a:r>
              <a:rPr lang="en-US" sz="1800">
                <a:solidFill>
                  <a:srgbClr val="088557"/>
                </a:solidFill>
                <a:latin typeface="Consolas"/>
                <a:ea typeface="Consolas"/>
                <a:cs typeface="Consolas"/>
                <a:sym typeface="Consolas"/>
              </a:rPr>
              <a:t>800</a:t>
            </a:r>
            <a:r>
              <a:rPr lang="en-US" sz="1800">
                <a:latin typeface="Consolas"/>
                <a:ea typeface="Consolas"/>
                <a:cs typeface="Consolas"/>
                <a:sym typeface="Consolas"/>
              </a:rPr>
              <a:t>)</a:t>
            </a:r>
            <a:endParaRPr sz="1800">
              <a:latin typeface="Consolas"/>
              <a:ea typeface="Consolas"/>
              <a:cs typeface="Consolas"/>
              <a:sym typeface="Consolas"/>
            </a:endParaRPr>
          </a:p>
          <a:p>
            <a:pPr indent="0" lvl="0" marL="12700" marR="883919" rtl="0" algn="l">
              <a:lnSpc>
                <a:spcPct val="200000"/>
              </a:lnSpc>
              <a:spcBef>
                <a:spcPts val="0"/>
              </a:spcBef>
              <a:spcAft>
                <a:spcPts val="0"/>
              </a:spcAft>
              <a:buNone/>
            </a:pPr>
            <a:r>
              <a:rPr lang="en-US" sz="1800">
                <a:latin typeface="Consolas"/>
                <a:ea typeface="Consolas"/>
                <a:cs typeface="Consolas"/>
                <a:sym typeface="Consolas"/>
              </a:rPr>
              <a:t>newDF = accountDF.filter((col(</a:t>
            </a:r>
            <a:r>
              <a:rPr lang="en-US" sz="1800">
                <a:solidFill>
                  <a:srgbClr val="A21414"/>
                </a:solidFill>
                <a:latin typeface="Consolas"/>
                <a:ea typeface="Consolas"/>
                <a:cs typeface="Consolas"/>
                <a:sym typeface="Consolas"/>
              </a:rPr>
              <a:t>"col_name"</a:t>
            </a:r>
            <a:r>
              <a:rPr lang="en-US" sz="1800">
                <a:latin typeface="Consolas"/>
                <a:ea typeface="Consolas"/>
                <a:cs typeface="Consolas"/>
                <a:sym typeface="Consolas"/>
              </a:rPr>
              <a:t>) &gt; </a:t>
            </a:r>
            <a:r>
              <a:rPr lang="en-US" sz="1800">
                <a:solidFill>
                  <a:srgbClr val="088557"/>
                </a:solidFill>
                <a:latin typeface="Consolas"/>
                <a:ea typeface="Consolas"/>
                <a:cs typeface="Consolas"/>
                <a:sym typeface="Consolas"/>
              </a:rPr>
              <a:t>800</a:t>
            </a:r>
            <a:r>
              <a:rPr lang="en-US" sz="1800">
                <a:latin typeface="Consolas"/>
                <a:ea typeface="Consolas"/>
                <a:cs typeface="Consolas"/>
                <a:sym typeface="Consolas"/>
              </a:rPr>
              <a:t>) &amp; (col(</a:t>
            </a:r>
            <a:r>
              <a:rPr lang="en-US" sz="1800">
                <a:solidFill>
                  <a:srgbClr val="A21414"/>
                </a:solidFill>
                <a:latin typeface="Consolas"/>
                <a:ea typeface="Consolas"/>
                <a:cs typeface="Consolas"/>
                <a:sym typeface="Consolas"/>
              </a:rPr>
              <a:t>"col_name"</a:t>
            </a:r>
            <a:r>
              <a:rPr lang="en-US" sz="1800">
                <a:latin typeface="Consolas"/>
                <a:ea typeface="Consolas"/>
                <a:cs typeface="Consolas"/>
                <a:sym typeface="Consolas"/>
              </a:rPr>
              <a:t>) &lt; </a:t>
            </a:r>
            <a:r>
              <a:rPr lang="en-US" sz="1800">
                <a:solidFill>
                  <a:srgbClr val="088557"/>
                </a:solidFill>
                <a:latin typeface="Consolas"/>
                <a:ea typeface="Consolas"/>
                <a:cs typeface="Consolas"/>
                <a:sym typeface="Consolas"/>
              </a:rPr>
              <a:t>900</a:t>
            </a:r>
            <a:r>
              <a:rPr lang="en-US" sz="1800">
                <a:latin typeface="Consolas"/>
                <a:ea typeface="Consolas"/>
                <a:cs typeface="Consolas"/>
                <a:sym typeface="Consolas"/>
              </a:rPr>
              <a:t>)) newDF = accountDF.where(col(</a:t>
            </a:r>
            <a:r>
              <a:rPr lang="en-US" sz="1800">
                <a:solidFill>
                  <a:srgbClr val="A21414"/>
                </a:solidFill>
                <a:latin typeface="Consolas"/>
                <a:ea typeface="Consolas"/>
                <a:cs typeface="Consolas"/>
                <a:sym typeface="Consolas"/>
              </a:rPr>
              <a:t>"col_name"</a:t>
            </a:r>
            <a:r>
              <a:rPr lang="en-US" sz="1800">
                <a:latin typeface="Consolas"/>
                <a:ea typeface="Consolas"/>
                <a:cs typeface="Consolas"/>
                <a:sym typeface="Consolas"/>
              </a:rPr>
              <a:t>) &gt; </a:t>
            </a:r>
            <a:r>
              <a:rPr lang="en-US" sz="1800">
                <a:solidFill>
                  <a:srgbClr val="088557"/>
                </a:solidFill>
                <a:latin typeface="Consolas"/>
                <a:ea typeface="Consolas"/>
                <a:cs typeface="Consolas"/>
                <a:sym typeface="Consolas"/>
              </a:rPr>
              <a:t>800</a:t>
            </a:r>
            <a:r>
              <a:rPr lang="en-US" sz="1800">
                <a:latin typeface="Consolas"/>
                <a:ea typeface="Consolas"/>
                <a:cs typeface="Consolas"/>
                <a:sym typeface="Consolas"/>
              </a:rPr>
              <a:t>)</a:t>
            </a:r>
            <a:endParaRPr sz="1800">
              <a:latin typeface="Consolas"/>
              <a:ea typeface="Consolas"/>
              <a:cs typeface="Consolas"/>
              <a:sym typeface="Consolas"/>
            </a:endParaRPr>
          </a:p>
        </p:txBody>
      </p:sp>
      <p:sp>
        <p:nvSpPr>
          <p:cNvPr id="255" name="Google Shape;255;p27"/>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nvSpPr>
        <p:spPr>
          <a:xfrm>
            <a:off x="1035125" y="1617240"/>
            <a:ext cx="20307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ndara"/>
                <a:ea typeface="Candara"/>
                <a:cs typeface="Candara"/>
                <a:sym typeface="Candara"/>
              </a:rPr>
              <a:t>accountDF.</a:t>
            </a:r>
            <a:r>
              <a:rPr lang="en-US" sz="1800">
                <a:latin typeface="Candara"/>
                <a:ea typeface="Candara"/>
                <a:cs typeface="Candara"/>
                <a:sym typeface="Candara"/>
              </a:rPr>
              <a:t>show</a:t>
            </a:r>
            <a:r>
              <a:rPr lang="en-US" sz="1800">
                <a:latin typeface="Candara"/>
                <a:ea typeface="Candara"/>
                <a:cs typeface="Candara"/>
                <a:sym typeface="Candara"/>
              </a:rPr>
              <a:t>()</a:t>
            </a:r>
            <a:endParaRPr sz="1800">
              <a:latin typeface="Candara"/>
              <a:ea typeface="Candara"/>
              <a:cs typeface="Candara"/>
              <a:sym typeface="Candara"/>
            </a:endParaRPr>
          </a:p>
        </p:txBody>
      </p:sp>
      <p:sp>
        <p:nvSpPr>
          <p:cNvPr id="261" name="Google Shape;261;p28"/>
          <p:cNvSpPr txBox="1"/>
          <p:nvPr/>
        </p:nvSpPr>
        <p:spPr>
          <a:xfrm>
            <a:off x="952700" y="4572000"/>
            <a:ext cx="5979900" cy="567000"/>
          </a:xfrm>
          <a:prstGeom prst="rect">
            <a:avLst/>
          </a:prstGeom>
          <a:noFill/>
          <a:ln>
            <a:noFill/>
          </a:ln>
        </p:spPr>
        <p:txBody>
          <a:bodyPr anchorCtr="0" anchor="t" bIns="0" lIns="0" spcFirstLastPara="1" rIns="0" wrap="square" tIns="12700">
            <a:spAutoFit/>
          </a:bodyPr>
          <a:lstStyle/>
          <a:p>
            <a:pPr indent="-635" lvl="0" marL="12700" marR="5080" rtl="0" algn="l">
              <a:lnSpc>
                <a:spcPct val="100000"/>
              </a:lnSpc>
              <a:spcBef>
                <a:spcPts val="0"/>
              </a:spcBef>
              <a:spcAft>
                <a:spcPts val="0"/>
              </a:spcAft>
              <a:buNone/>
            </a:pPr>
            <a:r>
              <a:rPr lang="en-US" sz="1800">
                <a:latin typeface="Candara"/>
                <a:ea typeface="Candara"/>
                <a:cs typeface="Candara"/>
                <a:sym typeface="Candara"/>
              </a:rPr>
              <a:t>accountDF2 = accountDF.select(</a:t>
            </a:r>
            <a:r>
              <a:rPr lang="en-US" sz="1800">
                <a:solidFill>
                  <a:srgbClr val="A21414"/>
                </a:solidFill>
                <a:latin typeface="Candara"/>
                <a:ea typeface="Candara"/>
                <a:cs typeface="Candara"/>
                <a:sym typeface="Candara"/>
              </a:rPr>
              <a:t>"first_name"</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"available"</a:t>
            </a:r>
            <a:r>
              <a:rPr lang="en-US" sz="1800">
                <a:latin typeface="Candara"/>
                <a:ea typeface="Candara"/>
                <a:cs typeface="Candara"/>
                <a:sym typeface="Candara"/>
              </a:rPr>
              <a:t>) accountDF2.show()</a:t>
            </a:r>
            <a:endParaRPr sz="1800">
              <a:latin typeface="Candara"/>
              <a:ea typeface="Candara"/>
              <a:cs typeface="Candara"/>
              <a:sym typeface="Candara"/>
            </a:endParaRPr>
          </a:p>
        </p:txBody>
      </p:sp>
      <p:sp>
        <p:nvSpPr>
          <p:cNvPr id="262" name="Google Shape;262;p28"/>
          <p:cNvSpPr txBox="1"/>
          <p:nvPr/>
        </p:nvSpPr>
        <p:spPr>
          <a:xfrm>
            <a:off x="3625638" y="1423850"/>
            <a:ext cx="8414100" cy="843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latin typeface="Candara"/>
                <a:ea typeface="Candara"/>
                <a:cs typeface="Candara"/>
                <a:sym typeface="Candara"/>
              </a:rPr>
              <a:t>accountDF3 = </a:t>
            </a:r>
            <a:r>
              <a:rPr lang="en-US" sz="1800">
                <a:latin typeface="Candara"/>
                <a:ea typeface="Candara"/>
                <a:cs typeface="Candara"/>
                <a:sym typeface="Candara"/>
              </a:rPr>
              <a:t>accountDF</a:t>
            </a:r>
            <a:r>
              <a:rPr lang="en-US" sz="1800">
                <a:solidFill>
                  <a:schemeClr val="dk1"/>
                </a:solidFill>
                <a:highlight>
                  <a:srgbClr val="FFFFFF"/>
                </a:highlight>
                <a:latin typeface="Candara"/>
                <a:ea typeface="Candara"/>
                <a:cs typeface="Candara"/>
                <a:sym typeface="Candara"/>
              </a:rPr>
              <a:t>.</a:t>
            </a:r>
            <a:r>
              <a:rPr lang="en-US" sz="1800">
                <a:solidFill>
                  <a:srgbClr val="6A5221"/>
                </a:solidFill>
                <a:highlight>
                  <a:srgbClr val="FFFFFF"/>
                </a:highlight>
                <a:latin typeface="Candara"/>
                <a:ea typeface="Candara"/>
                <a:cs typeface="Candara"/>
                <a:sym typeface="Candara"/>
              </a:rPr>
              <a:t>filter</a:t>
            </a:r>
            <a:r>
              <a:rPr lang="en-US" sz="1800">
                <a:solidFill>
                  <a:schemeClr val="dk1"/>
                </a:solidFill>
                <a:highlight>
                  <a:srgbClr val="FFFFFF"/>
                </a:highlight>
                <a:latin typeface="Candara"/>
                <a:ea typeface="Candara"/>
                <a:cs typeface="Candara"/>
                <a:sym typeface="Candara"/>
              </a:rPr>
              <a:t>((</a:t>
            </a:r>
            <a:r>
              <a:rPr lang="en-US" sz="1800">
                <a:solidFill>
                  <a:schemeClr val="dk1"/>
                </a:solidFill>
                <a:latin typeface="Candara"/>
                <a:ea typeface="Candara"/>
                <a:cs typeface="Candara"/>
                <a:sym typeface="Candara"/>
              </a:rPr>
              <a:t>accountDF</a:t>
            </a:r>
            <a:r>
              <a:rPr lang="en-US" sz="1800">
                <a:solidFill>
                  <a:schemeClr val="dk1"/>
                </a:solidFill>
                <a:highlight>
                  <a:srgbClr val="FFFFFF"/>
                </a:highlight>
                <a:latin typeface="Candara"/>
                <a:ea typeface="Candara"/>
                <a:cs typeface="Candara"/>
                <a:sym typeface="Candara"/>
              </a:rPr>
              <a:t>[</a:t>
            </a:r>
            <a:r>
              <a:rPr lang="en-US" sz="1800">
                <a:solidFill>
                  <a:srgbClr val="A31515"/>
                </a:solidFill>
                <a:highlight>
                  <a:srgbClr val="FFFFFF"/>
                </a:highlight>
                <a:latin typeface="Candara"/>
                <a:ea typeface="Candara"/>
                <a:cs typeface="Candara"/>
                <a:sym typeface="Candara"/>
              </a:rPr>
              <a:t>"available"</a:t>
            </a:r>
            <a:r>
              <a:rPr lang="en-US" sz="1800">
                <a:solidFill>
                  <a:schemeClr val="dk1"/>
                </a:solidFill>
                <a:highlight>
                  <a:srgbClr val="FFFFFF"/>
                </a:highlight>
                <a:latin typeface="Candara"/>
                <a:ea typeface="Candara"/>
                <a:cs typeface="Candara"/>
                <a:sym typeface="Candara"/>
              </a:rPr>
              <a:t>]) &amp; (</a:t>
            </a:r>
            <a:r>
              <a:rPr lang="en-US" sz="1800">
                <a:solidFill>
                  <a:schemeClr val="dk1"/>
                </a:solidFill>
                <a:latin typeface="Candara"/>
                <a:ea typeface="Candara"/>
                <a:cs typeface="Candara"/>
                <a:sym typeface="Candara"/>
              </a:rPr>
              <a:t>accountDF</a:t>
            </a:r>
            <a:r>
              <a:rPr lang="en-US" sz="1800">
                <a:solidFill>
                  <a:schemeClr val="dk1"/>
                </a:solidFill>
                <a:highlight>
                  <a:srgbClr val="FFFFFF"/>
                </a:highlight>
                <a:latin typeface="Candara"/>
                <a:ea typeface="Candara"/>
                <a:cs typeface="Candara"/>
                <a:sym typeface="Candara"/>
              </a:rPr>
              <a:t>[</a:t>
            </a:r>
            <a:r>
              <a:rPr lang="en-US" sz="1800">
                <a:solidFill>
                  <a:srgbClr val="A31515"/>
                </a:solidFill>
                <a:highlight>
                  <a:srgbClr val="FFFFFF"/>
                </a:highlight>
                <a:latin typeface="Candara"/>
                <a:ea typeface="Candara"/>
                <a:cs typeface="Candara"/>
                <a:sym typeface="Candara"/>
              </a:rPr>
              <a:t>"debt"</a:t>
            </a:r>
            <a:r>
              <a:rPr lang="en-US" sz="1800">
                <a:solidFill>
                  <a:schemeClr val="dk1"/>
                </a:solidFill>
                <a:highlight>
                  <a:srgbClr val="FFFFFF"/>
                </a:highlight>
                <a:latin typeface="Candara"/>
                <a:ea typeface="Candara"/>
                <a:cs typeface="Candara"/>
                <a:sym typeface="Candara"/>
              </a:rPr>
              <a:t>] &lt; </a:t>
            </a:r>
            <a:r>
              <a:rPr lang="en-US" sz="1800">
                <a:solidFill>
                  <a:srgbClr val="116644"/>
                </a:solidFill>
                <a:highlight>
                  <a:srgbClr val="FFFFFF"/>
                </a:highlight>
                <a:latin typeface="Candara"/>
                <a:ea typeface="Candara"/>
                <a:cs typeface="Candara"/>
                <a:sym typeface="Candara"/>
              </a:rPr>
              <a:t>300</a:t>
            </a:r>
            <a:r>
              <a:rPr lang="en-US" sz="1800">
                <a:solidFill>
                  <a:schemeClr val="dk1"/>
                </a:solidFill>
                <a:highlight>
                  <a:srgbClr val="FFFFFF"/>
                </a:highlight>
                <a:latin typeface="Candara"/>
                <a:ea typeface="Candara"/>
                <a:cs typeface="Candara"/>
                <a:sym typeface="Candara"/>
              </a:rPr>
              <a:t>))</a:t>
            </a:r>
            <a:endParaRPr sz="1800">
              <a:solidFill>
                <a:schemeClr val="dk1"/>
              </a:solidFill>
              <a:highlight>
                <a:srgbClr val="FFFFFF"/>
              </a:highlight>
              <a:latin typeface="Candara"/>
              <a:ea typeface="Candara"/>
              <a:cs typeface="Candara"/>
              <a:sym typeface="Candara"/>
            </a:endParaRPr>
          </a:p>
          <a:p>
            <a:pPr indent="0" lvl="0" marL="12700" rtl="0" algn="l">
              <a:spcBef>
                <a:spcPts val="0"/>
              </a:spcBef>
              <a:spcAft>
                <a:spcPts val="0"/>
              </a:spcAft>
              <a:buClr>
                <a:schemeClr val="dk1"/>
              </a:buClr>
              <a:buFont typeface="Arial"/>
              <a:buNone/>
            </a:pPr>
            <a:r>
              <a:rPr lang="en-US" sz="1800">
                <a:solidFill>
                  <a:schemeClr val="dk1"/>
                </a:solidFill>
                <a:latin typeface="Candara"/>
                <a:ea typeface="Candara"/>
                <a:cs typeface="Candara"/>
                <a:sym typeface="Candara"/>
              </a:rPr>
              <a:t>accountDF3.show()</a:t>
            </a:r>
            <a:endParaRPr sz="1800">
              <a:solidFill>
                <a:schemeClr val="dk1"/>
              </a:solidFill>
              <a:highlight>
                <a:srgbClr val="FFFFFF"/>
              </a:highlight>
              <a:latin typeface="Candara"/>
              <a:ea typeface="Candara"/>
              <a:cs typeface="Candara"/>
              <a:sym typeface="Candara"/>
            </a:endParaRPr>
          </a:p>
          <a:p>
            <a:pPr indent="0" lvl="0" marL="12700" rtl="0" algn="l">
              <a:lnSpc>
                <a:spcPct val="100000"/>
              </a:lnSpc>
              <a:spcBef>
                <a:spcPts val="0"/>
              </a:spcBef>
              <a:spcAft>
                <a:spcPts val="0"/>
              </a:spcAft>
              <a:buNone/>
            </a:pPr>
            <a:r>
              <a:t/>
            </a:r>
            <a:endParaRPr sz="1800">
              <a:latin typeface="Candara"/>
              <a:ea typeface="Candara"/>
              <a:cs typeface="Candara"/>
              <a:sym typeface="Candara"/>
            </a:endParaRPr>
          </a:p>
        </p:txBody>
      </p:sp>
      <p:sp>
        <p:nvSpPr>
          <p:cNvPr id="263" name="Google Shape;263;p28"/>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264" name="Google Shape;264;p28"/>
          <p:cNvSpPr txBox="1"/>
          <p:nvPr>
            <p:ph type="title"/>
          </p:nvPr>
        </p:nvSpPr>
        <p:spPr>
          <a:xfrm>
            <a:off x="3143700" y="543500"/>
            <a:ext cx="59046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Ejemplo de </a:t>
            </a:r>
            <a:r>
              <a:rPr lang="en-US">
                <a:latin typeface="Candara"/>
                <a:ea typeface="Candara"/>
                <a:cs typeface="Candara"/>
                <a:sym typeface="Candara"/>
              </a:rPr>
              <a:t>Proyecciones y Filtros</a:t>
            </a:r>
            <a:endParaRPr/>
          </a:p>
        </p:txBody>
      </p:sp>
      <p:pic>
        <p:nvPicPr>
          <p:cNvPr id="265" name="Google Shape;265;p28" title="Captura de pantalla 2025-11-18 a las 16.23.53.png"/>
          <p:cNvPicPr preferRelativeResize="0"/>
          <p:nvPr/>
        </p:nvPicPr>
        <p:blipFill>
          <a:blip r:embed="rId3">
            <a:alphaModFix/>
          </a:blip>
          <a:stretch>
            <a:fillRect/>
          </a:stretch>
        </p:blipFill>
        <p:spPr>
          <a:xfrm>
            <a:off x="671950" y="2015672"/>
            <a:ext cx="2757050" cy="2127353"/>
          </a:xfrm>
          <a:prstGeom prst="rect">
            <a:avLst/>
          </a:prstGeom>
          <a:noFill/>
          <a:ln>
            <a:noFill/>
          </a:ln>
        </p:spPr>
      </p:pic>
      <p:pic>
        <p:nvPicPr>
          <p:cNvPr id="266" name="Google Shape;266;p28" title="Captura de pantalla 2025-11-18 a las 16.24.59.png"/>
          <p:cNvPicPr preferRelativeResize="0"/>
          <p:nvPr/>
        </p:nvPicPr>
        <p:blipFill>
          <a:blip r:embed="rId4">
            <a:alphaModFix/>
          </a:blip>
          <a:stretch>
            <a:fillRect/>
          </a:stretch>
        </p:blipFill>
        <p:spPr>
          <a:xfrm>
            <a:off x="7506400" y="3713880"/>
            <a:ext cx="1924050" cy="2381250"/>
          </a:xfrm>
          <a:prstGeom prst="rect">
            <a:avLst/>
          </a:prstGeom>
          <a:noFill/>
          <a:ln>
            <a:noFill/>
          </a:ln>
        </p:spPr>
      </p:pic>
      <p:pic>
        <p:nvPicPr>
          <p:cNvPr id="267" name="Google Shape;267;p28" title="Captura de pantalla 2025-11-18 a las 16.28.34.png"/>
          <p:cNvPicPr preferRelativeResize="0"/>
          <p:nvPr/>
        </p:nvPicPr>
        <p:blipFill>
          <a:blip r:embed="rId5">
            <a:alphaModFix/>
          </a:blip>
          <a:stretch>
            <a:fillRect/>
          </a:stretch>
        </p:blipFill>
        <p:spPr>
          <a:xfrm>
            <a:off x="6370600" y="2392850"/>
            <a:ext cx="2924175" cy="1047750"/>
          </a:xfrm>
          <a:prstGeom prst="rect">
            <a:avLst/>
          </a:prstGeom>
          <a:noFill/>
          <a:ln>
            <a:noFill/>
          </a:ln>
        </p:spPr>
      </p:pic>
      <p:grpSp>
        <p:nvGrpSpPr>
          <p:cNvPr id="268" name="Google Shape;268;p28"/>
          <p:cNvGrpSpPr/>
          <p:nvPr/>
        </p:nvGrpSpPr>
        <p:grpSpPr>
          <a:xfrm>
            <a:off x="7712045" y="1907052"/>
            <a:ext cx="241300" cy="314326"/>
            <a:chOff x="5341620" y="1863852"/>
            <a:chExt cx="241300" cy="314326"/>
          </a:xfrm>
        </p:grpSpPr>
        <p:sp>
          <p:nvSpPr>
            <p:cNvPr id="269" name="Google Shape;269;p28"/>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0" name="Google Shape;270;p28"/>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271" name="Google Shape;271;p28"/>
          <p:cNvGrpSpPr/>
          <p:nvPr/>
        </p:nvGrpSpPr>
        <p:grpSpPr>
          <a:xfrm rot="-5400000">
            <a:off x="6969120" y="4617452"/>
            <a:ext cx="241300" cy="314326"/>
            <a:chOff x="5341620" y="1863852"/>
            <a:chExt cx="241300" cy="314326"/>
          </a:xfrm>
        </p:grpSpPr>
        <p:sp>
          <p:nvSpPr>
            <p:cNvPr id="272" name="Google Shape;272;p28"/>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3" name="Google Shape;273;p28"/>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274" name="Google Shape;274;p28"/>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9"/>
          <p:cNvSpPr txBox="1"/>
          <p:nvPr>
            <p:ph type="title"/>
          </p:nvPr>
        </p:nvSpPr>
        <p:spPr>
          <a:xfrm>
            <a:off x="3339625" y="416625"/>
            <a:ext cx="55149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Renombrar y Añadir Columnas</a:t>
            </a:r>
            <a:endParaRPr/>
          </a:p>
        </p:txBody>
      </p:sp>
      <p:sp>
        <p:nvSpPr>
          <p:cNvPr id="280" name="Google Shape;280;p29"/>
          <p:cNvSpPr txBox="1"/>
          <p:nvPr/>
        </p:nvSpPr>
        <p:spPr>
          <a:xfrm>
            <a:off x="1069338" y="1525425"/>
            <a:ext cx="10053300" cy="33645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solidFill>
                  <a:srgbClr val="008000"/>
                </a:solidFill>
                <a:latin typeface="Candara"/>
                <a:ea typeface="Candara"/>
                <a:cs typeface="Candara"/>
                <a:sym typeface="Candara"/>
              </a:rPr>
              <a:t># Renombrar Columnas</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latin typeface="Candara"/>
                <a:ea typeface="Candara"/>
                <a:cs typeface="Candara"/>
                <a:sym typeface="Candara"/>
              </a:rPr>
              <a:t>newDF = accountDF.withColumnRenamed(</a:t>
            </a:r>
            <a:r>
              <a:rPr lang="en-US" sz="1800">
                <a:solidFill>
                  <a:srgbClr val="A21414"/>
                </a:solidFill>
                <a:latin typeface="Candara"/>
                <a:ea typeface="Candara"/>
                <a:cs typeface="Candara"/>
                <a:sym typeface="Candara"/>
              </a:rPr>
              <a:t>"existing_col"</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"new_name"</a:t>
            </a:r>
            <a:r>
              <a:rPr lang="en-US" sz="1800">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0"/>
              </a:spcBef>
              <a:spcAft>
                <a:spcPts val="0"/>
              </a:spcAft>
              <a:buNone/>
            </a:pPr>
            <a:r>
              <a:t/>
            </a:r>
            <a:endParaRPr sz="1800">
              <a:latin typeface="Candara"/>
              <a:ea typeface="Candara"/>
              <a:cs typeface="Candara"/>
              <a:sym typeface="Candara"/>
            </a:endParaRPr>
          </a:p>
          <a:p>
            <a:pPr indent="0" lvl="0" marL="0" rtl="0" algn="l">
              <a:lnSpc>
                <a:spcPct val="100000"/>
              </a:lnSpc>
              <a:spcBef>
                <a:spcPts val="100"/>
              </a:spcBef>
              <a:spcAft>
                <a:spcPts val="0"/>
              </a:spcAft>
              <a:buNone/>
            </a:pPr>
            <a:r>
              <a:t/>
            </a:r>
            <a:endParaRPr sz="1800">
              <a:latin typeface="Candara"/>
              <a:ea typeface="Candara"/>
              <a:cs typeface="Candara"/>
              <a:sym typeface="Candara"/>
            </a:endParaRPr>
          </a:p>
          <a:p>
            <a:pPr indent="0" lvl="0" marL="12700" rtl="0" algn="l">
              <a:lnSpc>
                <a:spcPct val="100000"/>
              </a:lnSpc>
              <a:spcBef>
                <a:spcPts val="5"/>
              </a:spcBef>
              <a:spcAft>
                <a:spcPts val="0"/>
              </a:spcAft>
              <a:buNone/>
            </a:pPr>
            <a:r>
              <a:rPr lang="en-US" sz="1800">
                <a:solidFill>
                  <a:srgbClr val="008000"/>
                </a:solidFill>
                <a:latin typeface="Candara"/>
                <a:ea typeface="Candara"/>
                <a:cs typeface="Candara"/>
                <a:sym typeface="Candara"/>
              </a:rPr>
              <a:t># Añadir Columnas</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latin typeface="Candara"/>
                <a:ea typeface="Candara"/>
                <a:cs typeface="Candara"/>
                <a:sym typeface="Candara"/>
              </a:rPr>
              <a:t>newDF = accountDF.withColumn(</a:t>
            </a:r>
            <a:r>
              <a:rPr lang="en-US" sz="1800">
                <a:solidFill>
                  <a:srgbClr val="A21414"/>
                </a:solidFill>
                <a:latin typeface="Candara"/>
                <a:ea typeface="Candara"/>
                <a:cs typeface="Candara"/>
                <a:sym typeface="Candara"/>
              </a:rPr>
              <a:t>"new_col_name"</a:t>
            </a:r>
            <a:r>
              <a:rPr lang="en-US" sz="1800">
                <a:latin typeface="Candara"/>
                <a:ea typeface="Candara"/>
                <a:cs typeface="Candara"/>
                <a:sym typeface="Candara"/>
              </a:rPr>
              <a:t>, col(</a:t>
            </a:r>
            <a:r>
              <a:rPr lang="en-US" sz="1800">
                <a:solidFill>
                  <a:srgbClr val="A21414"/>
                </a:solidFill>
                <a:latin typeface="Candara"/>
                <a:ea typeface="Candara"/>
                <a:cs typeface="Candara"/>
                <a:sym typeface="Candara"/>
              </a:rPr>
              <a:t>"existing_col"</a:t>
            </a:r>
            <a:r>
              <a:rPr lang="en-US" sz="1800">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50"/>
              </a:spcBef>
              <a:spcAft>
                <a:spcPts val="0"/>
              </a:spcAft>
              <a:buNone/>
            </a:pPr>
            <a:r>
              <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solidFill>
                  <a:srgbClr val="008000"/>
                </a:solidFill>
                <a:latin typeface="Candara"/>
                <a:ea typeface="Candara"/>
                <a:cs typeface="Candara"/>
                <a:sym typeface="Candara"/>
              </a:rPr>
              <a:t># Podemos hacer operaciones con </a:t>
            </a:r>
            <a:r>
              <a:rPr lang="en-US" sz="1800">
                <a:solidFill>
                  <a:srgbClr val="008000"/>
                </a:solidFill>
                <a:latin typeface="Candara"/>
                <a:ea typeface="Candara"/>
                <a:cs typeface="Candara"/>
                <a:sym typeface="Candara"/>
              </a:rPr>
              <a:t>más</a:t>
            </a:r>
            <a:r>
              <a:rPr lang="en-US" sz="1800">
                <a:solidFill>
                  <a:srgbClr val="008000"/>
                </a:solidFill>
                <a:latin typeface="Candara"/>
                <a:ea typeface="Candara"/>
                <a:cs typeface="Candara"/>
                <a:sym typeface="Candara"/>
              </a:rPr>
              <a:t> de una columna a la vez</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latin typeface="Candara"/>
                <a:ea typeface="Candara"/>
                <a:cs typeface="Candara"/>
                <a:sym typeface="Candara"/>
              </a:rPr>
              <a:t>newDF = accountDF.withColumn(</a:t>
            </a:r>
            <a:r>
              <a:rPr lang="en-US" sz="1800">
                <a:solidFill>
                  <a:srgbClr val="A21414"/>
                </a:solidFill>
                <a:latin typeface="Candara"/>
                <a:ea typeface="Candara"/>
                <a:cs typeface="Candara"/>
                <a:sym typeface="Candara"/>
              </a:rPr>
              <a:t>"new_col_name "</a:t>
            </a:r>
            <a:r>
              <a:rPr lang="en-US" sz="1800">
                <a:latin typeface="Candara"/>
                <a:ea typeface="Candara"/>
                <a:cs typeface="Candara"/>
                <a:sym typeface="Candara"/>
              </a:rPr>
              <a:t>, col(</a:t>
            </a:r>
            <a:r>
              <a:rPr lang="en-US" sz="1800">
                <a:solidFill>
                  <a:srgbClr val="A21414"/>
                </a:solidFill>
                <a:latin typeface="Candara"/>
                <a:ea typeface="Candara"/>
                <a:cs typeface="Candara"/>
                <a:sym typeface="Candara"/>
              </a:rPr>
              <a:t>"col_name1"</a:t>
            </a:r>
            <a:r>
              <a:rPr lang="en-US" sz="1800">
                <a:latin typeface="Candara"/>
                <a:ea typeface="Candara"/>
                <a:cs typeface="Candara"/>
                <a:sym typeface="Candara"/>
              </a:rPr>
              <a:t>)-col(</a:t>
            </a:r>
            <a:r>
              <a:rPr lang="en-US" sz="1800">
                <a:solidFill>
                  <a:srgbClr val="A21414"/>
                </a:solidFill>
                <a:latin typeface="Candara"/>
                <a:ea typeface="Candara"/>
                <a:cs typeface="Candara"/>
                <a:sym typeface="Candara"/>
              </a:rPr>
              <a:t>"col_name2"</a:t>
            </a:r>
            <a:r>
              <a:rPr lang="en-US" sz="1800">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50"/>
              </a:spcBef>
              <a:spcAft>
                <a:spcPts val="0"/>
              </a:spcAft>
              <a:buNone/>
            </a:pPr>
            <a:r>
              <a:t/>
            </a:r>
            <a:endParaRPr sz="1800">
              <a:latin typeface="Candara"/>
              <a:ea typeface="Candara"/>
              <a:cs typeface="Candara"/>
              <a:sym typeface="Candara"/>
            </a:endParaRPr>
          </a:p>
          <a:p>
            <a:pPr indent="0" lvl="0" marL="12700" rtl="0" algn="l">
              <a:lnSpc>
                <a:spcPct val="100000"/>
              </a:lnSpc>
              <a:spcBef>
                <a:spcPts val="5"/>
              </a:spcBef>
              <a:spcAft>
                <a:spcPts val="0"/>
              </a:spcAft>
              <a:buNone/>
            </a:pPr>
            <a:r>
              <a:rPr lang="en-US" sz="1800">
                <a:solidFill>
                  <a:srgbClr val="008000"/>
                </a:solidFill>
                <a:latin typeface="Candara"/>
                <a:ea typeface="Candara"/>
                <a:cs typeface="Candara"/>
                <a:sym typeface="Candara"/>
              </a:rPr>
              <a:t># Podemos tambi</a:t>
            </a:r>
            <a:r>
              <a:rPr lang="en-US" sz="1800">
                <a:solidFill>
                  <a:srgbClr val="008000"/>
                </a:solidFill>
                <a:latin typeface="Candara"/>
                <a:ea typeface="Candara"/>
                <a:cs typeface="Candara"/>
                <a:sym typeface="Candara"/>
              </a:rPr>
              <a:t>én establecer el valor constante con</a:t>
            </a:r>
            <a:r>
              <a:rPr lang="en-US" sz="1800">
                <a:solidFill>
                  <a:srgbClr val="008000"/>
                </a:solidFill>
                <a:latin typeface="Candara"/>
                <a:ea typeface="Candara"/>
                <a:cs typeface="Candara"/>
                <a:sym typeface="Candara"/>
              </a:rPr>
              <a:t> lit() a una columna</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latin typeface="Candara"/>
                <a:ea typeface="Candara"/>
                <a:cs typeface="Candara"/>
                <a:sym typeface="Candara"/>
              </a:rPr>
              <a:t>newDF = accountDF.withColumn(</a:t>
            </a:r>
            <a:r>
              <a:rPr lang="en-US" sz="1800">
                <a:solidFill>
                  <a:srgbClr val="A21414"/>
                </a:solidFill>
                <a:latin typeface="Candara"/>
                <a:ea typeface="Candara"/>
                <a:cs typeface="Candara"/>
                <a:sym typeface="Candara"/>
              </a:rPr>
              <a:t>"new_col_name"</a:t>
            </a:r>
            <a:r>
              <a:rPr lang="en-US" sz="1800">
                <a:latin typeface="Candara"/>
                <a:ea typeface="Candara"/>
                <a:cs typeface="Candara"/>
                <a:sym typeface="Candara"/>
              </a:rPr>
              <a:t>, lit(</a:t>
            </a:r>
            <a:r>
              <a:rPr lang="en-US" sz="1800">
                <a:solidFill>
                  <a:srgbClr val="A21414"/>
                </a:solidFill>
                <a:latin typeface="Candara"/>
                <a:ea typeface="Candara"/>
                <a:cs typeface="Candara"/>
                <a:sym typeface="Candara"/>
              </a:rPr>
              <a:t>"value"</a:t>
            </a:r>
            <a:r>
              <a:rPr lang="en-US" sz="1800">
                <a:latin typeface="Candara"/>
                <a:ea typeface="Candara"/>
                <a:cs typeface="Candara"/>
                <a:sym typeface="Candara"/>
              </a:rPr>
              <a:t>))</a:t>
            </a:r>
            <a:endParaRPr sz="1800">
              <a:latin typeface="Candara"/>
              <a:ea typeface="Candara"/>
              <a:cs typeface="Candara"/>
              <a:sym typeface="Candara"/>
            </a:endParaRPr>
          </a:p>
        </p:txBody>
      </p:sp>
      <p:sp>
        <p:nvSpPr>
          <p:cNvPr id="281" name="Google Shape;281;p29"/>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282" name="Google Shape;282;p29"/>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0"/>
          <p:cNvSpPr txBox="1"/>
          <p:nvPr>
            <p:ph type="title"/>
          </p:nvPr>
        </p:nvSpPr>
        <p:spPr>
          <a:xfrm>
            <a:off x="2279050" y="371604"/>
            <a:ext cx="7633800" cy="998700"/>
          </a:xfrm>
          <a:prstGeom prst="rect">
            <a:avLst/>
          </a:prstGeom>
          <a:noFill/>
          <a:ln>
            <a:noFill/>
          </a:ln>
        </p:spPr>
        <p:txBody>
          <a:bodyPr anchorCtr="0" anchor="t" bIns="0" lIns="0" spcFirstLastPara="1" rIns="0" wrap="square" tIns="13325">
            <a:spAutoFit/>
          </a:bodyPr>
          <a:lstStyle/>
          <a:p>
            <a:pPr indent="0" lvl="0" marL="12700" rtl="0" algn="l">
              <a:spcBef>
                <a:spcPts val="0"/>
              </a:spcBef>
              <a:spcAft>
                <a:spcPts val="0"/>
              </a:spcAft>
              <a:buClr>
                <a:schemeClr val="dk1"/>
              </a:buClr>
              <a:buFont typeface="Arial"/>
              <a:buNone/>
            </a:pPr>
            <a:r>
              <a:rPr lang="en-US">
                <a:latin typeface="Candara"/>
                <a:ea typeface="Candara"/>
                <a:cs typeface="Candara"/>
                <a:sym typeface="Candara"/>
              </a:rPr>
              <a:t>Ejemplo de </a:t>
            </a:r>
            <a:r>
              <a:rPr lang="en-US">
                <a:latin typeface="Candara"/>
                <a:ea typeface="Candara"/>
                <a:cs typeface="Candara"/>
                <a:sym typeface="Candara"/>
              </a:rPr>
              <a:t>Renombrar y Añadir Columnas </a:t>
            </a:r>
            <a:endParaRPr/>
          </a:p>
          <a:p>
            <a:pPr indent="0" lvl="0" marL="695325" rtl="0" algn="l">
              <a:lnSpc>
                <a:spcPct val="100000"/>
              </a:lnSpc>
              <a:spcBef>
                <a:spcPts val="0"/>
              </a:spcBef>
              <a:spcAft>
                <a:spcPts val="0"/>
              </a:spcAft>
              <a:buNone/>
            </a:pPr>
            <a:r>
              <a:t/>
            </a:r>
            <a:endParaRPr/>
          </a:p>
        </p:txBody>
      </p:sp>
      <p:sp>
        <p:nvSpPr>
          <p:cNvPr id="288" name="Google Shape;288;p30"/>
          <p:cNvSpPr txBox="1"/>
          <p:nvPr/>
        </p:nvSpPr>
        <p:spPr>
          <a:xfrm>
            <a:off x="945542" y="1521292"/>
            <a:ext cx="20307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ndara"/>
                <a:ea typeface="Candara"/>
                <a:cs typeface="Candara"/>
                <a:sym typeface="Candara"/>
              </a:rPr>
              <a:t>accountDF</a:t>
            </a:r>
            <a:r>
              <a:rPr lang="en-US" sz="1800">
                <a:latin typeface="Consolas"/>
                <a:ea typeface="Consolas"/>
                <a:cs typeface="Consolas"/>
                <a:sym typeface="Consolas"/>
              </a:rPr>
              <a:t>.show()</a:t>
            </a:r>
            <a:endParaRPr sz="1800">
              <a:latin typeface="Consolas"/>
              <a:ea typeface="Consolas"/>
              <a:cs typeface="Consolas"/>
              <a:sym typeface="Consolas"/>
            </a:endParaRPr>
          </a:p>
        </p:txBody>
      </p:sp>
      <p:pic>
        <p:nvPicPr>
          <p:cNvPr id="289" name="Google Shape;289;p30"/>
          <p:cNvPicPr preferRelativeResize="0"/>
          <p:nvPr/>
        </p:nvPicPr>
        <p:blipFill rotWithShape="1">
          <a:blip r:embed="rId3">
            <a:alphaModFix/>
          </a:blip>
          <a:srcRect b="0" l="0" r="0" t="0"/>
          <a:stretch/>
        </p:blipFill>
        <p:spPr>
          <a:xfrm>
            <a:off x="356597" y="2080729"/>
            <a:ext cx="3208608" cy="2578677"/>
          </a:xfrm>
          <a:prstGeom prst="rect">
            <a:avLst/>
          </a:prstGeom>
          <a:noFill/>
          <a:ln>
            <a:noFill/>
          </a:ln>
        </p:spPr>
      </p:pic>
      <p:sp>
        <p:nvSpPr>
          <p:cNvPr id="290" name="Google Shape;290;p30"/>
          <p:cNvSpPr txBox="1"/>
          <p:nvPr/>
        </p:nvSpPr>
        <p:spPr>
          <a:xfrm>
            <a:off x="4149934" y="1237067"/>
            <a:ext cx="7672800" cy="567000"/>
          </a:xfrm>
          <a:prstGeom prst="rect">
            <a:avLst/>
          </a:prstGeom>
          <a:noFill/>
          <a:ln>
            <a:noFill/>
          </a:ln>
        </p:spPr>
        <p:txBody>
          <a:bodyPr anchorCtr="0" anchor="t" bIns="0" lIns="0" spcFirstLastPara="1" rIns="0" wrap="square" tIns="12700">
            <a:spAutoFit/>
          </a:bodyPr>
          <a:lstStyle/>
          <a:p>
            <a:pPr indent="-635" lvl="0" marL="12700" marR="5080" rtl="0" algn="l">
              <a:lnSpc>
                <a:spcPct val="100000"/>
              </a:lnSpc>
              <a:spcBef>
                <a:spcPts val="0"/>
              </a:spcBef>
              <a:spcAft>
                <a:spcPts val="0"/>
              </a:spcAft>
              <a:buNone/>
            </a:pPr>
            <a:r>
              <a:rPr lang="en-US" sz="1800">
                <a:latin typeface="Candara"/>
                <a:ea typeface="Candara"/>
                <a:cs typeface="Candara"/>
                <a:sym typeface="Candara"/>
              </a:rPr>
              <a:t>accountDF4 = accountDF.withColumnRenamed(</a:t>
            </a:r>
            <a:r>
              <a:rPr lang="en-US" sz="1800">
                <a:solidFill>
                  <a:srgbClr val="A21414"/>
                </a:solidFill>
                <a:latin typeface="Candara"/>
                <a:ea typeface="Candara"/>
                <a:cs typeface="Candara"/>
                <a:sym typeface="Candara"/>
              </a:rPr>
              <a:t>"available"</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"avbl"</a:t>
            </a:r>
            <a:r>
              <a:rPr lang="en-US" sz="1800">
                <a:latin typeface="Candara"/>
                <a:ea typeface="Candara"/>
                <a:cs typeface="Candara"/>
                <a:sym typeface="Candara"/>
              </a:rPr>
              <a:t>) accountDF4.show()</a:t>
            </a:r>
            <a:endParaRPr sz="1800">
              <a:latin typeface="Candara"/>
              <a:ea typeface="Candara"/>
              <a:cs typeface="Candara"/>
              <a:sym typeface="Candara"/>
            </a:endParaRPr>
          </a:p>
        </p:txBody>
      </p:sp>
      <p:pic>
        <p:nvPicPr>
          <p:cNvPr id="291" name="Google Shape;291;p30"/>
          <p:cNvPicPr preferRelativeResize="0"/>
          <p:nvPr/>
        </p:nvPicPr>
        <p:blipFill rotWithShape="1">
          <a:blip r:embed="rId4">
            <a:alphaModFix/>
          </a:blip>
          <a:srcRect b="0" l="0" r="0" t="0"/>
          <a:stretch/>
        </p:blipFill>
        <p:spPr>
          <a:xfrm>
            <a:off x="4246643" y="2321447"/>
            <a:ext cx="2791561" cy="2420076"/>
          </a:xfrm>
          <a:prstGeom prst="rect">
            <a:avLst/>
          </a:prstGeom>
          <a:noFill/>
          <a:ln>
            <a:noFill/>
          </a:ln>
        </p:spPr>
      </p:pic>
      <p:sp>
        <p:nvSpPr>
          <p:cNvPr id="292" name="Google Shape;292;p30"/>
          <p:cNvSpPr txBox="1"/>
          <p:nvPr/>
        </p:nvSpPr>
        <p:spPr>
          <a:xfrm>
            <a:off x="2855525" y="5188650"/>
            <a:ext cx="8568000" cy="567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Candara"/>
                <a:ea typeface="Candara"/>
                <a:cs typeface="Candara"/>
                <a:sym typeface="Candara"/>
              </a:rPr>
              <a:t>accountDF5 = accountDF.withColumn(</a:t>
            </a:r>
            <a:r>
              <a:rPr lang="en-US" sz="1800">
                <a:solidFill>
                  <a:srgbClr val="A21414"/>
                </a:solidFill>
                <a:latin typeface="Candara"/>
                <a:ea typeface="Candara"/>
                <a:cs typeface="Candara"/>
                <a:sym typeface="Candara"/>
              </a:rPr>
              <a:t>"balance"</a:t>
            </a:r>
            <a:r>
              <a:rPr lang="en-US" sz="1800">
                <a:latin typeface="Candara"/>
                <a:ea typeface="Candara"/>
                <a:cs typeface="Candara"/>
                <a:sym typeface="Candara"/>
              </a:rPr>
              <a:t>, round(col(</a:t>
            </a:r>
            <a:r>
              <a:rPr lang="en-US" sz="1800">
                <a:solidFill>
                  <a:srgbClr val="A21414"/>
                </a:solidFill>
                <a:latin typeface="Candara"/>
                <a:ea typeface="Candara"/>
                <a:cs typeface="Candara"/>
                <a:sym typeface="Candara"/>
              </a:rPr>
              <a:t>"available"</a:t>
            </a:r>
            <a:r>
              <a:rPr lang="en-US" sz="1800">
                <a:latin typeface="Candara"/>
                <a:ea typeface="Candara"/>
                <a:cs typeface="Candara"/>
                <a:sym typeface="Candara"/>
              </a:rPr>
              <a:t>)-col(</a:t>
            </a:r>
            <a:r>
              <a:rPr lang="en-US" sz="1800">
                <a:solidFill>
                  <a:srgbClr val="A21414"/>
                </a:solidFill>
                <a:latin typeface="Candara"/>
                <a:ea typeface="Candara"/>
                <a:cs typeface="Candara"/>
                <a:sym typeface="Candara"/>
              </a:rPr>
              <a:t>"debt"</a:t>
            </a:r>
            <a:r>
              <a:rPr lang="en-US" sz="1800">
                <a:latin typeface="Candara"/>
                <a:ea typeface="Candara"/>
                <a:cs typeface="Candara"/>
                <a:sym typeface="Candara"/>
              </a:rPr>
              <a:t>), </a:t>
            </a:r>
            <a:r>
              <a:rPr lang="en-US" sz="1800">
                <a:solidFill>
                  <a:srgbClr val="088557"/>
                </a:solidFill>
                <a:latin typeface="Candara"/>
                <a:ea typeface="Candara"/>
                <a:cs typeface="Candara"/>
                <a:sym typeface="Candara"/>
              </a:rPr>
              <a:t>2</a:t>
            </a:r>
            <a:r>
              <a:rPr lang="en-US" sz="1800">
                <a:latin typeface="Candara"/>
                <a:ea typeface="Candara"/>
                <a:cs typeface="Candara"/>
                <a:sym typeface="Candara"/>
              </a:rPr>
              <a:t>)) </a:t>
            </a:r>
            <a:endParaRPr sz="1800">
              <a:latin typeface="Candara"/>
              <a:ea typeface="Candara"/>
              <a:cs typeface="Candara"/>
              <a:sym typeface="Candara"/>
            </a:endParaRPr>
          </a:p>
          <a:p>
            <a:pPr indent="0" lvl="0" marL="12700" marR="5080" rtl="0" algn="l">
              <a:lnSpc>
                <a:spcPct val="100000"/>
              </a:lnSpc>
              <a:spcBef>
                <a:spcPts val="0"/>
              </a:spcBef>
              <a:spcAft>
                <a:spcPts val="0"/>
              </a:spcAft>
              <a:buNone/>
            </a:pPr>
            <a:r>
              <a:rPr lang="en-US" sz="1800">
                <a:latin typeface="Candara"/>
                <a:ea typeface="Candara"/>
                <a:cs typeface="Candara"/>
                <a:sym typeface="Candara"/>
              </a:rPr>
              <a:t>accountDF5.show()</a:t>
            </a:r>
            <a:endParaRPr sz="1800">
              <a:latin typeface="Candara"/>
              <a:ea typeface="Candara"/>
              <a:cs typeface="Candara"/>
              <a:sym typeface="Candara"/>
            </a:endParaRPr>
          </a:p>
        </p:txBody>
      </p:sp>
      <p:pic>
        <p:nvPicPr>
          <p:cNvPr id="293" name="Google Shape;293;p30"/>
          <p:cNvPicPr preferRelativeResize="0"/>
          <p:nvPr/>
        </p:nvPicPr>
        <p:blipFill rotWithShape="1">
          <a:blip r:embed="rId5">
            <a:alphaModFix/>
          </a:blip>
          <a:srcRect b="0" l="0" r="0" t="0"/>
          <a:stretch/>
        </p:blipFill>
        <p:spPr>
          <a:xfrm>
            <a:off x="7832976" y="2191517"/>
            <a:ext cx="3590543" cy="2419712"/>
          </a:xfrm>
          <a:prstGeom prst="rect">
            <a:avLst/>
          </a:prstGeom>
          <a:noFill/>
          <a:ln>
            <a:noFill/>
          </a:ln>
        </p:spPr>
      </p:pic>
      <p:grpSp>
        <p:nvGrpSpPr>
          <p:cNvPr id="294" name="Google Shape;294;p30"/>
          <p:cNvGrpSpPr/>
          <p:nvPr/>
        </p:nvGrpSpPr>
        <p:grpSpPr>
          <a:xfrm>
            <a:off x="5341620" y="1863852"/>
            <a:ext cx="241300" cy="314326"/>
            <a:chOff x="5341620" y="1863852"/>
            <a:chExt cx="241300" cy="314326"/>
          </a:xfrm>
        </p:grpSpPr>
        <p:sp>
          <p:nvSpPr>
            <p:cNvPr id="295" name="Google Shape;295;p30"/>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6" name="Google Shape;296;p30"/>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297" name="Google Shape;297;p30"/>
          <p:cNvGrpSpPr/>
          <p:nvPr/>
        </p:nvGrpSpPr>
        <p:grpSpPr>
          <a:xfrm>
            <a:off x="9416795" y="4696967"/>
            <a:ext cx="224154" cy="340360"/>
            <a:chOff x="9416795" y="4696967"/>
            <a:chExt cx="224154" cy="340360"/>
          </a:xfrm>
        </p:grpSpPr>
        <p:sp>
          <p:nvSpPr>
            <p:cNvPr id="298" name="Google Shape;298;p30"/>
            <p:cNvSpPr/>
            <p:nvPr/>
          </p:nvSpPr>
          <p:spPr>
            <a:xfrm>
              <a:off x="9416795" y="4696967"/>
              <a:ext cx="224154" cy="340360"/>
            </a:xfrm>
            <a:custGeom>
              <a:rect b="b" l="l" r="r" t="t"/>
              <a:pathLst>
                <a:path extrusionOk="0" h="340360" w="224154">
                  <a:moveTo>
                    <a:pt x="112014" y="0"/>
                  </a:moveTo>
                  <a:lnTo>
                    <a:pt x="0" y="112013"/>
                  </a:lnTo>
                  <a:lnTo>
                    <a:pt x="56007" y="112013"/>
                  </a:lnTo>
                  <a:lnTo>
                    <a:pt x="56007" y="339851"/>
                  </a:lnTo>
                  <a:lnTo>
                    <a:pt x="168021" y="339851"/>
                  </a:lnTo>
                  <a:lnTo>
                    <a:pt x="168021" y="112013"/>
                  </a:lnTo>
                  <a:lnTo>
                    <a:pt x="224028" y="112013"/>
                  </a:lnTo>
                  <a:lnTo>
                    <a:pt x="11201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9" name="Google Shape;299;p30"/>
            <p:cNvSpPr/>
            <p:nvPr/>
          </p:nvSpPr>
          <p:spPr>
            <a:xfrm>
              <a:off x="9416795" y="4696967"/>
              <a:ext cx="224154" cy="340360"/>
            </a:xfrm>
            <a:custGeom>
              <a:rect b="b" l="l" r="r" t="t"/>
              <a:pathLst>
                <a:path extrusionOk="0" h="340360" w="224154">
                  <a:moveTo>
                    <a:pt x="0" y="112013"/>
                  </a:moveTo>
                  <a:lnTo>
                    <a:pt x="112014" y="0"/>
                  </a:lnTo>
                  <a:lnTo>
                    <a:pt x="224028" y="112013"/>
                  </a:lnTo>
                  <a:lnTo>
                    <a:pt x="168021" y="112013"/>
                  </a:lnTo>
                  <a:lnTo>
                    <a:pt x="168021" y="339851"/>
                  </a:lnTo>
                  <a:lnTo>
                    <a:pt x="56007" y="339851"/>
                  </a:lnTo>
                  <a:lnTo>
                    <a:pt x="56007" y="112013"/>
                  </a:lnTo>
                  <a:lnTo>
                    <a:pt x="0" y="112013"/>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00" name="Google Shape;300;p30"/>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301" name="Google Shape;301;p30"/>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ph type="title"/>
          </p:nvPr>
        </p:nvSpPr>
        <p:spPr>
          <a:xfrm>
            <a:off x="4993376" y="504550"/>
            <a:ext cx="22074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EJERCICIOS</a:t>
            </a:r>
            <a:endParaRPr/>
          </a:p>
        </p:txBody>
      </p:sp>
      <p:sp>
        <p:nvSpPr>
          <p:cNvPr id="307" name="Google Shape;307;p31"/>
          <p:cNvSpPr txBox="1"/>
          <p:nvPr/>
        </p:nvSpPr>
        <p:spPr>
          <a:xfrm>
            <a:off x="1345005" y="2288866"/>
            <a:ext cx="5410200" cy="108960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2360"/>
              </a:spcBef>
              <a:spcAft>
                <a:spcPts val="0"/>
              </a:spcAft>
              <a:buNone/>
            </a:pPr>
            <a:r>
              <a:t/>
            </a:r>
            <a:endParaRPr sz="2000">
              <a:latin typeface="Candara"/>
              <a:ea typeface="Candara"/>
              <a:cs typeface="Candara"/>
              <a:sym typeface="Candara"/>
            </a:endParaRPr>
          </a:p>
          <a:p>
            <a:pPr indent="-342900" lvl="0" marL="812800" rtl="0" algn="l">
              <a:lnSpc>
                <a:spcPct val="100000"/>
              </a:lnSpc>
              <a:spcBef>
                <a:spcPts val="0"/>
              </a:spcBef>
              <a:spcAft>
                <a:spcPts val="0"/>
              </a:spcAft>
              <a:buClr>
                <a:srgbClr val="134262"/>
              </a:buClr>
              <a:buSzPts val="2000"/>
              <a:buFont typeface="Candara"/>
              <a:buChar char="•"/>
            </a:pPr>
            <a:r>
              <a:rPr lang="en-US" sz="2000">
                <a:solidFill>
                  <a:srgbClr val="134262"/>
                </a:solidFill>
                <a:latin typeface="Candara"/>
                <a:ea typeface="Candara"/>
                <a:cs typeface="Candara"/>
                <a:sym typeface="Candara"/>
              </a:rPr>
              <a:t>01.DataFramesSpark</a:t>
            </a:r>
            <a:endParaRPr sz="2000">
              <a:latin typeface="Candara"/>
              <a:ea typeface="Candara"/>
              <a:cs typeface="Candara"/>
              <a:sym typeface="Candara"/>
            </a:endParaRPr>
          </a:p>
          <a:p>
            <a:pPr indent="-342900" lvl="0" marL="812800" rtl="0" algn="l">
              <a:lnSpc>
                <a:spcPct val="100000"/>
              </a:lnSpc>
              <a:spcBef>
                <a:spcPts val="1200"/>
              </a:spcBef>
              <a:spcAft>
                <a:spcPts val="0"/>
              </a:spcAft>
              <a:buClr>
                <a:srgbClr val="134262"/>
              </a:buClr>
              <a:buSzPts val="2000"/>
              <a:buFont typeface="Candara"/>
              <a:buChar char="•"/>
            </a:pPr>
            <a:r>
              <a:rPr lang="en-US" sz="2000">
                <a:solidFill>
                  <a:srgbClr val="134262"/>
                </a:solidFill>
                <a:latin typeface="Candara"/>
                <a:ea typeface="Candara"/>
                <a:cs typeface="Candara"/>
                <a:sym typeface="Candara"/>
              </a:rPr>
              <a:t>02.</a:t>
            </a:r>
            <a:r>
              <a:rPr lang="en-US" sz="2000">
                <a:solidFill>
                  <a:srgbClr val="134262"/>
                </a:solidFill>
                <a:latin typeface="Candara"/>
                <a:ea typeface="Candara"/>
                <a:cs typeface="Candara"/>
                <a:sym typeface="Candara"/>
              </a:rPr>
              <a:t>ExpressionsSpark</a:t>
            </a:r>
            <a:endParaRPr sz="2000">
              <a:latin typeface="Candara"/>
              <a:ea typeface="Candara"/>
              <a:cs typeface="Candara"/>
              <a:sym typeface="Candara"/>
            </a:endParaRPr>
          </a:p>
        </p:txBody>
      </p:sp>
      <p:sp>
        <p:nvSpPr>
          <p:cNvPr id="308" name="Google Shape;308;p31"/>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pic>
        <p:nvPicPr>
          <p:cNvPr id="309" name="Google Shape;309;p31"/>
          <p:cNvPicPr preferRelativeResize="0"/>
          <p:nvPr/>
        </p:nvPicPr>
        <p:blipFill>
          <a:blip r:embed="rId3">
            <a:alphaModFix/>
          </a:blip>
          <a:stretch>
            <a:fillRect/>
          </a:stretch>
        </p:blipFill>
        <p:spPr>
          <a:xfrm>
            <a:off x="8024875" y="1510537"/>
            <a:ext cx="2877674" cy="3836926"/>
          </a:xfrm>
          <a:prstGeom prst="rect">
            <a:avLst/>
          </a:prstGeom>
          <a:noFill/>
          <a:ln>
            <a:noFill/>
          </a:ln>
        </p:spPr>
      </p:pic>
      <p:sp>
        <p:nvSpPr>
          <p:cNvPr id="310" name="Google Shape;310;p31"/>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type="title"/>
          </p:nvPr>
        </p:nvSpPr>
        <p:spPr>
          <a:xfrm>
            <a:off x="2051746" y="382435"/>
            <a:ext cx="7633800" cy="506100"/>
          </a:xfrm>
          <a:prstGeom prst="rect">
            <a:avLst/>
          </a:prstGeom>
          <a:noFill/>
          <a:ln>
            <a:noFill/>
          </a:ln>
        </p:spPr>
        <p:txBody>
          <a:bodyPr anchorCtr="0" anchor="t" bIns="0" lIns="0" spcFirstLastPara="1" rIns="0" wrap="square" tIns="13325">
            <a:spAutoFit/>
          </a:bodyPr>
          <a:lstStyle/>
          <a:p>
            <a:pPr indent="0" lvl="0" marL="2758440" rtl="0" algn="l">
              <a:lnSpc>
                <a:spcPct val="100000"/>
              </a:lnSpc>
              <a:spcBef>
                <a:spcPts val="0"/>
              </a:spcBef>
              <a:spcAft>
                <a:spcPts val="0"/>
              </a:spcAft>
              <a:buNone/>
            </a:pPr>
            <a:r>
              <a:rPr lang="en-US">
                <a:latin typeface="Candara"/>
                <a:ea typeface="Candara"/>
                <a:cs typeface="Candara"/>
                <a:sym typeface="Candara"/>
              </a:rPr>
              <a:t>Agregaciones</a:t>
            </a:r>
            <a:endParaRPr>
              <a:latin typeface="Candara"/>
              <a:ea typeface="Candara"/>
              <a:cs typeface="Candara"/>
              <a:sym typeface="Candara"/>
            </a:endParaRPr>
          </a:p>
        </p:txBody>
      </p:sp>
      <p:grpSp>
        <p:nvGrpSpPr>
          <p:cNvPr id="316" name="Google Shape;316;p32"/>
          <p:cNvGrpSpPr/>
          <p:nvPr/>
        </p:nvGrpSpPr>
        <p:grpSpPr>
          <a:xfrm>
            <a:off x="2637108" y="3096869"/>
            <a:ext cx="3722113" cy="712988"/>
            <a:chOff x="2939033" y="2878077"/>
            <a:chExt cx="4404867" cy="1000124"/>
          </a:xfrm>
        </p:grpSpPr>
        <p:sp>
          <p:nvSpPr>
            <p:cNvPr id="317" name="Google Shape;317;p32"/>
            <p:cNvSpPr/>
            <p:nvPr/>
          </p:nvSpPr>
          <p:spPr>
            <a:xfrm>
              <a:off x="2939033" y="2878077"/>
              <a:ext cx="2548255" cy="984885"/>
            </a:xfrm>
            <a:custGeom>
              <a:rect b="b" l="l" r="r" t="t"/>
              <a:pathLst>
                <a:path extrusionOk="0" h="984885" w="2548254">
                  <a:moveTo>
                    <a:pt x="0" y="164084"/>
                  </a:moveTo>
                  <a:lnTo>
                    <a:pt x="5861" y="120461"/>
                  </a:lnTo>
                  <a:lnTo>
                    <a:pt x="22403" y="81264"/>
                  </a:lnTo>
                  <a:lnTo>
                    <a:pt x="48061" y="48056"/>
                  </a:lnTo>
                  <a:lnTo>
                    <a:pt x="81270" y="22400"/>
                  </a:lnTo>
                  <a:lnTo>
                    <a:pt x="120466" y="5860"/>
                  </a:lnTo>
                  <a:lnTo>
                    <a:pt x="164084" y="0"/>
                  </a:lnTo>
                  <a:lnTo>
                    <a:pt x="2384044" y="0"/>
                  </a:lnTo>
                  <a:lnTo>
                    <a:pt x="2427661" y="5860"/>
                  </a:lnTo>
                  <a:lnTo>
                    <a:pt x="2466857" y="22400"/>
                  </a:lnTo>
                  <a:lnTo>
                    <a:pt x="2500066" y="48056"/>
                  </a:lnTo>
                  <a:lnTo>
                    <a:pt x="2525724" y="81264"/>
                  </a:lnTo>
                  <a:lnTo>
                    <a:pt x="2542266" y="120461"/>
                  </a:lnTo>
                  <a:lnTo>
                    <a:pt x="2548128" y="164084"/>
                  </a:lnTo>
                  <a:lnTo>
                    <a:pt x="2548128" y="820407"/>
                  </a:lnTo>
                  <a:lnTo>
                    <a:pt x="2542266" y="864030"/>
                  </a:lnTo>
                  <a:lnTo>
                    <a:pt x="2525724" y="903229"/>
                  </a:lnTo>
                  <a:lnTo>
                    <a:pt x="2500066" y="936440"/>
                  </a:lnTo>
                  <a:lnTo>
                    <a:pt x="2466857" y="962099"/>
                  </a:lnTo>
                  <a:lnTo>
                    <a:pt x="2427661" y="978642"/>
                  </a:lnTo>
                  <a:lnTo>
                    <a:pt x="2384044" y="984504"/>
                  </a:lnTo>
                  <a:lnTo>
                    <a:pt x="164084" y="984504"/>
                  </a:lnTo>
                  <a:lnTo>
                    <a:pt x="120466" y="978642"/>
                  </a:lnTo>
                  <a:lnTo>
                    <a:pt x="81270" y="962099"/>
                  </a:lnTo>
                  <a:lnTo>
                    <a:pt x="48061" y="936440"/>
                  </a:lnTo>
                  <a:lnTo>
                    <a:pt x="22403" y="903229"/>
                  </a:lnTo>
                  <a:lnTo>
                    <a:pt x="5861" y="864030"/>
                  </a:lnTo>
                  <a:lnTo>
                    <a:pt x="0" y="820407"/>
                  </a:lnTo>
                  <a:lnTo>
                    <a:pt x="0" y="164084"/>
                  </a:lnTo>
                  <a:close/>
                </a:path>
              </a:pathLst>
            </a:custGeom>
            <a:noFill/>
            <a:ln cap="flat" cmpd="sng" w="28575">
              <a:solidFill>
                <a:srgbClr val="00AF50"/>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latin typeface="Candara"/>
                <a:ea typeface="Candara"/>
                <a:cs typeface="Candara"/>
                <a:sym typeface="Candara"/>
              </a:endParaRPr>
            </a:p>
          </p:txBody>
        </p:sp>
        <p:sp>
          <p:nvSpPr>
            <p:cNvPr id="318" name="Google Shape;318;p32"/>
            <p:cNvSpPr/>
            <p:nvPr/>
          </p:nvSpPr>
          <p:spPr>
            <a:xfrm>
              <a:off x="5487161" y="2893316"/>
              <a:ext cx="1856739" cy="984885"/>
            </a:xfrm>
            <a:custGeom>
              <a:rect b="b" l="l" r="r" t="t"/>
              <a:pathLst>
                <a:path extrusionOk="0" h="984885" w="1856740">
                  <a:moveTo>
                    <a:pt x="0" y="164084"/>
                  </a:moveTo>
                  <a:lnTo>
                    <a:pt x="5861" y="120461"/>
                  </a:lnTo>
                  <a:lnTo>
                    <a:pt x="22403" y="81264"/>
                  </a:lnTo>
                  <a:lnTo>
                    <a:pt x="48061" y="48056"/>
                  </a:lnTo>
                  <a:lnTo>
                    <a:pt x="81270" y="22400"/>
                  </a:lnTo>
                  <a:lnTo>
                    <a:pt x="120466" y="5860"/>
                  </a:lnTo>
                  <a:lnTo>
                    <a:pt x="164084" y="0"/>
                  </a:lnTo>
                  <a:lnTo>
                    <a:pt x="1692148" y="0"/>
                  </a:lnTo>
                  <a:lnTo>
                    <a:pt x="1735765" y="5860"/>
                  </a:lnTo>
                  <a:lnTo>
                    <a:pt x="1774961" y="22400"/>
                  </a:lnTo>
                  <a:lnTo>
                    <a:pt x="1808170" y="48056"/>
                  </a:lnTo>
                  <a:lnTo>
                    <a:pt x="1833828" y="81264"/>
                  </a:lnTo>
                  <a:lnTo>
                    <a:pt x="1850370" y="120461"/>
                  </a:lnTo>
                  <a:lnTo>
                    <a:pt x="1856232" y="164084"/>
                  </a:lnTo>
                  <a:lnTo>
                    <a:pt x="1856232" y="820420"/>
                  </a:lnTo>
                  <a:lnTo>
                    <a:pt x="1850370" y="864037"/>
                  </a:lnTo>
                  <a:lnTo>
                    <a:pt x="1833828" y="903233"/>
                  </a:lnTo>
                  <a:lnTo>
                    <a:pt x="1808170" y="936442"/>
                  </a:lnTo>
                  <a:lnTo>
                    <a:pt x="1774961" y="962100"/>
                  </a:lnTo>
                  <a:lnTo>
                    <a:pt x="1735765" y="978642"/>
                  </a:lnTo>
                  <a:lnTo>
                    <a:pt x="1692148" y="984504"/>
                  </a:lnTo>
                  <a:lnTo>
                    <a:pt x="164084" y="984504"/>
                  </a:lnTo>
                  <a:lnTo>
                    <a:pt x="120466" y="978642"/>
                  </a:lnTo>
                  <a:lnTo>
                    <a:pt x="81270" y="962100"/>
                  </a:lnTo>
                  <a:lnTo>
                    <a:pt x="48061" y="936442"/>
                  </a:lnTo>
                  <a:lnTo>
                    <a:pt x="22403" y="903233"/>
                  </a:lnTo>
                  <a:lnTo>
                    <a:pt x="5861" y="864037"/>
                  </a:lnTo>
                  <a:lnTo>
                    <a:pt x="0" y="820420"/>
                  </a:lnTo>
                  <a:lnTo>
                    <a:pt x="0" y="164084"/>
                  </a:lnTo>
                  <a:close/>
                </a:path>
              </a:pathLst>
            </a:custGeom>
            <a:noFill/>
            <a:ln cap="flat" cmpd="sng" w="28575">
              <a:solidFill>
                <a:srgbClr val="FF0000"/>
              </a:solidFill>
              <a:prstDash val="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latin typeface="Candara"/>
                <a:ea typeface="Candara"/>
                <a:cs typeface="Candara"/>
                <a:sym typeface="Candara"/>
              </a:endParaRPr>
            </a:p>
          </p:txBody>
        </p:sp>
      </p:grpSp>
      <p:sp>
        <p:nvSpPr>
          <p:cNvPr id="319" name="Google Shape;319;p32"/>
          <p:cNvSpPr txBox="1"/>
          <p:nvPr/>
        </p:nvSpPr>
        <p:spPr>
          <a:xfrm>
            <a:off x="645000" y="1135550"/>
            <a:ext cx="10902000" cy="4923000"/>
          </a:xfrm>
          <a:prstGeom prst="rect">
            <a:avLst/>
          </a:prstGeom>
          <a:noFill/>
          <a:ln>
            <a:noFill/>
          </a:ln>
        </p:spPr>
        <p:txBody>
          <a:bodyPr anchorCtr="0" anchor="t" bIns="0" lIns="0" spcFirstLastPara="1" rIns="0" wrap="square" tIns="177150">
            <a:spAutoFit/>
          </a:bodyPr>
          <a:lstStyle/>
          <a:p>
            <a:pPr indent="-342265" lvl="0" marL="354965" rtl="0" algn="just">
              <a:lnSpc>
                <a:spcPct val="100000"/>
              </a:lnSpc>
              <a:spcBef>
                <a:spcPts val="1310"/>
              </a:spcBef>
              <a:spcAft>
                <a:spcPts val="0"/>
              </a:spcAft>
              <a:buSzPts val="2000"/>
              <a:buFont typeface="Candara"/>
              <a:buChar char="•"/>
            </a:pPr>
            <a:r>
              <a:rPr lang="en-US" sz="2000">
                <a:latin typeface="Candara"/>
                <a:ea typeface="Candara"/>
                <a:cs typeface="Candara"/>
                <a:sym typeface="Candara"/>
              </a:rPr>
              <a:t>Este tipo de transformaciones afectarán tanto a las columnas como a las filas.</a:t>
            </a:r>
            <a:endParaRPr sz="2000">
              <a:latin typeface="Candara"/>
              <a:ea typeface="Candara"/>
              <a:cs typeface="Candara"/>
              <a:sym typeface="Candara"/>
            </a:endParaRPr>
          </a:p>
          <a:p>
            <a:pPr indent="-342265" lvl="0" marL="354965" rtl="0" algn="just">
              <a:lnSpc>
                <a:spcPct val="100000"/>
              </a:lnSpc>
              <a:spcBef>
                <a:spcPts val="1310"/>
              </a:spcBef>
              <a:spcAft>
                <a:spcPts val="0"/>
              </a:spcAft>
              <a:buSzPts val="2000"/>
              <a:buFont typeface="Candara"/>
              <a:buChar char="•"/>
            </a:pPr>
            <a:r>
              <a:rPr lang="en-US" sz="2000">
                <a:latin typeface="Candara"/>
                <a:ea typeface="Candara"/>
                <a:cs typeface="Candara"/>
                <a:sym typeface="Candara"/>
              </a:rPr>
              <a:t>Casi todas estas transformaciones </a:t>
            </a:r>
            <a:r>
              <a:rPr lang="en-US" sz="2000">
                <a:latin typeface="Candara"/>
                <a:ea typeface="Candara"/>
                <a:cs typeface="Candara"/>
                <a:sym typeface="Candara"/>
              </a:rPr>
              <a:t>implican</a:t>
            </a:r>
            <a:r>
              <a:rPr lang="en-US" sz="2000">
                <a:latin typeface="Candara"/>
                <a:ea typeface="Candara"/>
                <a:cs typeface="Candara"/>
                <a:sym typeface="Candara"/>
              </a:rPr>
              <a:t> un SHUFFLE (transformaciones WIDE).</a:t>
            </a:r>
            <a:endParaRPr sz="2000">
              <a:latin typeface="Candara"/>
              <a:ea typeface="Candara"/>
              <a:cs typeface="Candara"/>
              <a:sym typeface="Candara"/>
            </a:endParaRPr>
          </a:p>
          <a:p>
            <a:pPr indent="-342265" lvl="0" marL="354965" rtl="0" algn="just">
              <a:lnSpc>
                <a:spcPct val="100000"/>
              </a:lnSpc>
              <a:spcBef>
                <a:spcPts val="1310"/>
              </a:spcBef>
              <a:spcAft>
                <a:spcPts val="0"/>
              </a:spcAft>
              <a:buSzPts val="2000"/>
              <a:buFont typeface="Candara"/>
              <a:buChar char="•"/>
            </a:pPr>
            <a:r>
              <a:rPr lang="en-US" sz="2000">
                <a:latin typeface="Candara"/>
                <a:ea typeface="Candara"/>
                <a:cs typeface="Candara"/>
                <a:sym typeface="Candara"/>
              </a:rPr>
              <a:t>Podemos distinguir dos «pasos»: los CRITERIOS de agregación y la OPERACIÓN de agregación.</a:t>
            </a:r>
            <a:endParaRPr sz="2000">
              <a:latin typeface="Candara"/>
              <a:ea typeface="Candara"/>
              <a:cs typeface="Candara"/>
              <a:sym typeface="Candara"/>
            </a:endParaRPr>
          </a:p>
          <a:p>
            <a:pPr indent="0" lvl="0" marL="0" rtl="0" algn="just">
              <a:lnSpc>
                <a:spcPct val="100000"/>
              </a:lnSpc>
              <a:spcBef>
                <a:spcPts val="2115"/>
              </a:spcBef>
              <a:spcAft>
                <a:spcPts val="0"/>
              </a:spcAft>
              <a:buNone/>
            </a:pPr>
            <a:r>
              <a:t/>
            </a:r>
            <a:endParaRPr sz="2000">
              <a:latin typeface="Candara"/>
              <a:ea typeface="Candara"/>
              <a:cs typeface="Candara"/>
              <a:sym typeface="Candara"/>
            </a:endParaRPr>
          </a:p>
          <a:p>
            <a:pPr indent="0" lvl="0" marL="91440" rtl="0" algn="just">
              <a:lnSpc>
                <a:spcPct val="100000"/>
              </a:lnSpc>
              <a:spcBef>
                <a:spcPts val="0"/>
              </a:spcBef>
              <a:spcAft>
                <a:spcPts val="0"/>
              </a:spcAft>
              <a:buNone/>
            </a:pPr>
            <a:r>
              <a:rPr lang="en-US" sz="1800">
                <a:latin typeface="Candara"/>
                <a:ea typeface="Candara"/>
                <a:cs typeface="Candara"/>
                <a:sym typeface="Candara"/>
              </a:rPr>
              <a:t>newDF = productDF.groupBy(</a:t>
            </a:r>
            <a:r>
              <a:rPr lang="en-US" sz="1800">
                <a:solidFill>
                  <a:srgbClr val="A21414"/>
                </a:solidFill>
                <a:latin typeface="Candara"/>
                <a:ea typeface="Candara"/>
                <a:cs typeface="Candara"/>
                <a:sym typeface="Candara"/>
              </a:rPr>
              <a:t>"category"</a:t>
            </a:r>
            <a:r>
              <a:rPr lang="en-US" sz="1800">
                <a:latin typeface="Candara"/>
                <a:ea typeface="Candara"/>
                <a:cs typeface="Candara"/>
                <a:sym typeface="Candara"/>
              </a:rPr>
              <a:t>).agg(sum(</a:t>
            </a:r>
            <a:r>
              <a:rPr lang="en-US" sz="1800">
                <a:solidFill>
                  <a:srgbClr val="A21414"/>
                </a:solidFill>
                <a:latin typeface="Candara"/>
                <a:ea typeface="Candara"/>
                <a:cs typeface="Candara"/>
                <a:sym typeface="Candara"/>
              </a:rPr>
              <a:t>"kg"</a:t>
            </a:r>
            <a:r>
              <a:rPr lang="en-US" sz="1800">
                <a:latin typeface="Candara"/>
                <a:ea typeface="Candara"/>
                <a:cs typeface="Candara"/>
                <a:sym typeface="Candara"/>
              </a:rPr>
              <a:t>))</a:t>
            </a:r>
            <a:endParaRPr sz="1800">
              <a:latin typeface="Candara"/>
              <a:ea typeface="Candara"/>
              <a:cs typeface="Candara"/>
              <a:sym typeface="Candara"/>
            </a:endParaRPr>
          </a:p>
          <a:p>
            <a:pPr indent="0" lvl="0" marL="0" rtl="0" algn="just">
              <a:lnSpc>
                <a:spcPct val="100000"/>
              </a:lnSpc>
              <a:spcBef>
                <a:spcPts val="1639"/>
              </a:spcBef>
              <a:spcAft>
                <a:spcPts val="0"/>
              </a:spcAft>
              <a:buNone/>
            </a:pPr>
            <a:r>
              <a:t/>
            </a:r>
            <a:endParaRPr sz="2000">
              <a:latin typeface="Candara"/>
              <a:ea typeface="Candara"/>
              <a:cs typeface="Candara"/>
              <a:sym typeface="Candara"/>
            </a:endParaRPr>
          </a:p>
          <a:p>
            <a:pPr indent="0" lvl="0" marL="0" rtl="0" algn="just">
              <a:lnSpc>
                <a:spcPct val="100000"/>
              </a:lnSpc>
              <a:spcBef>
                <a:spcPts val="660"/>
              </a:spcBef>
              <a:spcAft>
                <a:spcPts val="0"/>
              </a:spcAft>
              <a:buNone/>
            </a:pPr>
            <a:r>
              <a:t/>
            </a:r>
            <a:endParaRPr sz="2000">
              <a:latin typeface="Candara"/>
              <a:ea typeface="Candara"/>
              <a:cs typeface="Candara"/>
              <a:sym typeface="Candara"/>
            </a:endParaRPr>
          </a:p>
          <a:p>
            <a:pPr indent="1270" lvl="0" marL="13334" marR="5080" rtl="0" algn="just">
              <a:lnSpc>
                <a:spcPct val="150000"/>
              </a:lnSpc>
              <a:spcBef>
                <a:spcPts val="95"/>
              </a:spcBef>
              <a:spcAft>
                <a:spcPts val="0"/>
              </a:spcAft>
              <a:buNone/>
            </a:pPr>
            <a:r>
              <a:rPr lang="en-US" sz="2000">
                <a:latin typeface="Candara"/>
                <a:ea typeface="Candara"/>
                <a:cs typeface="Candara"/>
                <a:sym typeface="Candara"/>
              </a:rPr>
              <a:t>Por lo tanto, en este caso, obtendremos un registro por cada categoría de producto diferente, por lo que esta es la «regla/criterio» con la que estamos agrupando.</a:t>
            </a:r>
            <a:endParaRPr sz="2000">
              <a:latin typeface="Candara"/>
              <a:ea typeface="Candara"/>
              <a:cs typeface="Candara"/>
              <a:sym typeface="Candara"/>
            </a:endParaRPr>
          </a:p>
          <a:p>
            <a:pPr indent="1270" lvl="0" marL="13334" marR="5080" rtl="0" algn="just">
              <a:lnSpc>
                <a:spcPct val="150000"/>
              </a:lnSpc>
              <a:spcBef>
                <a:spcPts val="95"/>
              </a:spcBef>
              <a:spcAft>
                <a:spcPts val="0"/>
              </a:spcAft>
              <a:buNone/>
            </a:pPr>
            <a:r>
              <a:rPr lang="en-US" sz="2000">
                <a:latin typeface="Candara"/>
                <a:ea typeface="Candara"/>
                <a:cs typeface="Candara"/>
                <a:sym typeface="Candara"/>
              </a:rPr>
              <a:t>Por otro lado, para cada uno de estos registros tendremos la suma de los valores de la columna kg para todos los registros que tengan la misma categoría.</a:t>
            </a:r>
            <a:endParaRPr sz="2000">
              <a:latin typeface="Candara"/>
              <a:ea typeface="Candara"/>
              <a:cs typeface="Candara"/>
              <a:sym typeface="Candara"/>
            </a:endParaRPr>
          </a:p>
        </p:txBody>
      </p:sp>
      <p:sp>
        <p:nvSpPr>
          <p:cNvPr id="320" name="Google Shape;320;p32"/>
          <p:cNvSpPr txBox="1"/>
          <p:nvPr>
            <p:ph idx="12" type="sldNum"/>
          </p:nvPr>
        </p:nvSpPr>
        <p:spPr>
          <a:xfrm>
            <a:off x="10945920" y="6574020"/>
            <a:ext cx="226200" cy="1617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latin typeface="Candara"/>
                <a:ea typeface="Candara"/>
                <a:cs typeface="Candara"/>
                <a:sym typeface="Candara"/>
              </a:rPr>
              <a:t>‹#›</a:t>
            </a:fld>
            <a:endParaRPr>
              <a:latin typeface="Candara"/>
              <a:ea typeface="Candara"/>
              <a:cs typeface="Candara"/>
              <a:sym typeface="Candara"/>
            </a:endParaRPr>
          </a:p>
        </p:txBody>
      </p:sp>
      <p:sp>
        <p:nvSpPr>
          <p:cNvPr id="321" name="Google Shape;321;p32"/>
          <p:cNvSpPr txBox="1"/>
          <p:nvPr/>
        </p:nvSpPr>
        <p:spPr>
          <a:xfrm>
            <a:off x="3059825" y="3809850"/>
            <a:ext cx="12543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AF50"/>
                </a:solidFill>
                <a:latin typeface="Candara"/>
                <a:ea typeface="Candara"/>
                <a:cs typeface="Candara"/>
                <a:sym typeface="Candara"/>
              </a:rPr>
              <a:t>CRITERIO</a:t>
            </a:r>
            <a:endParaRPr sz="2000">
              <a:solidFill>
                <a:srgbClr val="00AF50"/>
              </a:solidFill>
              <a:latin typeface="Candara"/>
              <a:ea typeface="Candara"/>
              <a:cs typeface="Candara"/>
              <a:sym typeface="Candara"/>
            </a:endParaRPr>
          </a:p>
        </p:txBody>
      </p:sp>
      <p:sp>
        <p:nvSpPr>
          <p:cNvPr id="322" name="Google Shape;322;p32"/>
          <p:cNvSpPr txBox="1"/>
          <p:nvPr/>
        </p:nvSpPr>
        <p:spPr>
          <a:xfrm>
            <a:off x="4753675" y="3809838"/>
            <a:ext cx="16053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FF0000"/>
                </a:solidFill>
                <a:latin typeface="Candara"/>
                <a:ea typeface="Candara"/>
                <a:cs typeface="Candara"/>
                <a:sym typeface="Candara"/>
              </a:rPr>
              <a:t>OPERACIÓN</a:t>
            </a:r>
            <a:endParaRPr sz="2000">
              <a:solidFill>
                <a:srgbClr val="FF0000"/>
              </a:solidFill>
              <a:latin typeface="Candara"/>
              <a:ea typeface="Candara"/>
              <a:cs typeface="Candara"/>
              <a:sym typeface="Candara"/>
            </a:endParaRPr>
          </a:p>
        </p:txBody>
      </p:sp>
      <p:sp>
        <p:nvSpPr>
          <p:cNvPr id="323" name="Google Shape;323;p32"/>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3"/>
          <p:cNvSpPr txBox="1"/>
          <p:nvPr>
            <p:ph type="title"/>
          </p:nvPr>
        </p:nvSpPr>
        <p:spPr>
          <a:xfrm>
            <a:off x="4161325" y="328300"/>
            <a:ext cx="4507500" cy="998700"/>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Clr>
                <a:schemeClr val="dk1"/>
              </a:buClr>
              <a:buFont typeface="Arial"/>
              <a:buNone/>
            </a:pPr>
            <a:r>
              <a:rPr lang="en-US">
                <a:latin typeface="Candara"/>
                <a:ea typeface="Candara"/>
                <a:cs typeface="Candara"/>
                <a:sym typeface="Candara"/>
              </a:rPr>
              <a:t>Ejemplo de </a:t>
            </a:r>
            <a:r>
              <a:rPr lang="en-US">
                <a:latin typeface="Candara"/>
                <a:ea typeface="Candara"/>
                <a:cs typeface="Candara"/>
                <a:sym typeface="Candara"/>
              </a:rPr>
              <a:t>Agregaciones</a:t>
            </a:r>
            <a:endParaRPr>
              <a:latin typeface="Candara"/>
              <a:ea typeface="Candara"/>
              <a:cs typeface="Candara"/>
              <a:sym typeface="Candara"/>
            </a:endParaRPr>
          </a:p>
          <a:p>
            <a:pPr indent="0" lvl="0" marL="1999614" rtl="0" algn="l">
              <a:lnSpc>
                <a:spcPct val="100000"/>
              </a:lnSpc>
              <a:spcBef>
                <a:spcPts val="0"/>
              </a:spcBef>
              <a:spcAft>
                <a:spcPts val="0"/>
              </a:spcAft>
              <a:buNone/>
            </a:pPr>
            <a:r>
              <a:t/>
            </a:r>
            <a:endParaRPr/>
          </a:p>
        </p:txBody>
      </p:sp>
      <p:sp>
        <p:nvSpPr>
          <p:cNvPr id="329" name="Google Shape;329;p33"/>
          <p:cNvSpPr txBox="1"/>
          <p:nvPr/>
        </p:nvSpPr>
        <p:spPr>
          <a:xfrm>
            <a:off x="1306642" y="1496842"/>
            <a:ext cx="2030700" cy="289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ndara"/>
                <a:ea typeface="Candara"/>
                <a:cs typeface="Candara"/>
                <a:sym typeface="Candara"/>
              </a:rPr>
              <a:t>productDF.show()</a:t>
            </a:r>
            <a:endParaRPr sz="1800">
              <a:latin typeface="Candara"/>
              <a:ea typeface="Candara"/>
              <a:cs typeface="Candara"/>
              <a:sym typeface="Candara"/>
            </a:endParaRPr>
          </a:p>
        </p:txBody>
      </p:sp>
      <p:sp>
        <p:nvSpPr>
          <p:cNvPr id="330" name="Google Shape;330;p33"/>
          <p:cNvSpPr txBox="1"/>
          <p:nvPr/>
        </p:nvSpPr>
        <p:spPr>
          <a:xfrm>
            <a:off x="4920315" y="1427720"/>
            <a:ext cx="2989500" cy="8439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ndara"/>
                <a:ea typeface="Candara"/>
                <a:cs typeface="Candara"/>
                <a:sym typeface="Candara"/>
              </a:rPr>
              <a:t>productDF2 = (productDF</a:t>
            </a:r>
            <a:endParaRPr sz="1800">
              <a:latin typeface="Candara"/>
              <a:ea typeface="Candara"/>
              <a:cs typeface="Candara"/>
              <a:sym typeface="Candara"/>
            </a:endParaRPr>
          </a:p>
          <a:p>
            <a:pPr indent="0" lvl="0" marL="469900" rtl="0" algn="l">
              <a:lnSpc>
                <a:spcPct val="100000"/>
              </a:lnSpc>
              <a:spcBef>
                <a:spcPts val="0"/>
              </a:spcBef>
              <a:spcAft>
                <a:spcPts val="0"/>
              </a:spcAft>
              <a:buNone/>
            </a:pPr>
            <a:r>
              <a:rPr lang="en-US" sz="1800">
                <a:latin typeface="Candara"/>
                <a:ea typeface="Candara"/>
                <a:cs typeface="Candara"/>
                <a:sym typeface="Candara"/>
              </a:rPr>
              <a:t>.groupBy(</a:t>
            </a:r>
            <a:r>
              <a:rPr lang="en-US" sz="1800">
                <a:solidFill>
                  <a:srgbClr val="A21414"/>
                </a:solidFill>
                <a:latin typeface="Candara"/>
                <a:ea typeface="Candara"/>
                <a:cs typeface="Candara"/>
                <a:sym typeface="Candara"/>
              </a:rPr>
              <a:t>"category"</a:t>
            </a:r>
            <a:r>
              <a:rPr lang="en-US" sz="1800">
                <a:latin typeface="Candara"/>
                <a:ea typeface="Candara"/>
                <a:cs typeface="Candara"/>
                <a:sym typeface="Candara"/>
              </a:rPr>
              <a:t>)</a:t>
            </a:r>
            <a:endParaRPr sz="1800">
              <a:latin typeface="Candara"/>
              <a:ea typeface="Candara"/>
              <a:cs typeface="Candara"/>
              <a:sym typeface="Candara"/>
            </a:endParaRPr>
          </a:p>
          <a:p>
            <a:pPr indent="0" lvl="0" marL="469900" rtl="0" algn="l">
              <a:lnSpc>
                <a:spcPct val="100000"/>
              </a:lnSpc>
              <a:spcBef>
                <a:spcPts val="0"/>
              </a:spcBef>
              <a:spcAft>
                <a:spcPts val="0"/>
              </a:spcAft>
              <a:buNone/>
            </a:pPr>
            <a:r>
              <a:rPr lang="en-US" sz="1800">
                <a:latin typeface="Candara"/>
                <a:ea typeface="Candara"/>
                <a:cs typeface="Candara"/>
                <a:sym typeface="Candara"/>
              </a:rPr>
              <a:t>.agg(sum(</a:t>
            </a:r>
            <a:r>
              <a:rPr lang="en-US" sz="1800">
                <a:solidFill>
                  <a:srgbClr val="A21414"/>
                </a:solidFill>
                <a:latin typeface="Candara"/>
                <a:ea typeface="Candara"/>
                <a:cs typeface="Candara"/>
                <a:sym typeface="Candara"/>
              </a:rPr>
              <a:t>"kg"</a:t>
            </a:r>
            <a:r>
              <a:rPr lang="en-US" sz="1800">
                <a:latin typeface="Candara"/>
                <a:ea typeface="Candara"/>
                <a:cs typeface="Candara"/>
                <a:sym typeface="Candara"/>
              </a:rPr>
              <a:t>)))</a:t>
            </a:r>
            <a:endParaRPr sz="1800">
              <a:latin typeface="Candara"/>
              <a:ea typeface="Candara"/>
              <a:cs typeface="Candara"/>
              <a:sym typeface="Candara"/>
            </a:endParaRPr>
          </a:p>
        </p:txBody>
      </p:sp>
      <p:pic>
        <p:nvPicPr>
          <p:cNvPr id="331" name="Google Shape;331;p33"/>
          <p:cNvPicPr preferRelativeResize="0"/>
          <p:nvPr/>
        </p:nvPicPr>
        <p:blipFill rotWithShape="1">
          <a:blip r:embed="rId3">
            <a:alphaModFix/>
          </a:blip>
          <a:srcRect b="0" l="0" r="0" t="0"/>
          <a:stretch/>
        </p:blipFill>
        <p:spPr>
          <a:xfrm>
            <a:off x="269753" y="1901958"/>
            <a:ext cx="4104519" cy="2419717"/>
          </a:xfrm>
          <a:prstGeom prst="rect">
            <a:avLst/>
          </a:prstGeom>
          <a:noFill/>
          <a:ln>
            <a:noFill/>
          </a:ln>
        </p:spPr>
      </p:pic>
      <p:pic>
        <p:nvPicPr>
          <p:cNvPr id="332" name="Google Shape;332;p33"/>
          <p:cNvPicPr preferRelativeResize="0"/>
          <p:nvPr/>
        </p:nvPicPr>
        <p:blipFill rotWithShape="1">
          <a:blip r:embed="rId4">
            <a:alphaModFix/>
          </a:blip>
          <a:srcRect b="0" l="0" r="0" t="0"/>
          <a:stretch/>
        </p:blipFill>
        <p:spPr>
          <a:xfrm>
            <a:off x="9384800" y="1541480"/>
            <a:ext cx="1543410" cy="1332440"/>
          </a:xfrm>
          <a:prstGeom prst="rect">
            <a:avLst/>
          </a:prstGeom>
          <a:noFill/>
          <a:ln>
            <a:noFill/>
          </a:ln>
        </p:spPr>
      </p:pic>
      <p:sp>
        <p:nvSpPr>
          <p:cNvPr id="333" name="Google Shape;333;p33"/>
          <p:cNvSpPr txBox="1"/>
          <p:nvPr/>
        </p:nvSpPr>
        <p:spPr>
          <a:xfrm>
            <a:off x="4920325" y="2438425"/>
            <a:ext cx="4009500" cy="2741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800">
                <a:latin typeface="Candara"/>
                <a:ea typeface="Candara"/>
                <a:cs typeface="Candara"/>
                <a:sym typeface="Candara"/>
              </a:rPr>
              <a:t>productDF2.show()</a:t>
            </a:r>
            <a:endParaRPr sz="1800">
              <a:latin typeface="Candara"/>
              <a:ea typeface="Candara"/>
              <a:cs typeface="Candara"/>
              <a:sym typeface="Candara"/>
            </a:endParaRPr>
          </a:p>
          <a:p>
            <a:pPr indent="0" lvl="0" marL="0" rtl="0" algn="l">
              <a:lnSpc>
                <a:spcPct val="100000"/>
              </a:lnSpc>
              <a:spcBef>
                <a:spcPts val="0"/>
              </a:spcBef>
              <a:spcAft>
                <a:spcPts val="0"/>
              </a:spcAft>
              <a:buNone/>
            </a:pPr>
            <a:r>
              <a:t/>
            </a:r>
            <a:endParaRPr sz="1800">
              <a:latin typeface="Candara"/>
              <a:ea typeface="Candara"/>
              <a:cs typeface="Candara"/>
              <a:sym typeface="Candara"/>
            </a:endParaRPr>
          </a:p>
          <a:p>
            <a:pPr indent="0" lvl="0" marL="0" rtl="0" algn="l">
              <a:lnSpc>
                <a:spcPct val="100000"/>
              </a:lnSpc>
              <a:spcBef>
                <a:spcPts val="890"/>
              </a:spcBef>
              <a:spcAft>
                <a:spcPts val="0"/>
              </a:spcAft>
              <a:buNone/>
            </a:pPr>
            <a:r>
              <a:t/>
            </a:r>
            <a:endParaRPr sz="1800">
              <a:latin typeface="Candara"/>
              <a:ea typeface="Candara"/>
              <a:cs typeface="Candara"/>
              <a:sym typeface="Candara"/>
            </a:endParaRPr>
          </a:p>
          <a:p>
            <a:pPr indent="0" lvl="0" marL="0" rtl="0" algn="l">
              <a:lnSpc>
                <a:spcPct val="100000"/>
              </a:lnSpc>
              <a:spcBef>
                <a:spcPts val="890"/>
              </a:spcBef>
              <a:spcAft>
                <a:spcPts val="0"/>
              </a:spcAft>
              <a:buNone/>
            </a:pPr>
            <a:r>
              <a:t/>
            </a:r>
            <a:endParaRPr sz="1800">
              <a:latin typeface="Candara"/>
              <a:ea typeface="Candara"/>
              <a:cs typeface="Candara"/>
              <a:sym typeface="Candara"/>
            </a:endParaRPr>
          </a:p>
          <a:p>
            <a:pPr indent="0" lvl="0" marL="12700" rtl="0" algn="l">
              <a:lnSpc>
                <a:spcPct val="100000"/>
              </a:lnSpc>
              <a:spcBef>
                <a:spcPts val="5"/>
              </a:spcBef>
              <a:spcAft>
                <a:spcPts val="0"/>
              </a:spcAft>
              <a:buNone/>
            </a:pPr>
            <a:r>
              <a:rPr lang="en-US" sz="1800">
                <a:latin typeface="Candara"/>
                <a:ea typeface="Candara"/>
                <a:cs typeface="Candara"/>
                <a:sym typeface="Candara"/>
              </a:rPr>
              <a:t>productDF3 = (productDF</a:t>
            </a:r>
            <a:endParaRPr sz="1800">
              <a:latin typeface="Candara"/>
              <a:ea typeface="Candara"/>
              <a:cs typeface="Candara"/>
              <a:sym typeface="Candara"/>
            </a:endParaRPr>
          </a:p>
          <a:p>
            <a:pPr indent="0" lvl="0" marL="469900" rtl="0" algn="l">
              <a:lnSpc>
                <a:spcPct val="100000"/>
              </a:lnSpc>
              <a:spcBef>
                <a:spcPts val="0"/>
              </a:spcBef>
              <a:spcAft>
                <a:spcPts val="0"/>
              </a:spcAft>
              <a:buNone/>
            </a:pPr>
            <a:r>
              <a:rPr lang="en-US" sz="1800">
                <a:latin typeface="Candara"/>
                <a:ea typeface="Candara"/>
                <a:cs typeface="Candara"/>
                <a:sym typeface="Candara"/>
              </a:rPr>
              <a:t>.groupBy(</a:t>
            </a:r>
            <a:r>
              <a:rPr lang="en-US" sz="1800">
                <a:solidFill>
                  <a:srgbClr val="A21414"/>
                </a:solidFill>
                <a:latin typeface="Candara"/>
                <a:ea typeface="Candara"/>
                <a:cs typeface="Candara"/>
                <a:sym typeface="Candara"/>
              </a:rPr>
              <a:t>"origin"</a:t>
            </a:r>
            <a:r>
              <a:rPr lang="en-US" sz="1800">
                <a:latin typeface="Candara"/>
                <a:ea typeface="Candara"/>
                <a:cs typeface="Candara"/>
                <a:sym typeface="Candara"/>
              </a:rPr>
              <a:t>)</a:t>
            </a:r>
            <a:endParaRPr sz="1800">
              <a:latin typeface="Candara"/>
              <a:ea typeface="Candara"/>
              <a:cs typeface="Candara"/>
              <a:sym typeface="Candara"/>
            </a:endParaRPr>
          </a:p>
          <a:p>
            <a:pPr indent="0" lvl="0" marL="469900" rtl="0" algn="l">
              <a:lnSpc>
                <a:spcPct val="100000"/>
              </a:lnSpc>
              <a:spcBef>
                <a:spcPts val="0"/>
              </a:spcBef>
              <a:spcAft>
                <a:spcPts val="0"/>
              </a:spcAft>
              <a:buNone/>
            </a:pPr>
            <a:r>
              <a:rPr lang="en-US" sz="1800">
                <a:latin typeface="Candara"/>
                <a:ea typeface="Candara"/>
                <a:cs typeface="Candara"/>
                <a:sym typeface="Candara"/>
              </a:rPr>
              <a:t>.agg(sum(</a:t>
            </a:r>
            <a:r>
              <a:rPr lang="en-US" sz="1800">
                <a:solidFill>
                  <a:srgbClr val="A21414"/>
                </a:solidFill>
                <a:latin typeface="Candara"/>
                <a:ea typeface="Candara"/>
                <a:cs typeface="Candara"/>
                <a:sym typeface="Candara"/>
              </a:rPr>
              <a:t>"kg"</a:t>
            </a:r>
            <a:r>
              <a:rPr lang="en-US" sz="1800">
                <a:latin typeface="Candara"/>
                <a:ea typeface="Candara"/>
                <a:cs typeface="Candara"/>
                <a:sym typeface="Candara"/>
              </a:rPr>
              <a:t>).alias(</a:t>
            </a:r>
            <a:r>
              <a:rPr lang="en-US" sz="1800">
                <a:solidFill>
                  <a:srgbClr val="A21414"/>
                </a:solidFill>
                <a:latin typeface="Candara"/>
                <a:ea typeface="Candara"/>
                <a:cs typeface="Candara"/>
                <a:sym typeface="Candara"/>
              </a:rPr>
              <a:t>"total_kg"</a:t>
            </a:r>
            <a:r>
              <a:rPr lang="en-US" sz="1800">
                <a:latin typeface="Candara"/>
                <a:ea typeface="Candara"/>
                <a:cs typeface="Candara"/>
                <a:sym typeface="Candara"/>
              </a:rPr>
              <a:t>)))</a:t>
            </a:r>
            <a:endParaRPr sz="1800">
              <a:latin typeface="Candara"/>
              <a:ea typeface="Candara"/>
              <a:cs typeface="Candara"/>
              <a:sym typeface="Candara"/>
            </a:endParaRPr>
          </a:p>
          <a:p>
            <a:pPr indent="0" lvl="0" marL="0" rtl="0" algn="l">
              <a:lnSpc>
                <a:spcPct val="100000"/>
              </a:lnSpc>
              <a:spcBef>
                <a:spcPts val="50"/>
              </a:spcBef>
              <a:spcAft>
                <a:spcPts val="0"/>
              </a:spcAft>
              <a:buNone/>
            </a:pPr>
            <a:r>
              <a:t/>
            </a:r>
            <a:endParaRPr sz="1800">
              <a:latin typeface="Candara"/>
              <a:ea typeface="Candara"/>
              <a:cs typeface="Candara"/>
              <a:sym typeface="Candara"/>
            </a:endParaRPr>
          </a:p>
          <a:p>
            <a:pPr indent="0" lvl="0" marL="12700" rtl="0" algn="l">
              <a:lnSpc>
                <a:spcPct val="100000"/>
              </a:lnSpc>
              <a:spcBef>
                <a:spcPts val="0"/>
              </a:spcBef>
              <a:spcAft>
                <a:spcPts val="0"/>
              </a:spcAft>
              <a:buNone/>
            </a:pPr>
            <a:r>
              <a:rPr lang="en-US" sz="1800">
                <a:latin typeface="Candara"/>
                <a:ea typeface="Candara"/>
                <a:cs typeface="Candara"/>
                <a:sym typeface="Candara"/>
              </a:rPr>
              <a:t>productDF3.show()</a:t>
            </a:r>
            <a:endParaRPr sz="1800">
              <a:latin typeface="Candara"/>
              <a:ea typeface="Candara"/>
              <a:cs typeface="Candara"/>
              <a:sym typeface="Candara"/>
            </a:endParaRPr>
          </a:p>
        </p:txBody>
      </p:sp>
      <p:pic>
        <p:nvPicPr>
          <p:cNvPr id="334" name="Google Shape;334;p33"/>
          <p:cNvPicPr preferRelativeResize="0"/>
          <p:nvPr/>
        </p:nvPicPr>
        <p:blipFill rotWithShape="1">
          <a:blip r:embed="rId5">
            <a:alphaModFix/>
          </a:blip>
          <a:srcRect b="0" l="0" r="0" t="0"/>
          <a:stretch/>
        </p:blipFill>
        <p:spPr>
          <a:xfrm>
            <a:off x="9664536" y="3708473"/>
            <a:ext cx="1248132" cy="1152524"/>
          </a:xfrm>
          <a:prstGeom prst="rect">
            <a:avLst/>
          </a:prstGeom>
          <a:noFill/>
          <a:ln>
            <a:noFill/>
          </a:ln>
        </p:spPr>
      </p:pic>
      <p:sp>
        <p:nvSpPr>
          <p:cNvPr id="335" name="Google Shape;335;p33"/>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grpSp>
        <p:nvGrpSpPr>
          <p:cNvPr id="336" name="Google Shape;336;p33"/>
          <p:cNvGrpSpPr/>
          <p:nvPr/>
        </p:nvGrpSpPr>
        <p:grpSpPr>
          <a:xfrm rot="-5400000">
            <a:off x="8383120" y="1993802"/>
            <a:ext cx="241300" cy="314326"/>
            <a:chOff x="5341620" y="1863852"/>
            <a:chExt cx="241300" cy="314326"/>
          </a:xfrm>
        </p:grpSpPr>
        <p:sp>
          <p:nvSpPr>
            <p:cNvPr id="337" name="Google Shape;337;p33"/>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8" name="Google Shape;338;p33"/>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39" name="Google Shape;339;p33"/>
          <p:cNvGrpSpPr/>
          <p:nvPr/>
        </p:nvGrpSpPr>
        <p:grpSpPr>
          <a:xfrm rot="-5400000">
            <a:off x="8966345" y="4043852"/>
            <a:ext cx="241300" cy="314326"/>
            <a:chOff x="5341620" y="1863852"/>
            <a:chExt cx="241300" cy="314326"/>
          </a:xfrm>
        </p:grpSpPr>
        <p:sp>
          <p:nvSpPr>
            <p:cNvPr id="340" name="Google Shape;340;p33"/>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1" name="Google Shape;341;p33"/>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42" name="Google Shape;342;p33"/>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4"/>
          <p:cNvSpPr txBox="1"/>
          <p:nvPr>
            <p:ph type="title"/>
          </p:nvPr>
        </p:nvSpPr>
        <p:spPr>
          <a:xfrm>
            <a:off x="3799973" y="371600"/>
            <a:ext cx="45942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groupBy en Agregaciones</a:t>
            </a:r>
            <a:endParaRPr/>
          </a:p>
        </p:txBody>
      </p:sp>
      <p:sp>
        <p:nvSpPr>
          <p:cNvPr id="348" name="Google Shape;348;p34"/>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349" name="Google Shape;349;p34"/>
          <p:cNvSpPr txBox="1"/>
          <p:nvPr/>
        </p:nvSpPr>
        <p:spPr>
          <a:xfrm>
            <a:off x="733540" y="1227018"/>
            <a:ext cx="10570800" cy="3722400"/>
          </a:xfrm>
          <a:prstGeom prst="rect">
            <a:avLst/>
          </a:prstGeom>
          <a:noFill/>
          <a:ln>
            <a:noFill/>
          </a:ln>
        </p:spPr>
        <p:txBody>
          <a:bodyPr anchorCtr="0" anchor="t" bIns="0" lIns="0" spcFirstLastPara="1" rIns="0" wrap="square" tIns="12050">
            <a:spAutoFit/>
          </a:bodyPr>
          <a:lstStyle/>
          <a:p>
            <a:pPr indent="-341630" lvl="0" marL="353695" marR="6985" rtl="0" algn="l">
              <a:lnSpc>
                <a:spcPct val="150000"/>
              </a:lnSpc>
              <a:spcBef>
                <a:spcPts val="0"/>
              </a:spcBef>
              <a:spcAft>
                <a:spcPts val="0"/>
              </a:spcAft>
              <a:buSzPts val="2000"/>
              <a:buFont typeface="Arial"/>
              <a:buChar char="•"/>
            </a:pPr>
            <a:r>
              <a:rPr lang="en-US" sz="2000">
                <a:latin typeface="Candara"/>
                <a:ea typeface="Candara"/>
                <a:cs typeface="Candara"/>
                <a:sym typeface="Candara"/>
              </a:rPr>
              <a:t>Las transformaciones de agrupación (como .groupBy()) requieren una función de agregación (.sum(), .avg(), .count()) inmediatamente después para colapsar las filas en un único valor.</a:t>
            </a:r>
            <a:endParaRPr sz="2000">
              <a:latin typeface="Candara"/>
              <a:ea typeface="Candara"/>
              <a:cs typeface="Candara"/>
              <a:sym typeface="Candara"/>
            </a:endParaRPr>
          </a:p>
          <a:p>
            <a:pPr indent="0" lvl="0" marL="457200" marR="6985" rtl="0" algn="l">
              <a:lnSpc>
                <a:spcPct val="150000"/>
              </a:lnSpc>
              <a:spcBef>
                <a:spcPts val="0"/>
              </a:spcBef>
              <a:spcAft>
                <a:spcPts val="0"/>
              </a:spcAft>
              <a:buNone/>
            </a:pPr>
            <a:r>
              <a:t/>
            </a:r>
            <a:endParaRPr sz="2000">
              <a:latin typeface="Candara"/>
              <a:ea typeface="Candara"/>
              <a:cs typeface="Candara"/>
              <a:sym typeface="Candara"/>
            </a:endParaRPr>
          </a:p>
          <a:p>
            <a:pPr indent="-342265" lvl="0" marL="354330" marR="9525" rtl="0" algn="l">
              <a:lnSpc>
                <a:spcPct val="150000"/>
              </a:lnSpc>
              <a:spcBef>
                <a:spcPts val="0"/>
              </a:spcBef>
              <a:spcAft>
                <a:spcPts val="0"/>
              </a:spcAft>
              <a:buSzPts val="2000"/>
              <a:buFont typeface="Arial"/>
              <a:buChar char="•"/>
            </a:pPr>
            <a:r>
              <a:rPr lang="en-US" sz="2000">
                <a:latin typeface="Candara"/>
                <a:ea typeface="Candara"/>
                <a:cs typeface="Candara"/>
                <a:sym typeface="Candara"/>
              </a:rPr>
              <a:t>Las transformaciones de reordenación o combinación (como .orderBy() o .join()) son amplias porque fuerzan un Shuffle para mover datos, pero su resultado ya es un nuevo DataFrame (reorganizado o unido) sin necesidad de colapsar filas.</a:t>
            </a:r>
            <a:endParaRPr sz="2000">
              <a:latin typeface="Candara"/>
              <a:ea typeface="Candara"/>
              <a:cs typeface="Candara"/>
              <a:sym typeface="Candara"/>
            </a:endParaRPr>
          </a:p>
          <a:p>
            <a:pPr indent="0" lvl="0" marL="457200" marR="9525" rtl="0" algn="l">
              <a:lnSpc>
                <a:spcPct val="150000"/>
              </a:lnSpc>
              <a:spcBef>
                <a:spcPts val="0"/>
              </a:spcBef>
              <a:spcAft>
                <a:spcPts val="0"/>
              </a:spcAft>
              <a:buNone/>
            </a:pPr>
            <a:r>
              <a:t/>
            </a:r>
            <a:endParaRPr sz="2000">
              <a:latin typeface="Candara"/>
              <a:ea typeface="Candara"/>
              <a:cs typeface="Candara"/>
              <a:sym typeface="Candara"/>
            </a:endParaRPr>
          </a:p>
          <a:p>
            <a:pPr indent="457200" lvl="0" marL="1828800" marR="2255520" rtl="0" algn="l">
              <a:lnSpc>
                <a:spcPct val="200000"/>
              </a:lnSpc>
              <a:spcBef>
                <a:spcPts val="1325"/>
              </a:spcBef>
              <a:spcAft>
                <a:spcPts val="0"/>
              </a:spcAft>
              <a:buNone/>
            </a:pPr>
            <a:r>
              <a:rPr lang="en-US" sz="2000">
                <a:latin typeface="Candara"/>
                <a:ea typeface="Candara"/>
                <a:cs typeface="Candara"/>
                <a:sym typeface="Candara"/>
              </a:rPr>
              <a:t>newDF = productDF.</a:t>
            </a:r>
            <a:r>
              <a:rPr lang="en-US" sz="2000">
                <a:solidFill>
                  <a:srgbClr val="A21414"/>
                </a:solidFill>
                <a:latin typeface="Candara"/>
                <a:ea typeface="Candara"/>
                <a:cs typeface="Candara"/>
                <a:sym typeface="Candara"/>
              </a:rPr>
              <a:t>groupBy</a:t>
            </a:r>
            <a:r>
              <a:rPr lang="en-US" sz="2000">
                <a:latin typeface="Candara"/>
                <a:ea typeface="Candara"/>
                <a:cs typeface="Candara"/>
                <a:sym typeface="Candara"/>
              </a:rPr>
              <a:t>("category").avg("kg")</a:t>
            </a:r>
            <a:endParaRPr sz="1800">
              <a:latin typeface="Consolas"/>
              <a:ea typeface="Consolas"/>
              <a:cs typeface="Consolas"/>
              <a:sym typeface="Consolas"/>
            </a:endParaRPr>
          </a:p>
        </p:txBody>
      </p:sp>
      <p:sp>
        <p:nvSpPr>
          <p:cNvPr id="350" name="Google Shape;350;p34"/>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5"/>
          <p:cNvSpPr txBox="1"/>
          <p:nvPr/>
        </p:nvSpPr>
        <p:spPr>
          <a:xfrm>
            <a:off x="702454" y="1030721"/>
            <a:ext cx="10601400" cy="2738400"/>
          </a:xfrm>
          <a:prstGeom prst="rect">
            <a:avLst/>
          </a:prstGeom>
          <a:noFill/>
          <a:ln>
            <a:noFill/>
          </a:ln>
        </p:spPr>
        <p:txBody>
          <a:bodyPr anchorCtr="0" anchor="t" bIns="0" lIns="0" spcFirstLastPara="1" rIns="0" wrap="square" tIns="177150">
            <a:spAutoFit/>
          </a:bodyPr>
          <a:lstStyle/>
          <a:p>
            <a:pPr indent="-341630" lvl="0" marL="384810" marR="5080" rtl="0" algn="l">
              <a:lnSpc>
                <a:spcPct val="150000"/>
              </a:lnSpc>
              <a:spcBef>
                <a:spcPts val="110"/>
              </a:spcBef>
              <a:spcAft>
                <a:spcPts val="0"/>
              </a:spcAft>
              <a:buSzPts val="2000"/>
              <a:buFont typeface="Candara"/>
              <a:buChar char="•"/>
            </a:pPr>
            <a:r>
              <a:rPr lang="en-US" sz="2000">
                <a:latin typeface="Candara"/>
                <a:ea typeface="Candara"/>
                <a:cs typeface="Candara"/>
                <a:sym typeface="Candara"/>
              </a:rPr>
              <a:t>Otra operación común con DataFrames es unir dos de ellos.</a:t>
            </a:r>
            <a:endParaRPr sz="2000">
              <a:latin typeface="Candara"/>
              <a:ea typeface="Candara"/>
              <a:cs typeface="Candara"/>
              <a:sym typeface="Candara"/>
            </a:endParaRPr>
          </a:p>
          <a:p>
            <a:pPr indent="-341630" lvl="0" marL="384810" marR="5080" rtl="0" algn="l">
              <a:lnSpc>
                <a:spcPct val="150000"/>
              </a:lnSpc>
              <a:spcBef>
                <a:spcPts val="110"/>
              </a:spcBef>
              <a:spcAft>
                <a:spcPts val="0"/>
              </a:spcAft>
              <a:buSzPts val="2000"/>
              <a:buFont typeface="Candara"/>
              <a:buChar char="•"/>
            </a:pPr>
            <a:r>
              <a:rPr lang="en-US" sz="2000">
                <a:latin typeface="Candara"/>
                <a:ea typeface="Candara"/>
                <a:cs typeface="Candara"/>
                <a:sym typeface="Candara"/>
              </a:rPr>
              <a:t>Como resultado, obtendremos un nuevo DF con la información de ambos DF originales.</a:t>
            </a:r>
            <a:endParaRPr sz="2000">
              <a:latin typeface="Candara"/>
              <a:ea typeface="Candara"/>
              <a:cs typeface="Candara"/>
              <a:sym typeface="Candara"/>
            </a:endParaRPr>
          </a:p>
          <a:p>
            <a:pPr indent="-341630" lvl="0" marL="384810" marR="5080" rtl="0" algn="l">
              <a:lnSpc>
                <a:spcPct val="150000"/>
              </a:lnSpc>
              <a:spcBef>
                <a:spcPts val="110"/>
              </a:spcBef>
              <a:spcAft>
                <a:spcPts val="0"/>
              </a:spcAft>
              <a:buSzPts val="2000"/>
              <a:buFont typeface="Candara"/>
              <a:buChar char="•"/>
            </a:pPr>
            <a:r>
              <a:rPr lang="en-US" sz="2000">
                <a:latin typeface="Candara"/>
                <a:ea typeface="Candara"/>
                <a:cs typeface="Candara"/>
                <a:sym typeface="Candara"/>
              </a:rPr>
              <a:t>Para realizar esta operación, debemos proporcionar una condición de unión, que será una (o más) igualdad entre dos columnas, una de cada uno de los DF.</a:t>
            </a:r>
            <a:endParaRPr sz="2000">
              <a:latin typeface="Candara"/>
              <a:ea typeface="Candara"/>
              <a:cs typeface="Candara"/>
              <a:sym typeface="Candara"/>
            </a:endParaRPr>
          </a:p>
          <a:p>
            <a:pPr indent="0" lvl="0" marL="457200" marR="5080" rtl="0" algn="l">
              <a:lnSpc>
                <a:spcPct val="150000"/>
              </a:lnSpc>
              <a:spcBef>
                <a:spcPts val="110"/>
              </a:spcBef>
              <a:spcAft>
                <a:spcPts val="0"/>
              </a:spcAft>
              <a:buNone/>
            </a:pPr>
            <a:r>
              <a:t/>
            </a:r>
            <a:endParaRPr sz="1700">
              <a:latin typeface="Candara"/>
              <a:ea typeface="Candara"/>
              <a:cs typeface="Candara"/>
              <a:sym typeface="Candara"/>
            </a:endParaRPr>
          </a:p>
          <a:p>
            <a:pPr indent="0" lvl="0" marL="12700" rtl="0" algn="l">
              <a:lnSpc>
                <a:spcPct val="100000"/>
              </a:lnSpc>
              <a:spcBef>
                <a:spcPts val="5"/>
              </a:spcBef>
              <a:spcAft>
                <a:spcPts val="0"/>
              </a:spcAft>
              <a:buNone/>
            </a:pPr>
            <a:r>
              <a:rPr lang="en-US" sz="1800">
                <a:latin typeface="Candara"/>
                <a:ea typeface="Candara"/>
                <a:cs typeface="Candara"/>
                <a:sym typeface="Candara"/>
              </a:rPr>
              <a:t>joined_df = employee_df.join(orders_df, col(</a:t>
            </a:r>
            <a:r>
              <a:rPr lang="en-US" sz="1800">
                <a:solidFill>
                  <a:srgbClr val="A21414"/>
                </a:solidFill>
                <a:latin typeface="Candara"/>
                <a:ea typeface="Candara"/>
                <a:cs typeface="Candara"/>
                <a:sym typeface="Candara"/>
              </a:rPr>
              <a:t>'col_name'</a:t>
            </a:r>
            <a:r>
              <a:rPr lang="en-US" sz="1800">
                <a:latin typeface="Candara"/>
                <a:ea typeface="Candara"/>
                <a:cs typeface="Candara"/>
                <a:sym typeface="Candara"/>
              </a:rPr>
              <a:t>) == col(</a:t>
            </a:r>
            <a:r>
              <a:rPr lang="en-US" sz="1800">
                <a:solidFill>
                  <a:srgbClr val="A21414"/>
                </a:solidFill>
                <a:latin typeface="Candara"/>
                <a:ea typeface="Candara"/>
                <a:cs typeface="Candara"/>
                <a:sym typeface="Candara"/>
              </a:rPr>
              <a:t>'col_name'</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'inner'</a:t>
            </a:r>
            <a:r>
              <a:rPr lang="en-US" sz="1800">
                <a:latin typeface="Candara"/>
                <a:ea typeface="Candara"/>
                <a:cs typeface="Candara"/>
                <a:sym typeface="Candara"/>
              </a:rPr>
              <a:t>)</a:t>
            </a:r>
            <a:endParaRPr sz="1800">
              <a:latin typeface="Candara"/>
              <a:ea typeface="Candara"/>
              <a:cs typeface="Candara"/>
              <a:sym typeface="Candara"/>
            </a:endParaRPr>
          </a:p>
        </p:txBody>
      </p:sp>
      <p:sp>
        <p:nvSpPr>
          <p:cNvPr id="356" name="Google Shape;356;p35"/>
          <p:cNvSpPr txBox="1"/>
          <p:nvPr/>
        </p:nvSpPr>
        <p:spPr>
          <a:xfrm>
            <a:off x="2268500" y="4047639"/>
            <a:ext cx="4317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solidFill>
                  <a:srgbClr val="499B82"/>
                </a:solidFill>
                <a:latin typeface="Candara"/>
                <a:ea typeface="Candara"/>
                <a:cs typeface="Candara"/>
                <a:sym typeface="Candara"/>
              </a:rPr>
              <a:t>DF1</a:t>
            </a:r>
            <a:endParaRPr sz="2000">
              <a:latin typeface="Candara"/>
              <a:ea typeface="Candara"/>
              <a:cs typeface="Candara"/>
              <a:sym typeface="Candara"/>
            </a:endParaRPr>
          </a:p>
        </p:txBody>
      </p:sp>
      <p:sp>
        <p:nvSpPr>
          <p:cNvPr id="357" name="Google Shape;357;p35"/>
          <p:cNvSpPr txBox="1"/>
          <p:nvPr/>
        </p:nvSpPr>
        <p:spPr>
          <a:xfrm>
            <a:off x="4470250" y="4056709"/>
            <a:ext cx="6255600" cy="9723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solidFill>
                  <a:srgbClr val="499B82"/>
                </a:solidFill>
                <a:latin typeface="Candara"/>
                <a:ea typeface="Candara"/>
                <a:cs typeface="Candara"/>
                <a:sym typeface="Candara"/>
              </a:rPr>
              <a:t>columna del </a:t>
            </a:r>
            <a:r>
              <a:rPr b="1" lang="en-US" sz="2000">
                <a:solidFill>
                  <a:srgbClr val="499B82"/>
                </a:solidFill>
                <a:latin typeface="Candara"/>
                <a:ea typeface="Candara"/>
                <a:cs typeface="Candara"/>
                <a:sym typeface="Candara"/>
              </a:rPr>
              <a:t>DF1	 columna del DF2</a:t>
            </a:r>
            <a:endParaRPr sz="2000">
              <a:latin typeface="Candara"/>
              <a:ea typeface="Candara"/>
              <a:cs typeface="Candara"/>
              <a:sym typeface="Candara"/>
            </a:endParaRPr>
          </a:p>
          <a:p>
            <a:pPr indent="0" lvl="0" marL="0" rtl="0" algn="l">
              <a:lnSpc>
                <a:spcPct val="100000"/>
              </a:lnSpc>
              <a:spcBef>
                <a:spcPts val="280"/>
              </a:spcBef>
              <a:spcAft>
                <a:spcPts val="0"/>
              </a:spcAft>
              <a:buNone/>
            </a:pPr>
            <a:r>
              <a:t/>
            </a:r>
            <a:endParaRPr sz="2000">
              <a:latin typeface="Candara"/>
              <a:ea typeface="Candara"/>
              <a:cs typeface="Candara"/>
              <a:sym typeface="Candara"/>
            </a:endParaRPr>
          </a:p>
          <a:p>
            <a:pPr indent="0" lvl="0" marL="754380" rtl="0" algn="l">
              <a:lnSpc>
                <a:spcPct val="100000"/>
              </a:lnSpc>
              <a:spcBef>
                <a:spcPts val="0"/>
              </a:spcBef>
              <a:spcAft>
                <a:spcPts val="0"/>
              </a:spcAft>
              <a:buNone/>
            </a:pPr>
            <a:r>
              <a:rPr b="1" lang="en-US" sz="2000">
                <a:solidFill>
                  <a:srgbClr val="134262"/>
                </a:solidFill>
                <a:latin typeface="Candara"/>
                <a:ea typeface="Candara"/>
                <a:cs typeface="Candara"/>
                <a:sym typeface="Candara"/>
              </a:rPr>
              <a:t>              </a:t>
            </a:r>
            <a:r>
              <a:rPr b="1" lang="en-US" sz="2000">
                <a:solidFill>
                  <a:srgbClr val="134262"/>
                </a:solidFill>
                <a:latin typeface="Candara"/>
                <a:ea typeface="Candara"/>
                <a:cs typeface="Candara"/>
                <a:sym typeface="Candara"/>
              </a:rPr>
              <a:t>CONDICIÓN</a:t>
            </a:r>
            <a:r>
              <a:rPr b="1" lang="en-US" sz="2000">
                <a:solidFill>
                  <a:srgbClr val="134262"/>
                </a:solidFill>
                <a:latin typeface="Candara"/>
                <a:ea typeface="Candara"/>
                <a:cs typeface="Candara"/>
                <a:sym typeface="Candara"/>
              </a:rPr>
              <a:t>	                            TIPO DE JOIN</a:t>
            </a:r>
            <a:endParaRPr sz="2000">
              <a:latin typeface="Candara"/>
              <a:ea typeface="Candara"/>
              <a:cs typeface="Candara"/>
              <a:sym typeface="Candara"/>
            </a:endParaRPr>
          </a:p>
        </p:txBody>
      </p:sp>
      <p:sp>
        <p:nvSpPr>
          <p:cNvPr id="358" name="Google Shape;358;p35"/>
          <p:cNvSpPr txBox="1"/>
          <p:nvPr/>
        </p:nvSpPr>
        <p:spPr>
          <a:xfrm>
            <a:off x="3863250" y="4047657"/>
            <a:ext cx="4317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000">
                <a:solidFill>
                  <a:srgbClr val="499B82"/>
                </a:solidFill>
                <a:latin typeface="Candara"/>
                <a:ea typeface="Candara"/>
                <a:cs typeface="Candara"/>
                <a:sym typeface="Candara"/>
              </a:rPr>
              <a:t>DF2</a:t>
            </a:r>
            <a:endParaRPr sz="2000">
              <a:latin typeface="Candara"/>
              <a:ea typeface="Candara"/>
              <a:cs typeface="Candara"/>
              <a:sym typeface="Candara"/>
            </a:endParaRPr>
          </a:p>
        </p:txBody>
      </p:sp>
      <p:sp>
        <p:nvSpPr>
          <p:cNvPr id="359" name="Google Shape;359;p35"/>
          <p:cNvSpPr/>
          <p:nvPr/>
        </p:nvSpPr>
        <p:spPr>
          <a:xfrm>
            <a:off x="1809750" y="3765050"/>
            <a:ext cx="1349200" cy="159853"/>
          </a:xfrm>
          <a:custGeom>
            <a:rect b="b" l="l" r="r" t="t"/>
            <a:pathLst>
              <a:path extrusionOk="0" h="86995" w="1458595">
                <a:moveTo>
                  <a:pt x="1458468" y="0"/>
                </a:moveTo>
                <a:lnTo>
                  <a:pt x="1457899" y="16907"/>
                </a:lnTo>
                <a:lnTo>
                  <a:pt x="1456348" y="30713"/>
                </a:lnTo>
                <a:lnTo>
                  <a:pt x="1454047" y="40021"/>
                </a:lnTo>
                <a:lnTo>
                  <a:pt x="1451229" y="43433"/>
                </a:lnTo>
                <a:lnTo>
                  <a:pt x="736473" y="43433"/>
                </a:lnTo>
                <a:lnTo>
                  <a:pt x="733654" y="46846"/>
                </a:lnTo>
                <a:lnTo>
                  <a:pt x="731353" y="56154"/>
                </a:lnTo>
                <a:lnTo>
                  <a:pt x="729802" y="69960"/>
                </a:lnTo>
                <a:lnTo>
                  <a:pt x="729234" y="86867"/>
                </a:lnTo>
                <a:lnTo>
                  <a:pt x="728665" y="69960"/>
                </a:lnTo>
                <a:lnTo>
                  <a:pt x="727114" y="56154"/>
                </a:lnTo>
                <a:lnTo>
                  <a:pt x="724813" y="46846"/>
                </a:lnTo>
                <a:lnTo>
                  <a:pt x="721995" y="43433"/>
                </a:lnTo>
                <a:lnTo>
                  <a:pt x="7239" y="43433"/>
                </a:lnTo>
                <a:lnTo>
                  <a:pt x="4420" y="40021"/>
                </a:lnTo>
                <a:lnTo>
                  <a:pt x="2119" y="30713"/>
                </a:lnTo>
                <a:lnTo>
                  <a:pt x="568" y="16907"/>
                </a:lnTo>
                <a:lnTo>
                  <a:pt x="0" y="0"/>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0" name="Google Shape;360;p35"/>
          <p:cNvSpPr/>
          <p:nvPr/>
        </p:nvSpPr>
        <p:spPr>
          <a:xfrm>
            <a:off x="3612688" y="3802104"/>
            <a:ext cx="932814" cy="85725"/>
          </a:xfrm>
          <a:custGeom>
            <a:rect b="b" l="l" r="r" t="t"/>
            <a:pathLst>
              <a:path extrusionOk="0" h="85725" w="932814">
                <a:moveTo>
                  <a:pt x="932688" y="0"/>
                </a:moveTo>
                <a:lnTo>
                  <a:pt x="932128" y="16611"/>
                </a:lnTo>
                <a:lnTo>
                  <a:pt x="930603" y="30175"/>
                </a:lnTo>
                <a:lnTo>
                  <a:pt x="928342" y="39319"/>
                </a:lnTo>
                <a:lnTo>
                  <a:pt x="925576" y="42671"/>
                </a:lnTo>
                <a:lnTo>
                  <a:pt x="473456" y="42671"/>
                </a:lnTo>
                <a:lnTo>
                  <a:pt x="470689" y="46024"/>
                </a:lnTo>
                <a:lnTo>
                  <a:pt x="468428" y="55168"/>
                </a:lnTo>
                <a:lnTo>
                  <a:pt x="466903" y="68732"/>
                </a:lnTo>
                <a:lnTo>
                  <a:pt x="466344" y="85343"/>
                </a:lnTo>
                <a:lnTo>
                  <a:pt x="465784" y="68732"/>
                </a:lnTo>
                <a:lnTo>
                  <a:pt x="464259" y="55168"/>
                </a:lnTo>
                <a:lnTo>
                  <a:pt x="461998" y="46024"/>
                </a:lnTo>
                <a:lnTo>
                  <a:pt x="459231" y="42671"/>
                </a:lnTo>
                <a:lnTo>
                  <a:pt x="7112" y="42671"/>
                </a:lnTo>
                <a:lnTo>
                  <a:pt x="4345" y="39319"/>
                </a:lnTo>
                <a:lnTo>
                  <a:pt x="2084" y="30175"/>
                </a:lnTo>
                <a:lnTo>
                  <a:pt x="559" y="16611"/>
                </a:lnTo>
                <a:lnTo>
                  <a:pt x="0" y="0"/>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1" name="Google Shape;361;p35"/>
          <p:cNvSpPr/>
          <p:nvPr/>
        </p:nvSpPr>
        <p:spPr>
          <a:xfrm>
            <a:off x="4606975" y="3802100"/>
            <a:ext cx="1506850" cy="85725"/>
          </a:xfrm>
          <a:custGeom>
            <a:rect b="b" l="l" r="r" t="t"/>
            <a:pathLst>
              <a:path extrusionOk="0" h="85725" w="1877695">
                <a:moveTo>
                  <a:pt x="1877568" y="0"/>
                </a:moveTo>
                <a:lnTo>
                  <a:pt x="1877008" y="16611"/>
                </a:lnTo>
                <a:lnTo>
                  <a:pt x="1875483" y="30175"/>
                </a:lnTo>
                <a:lnTo>
                  <a:pt x="1873222" y="39319"/>
                </a:lnTo>
                <a:lnTo>
                  <a:pt x="1870456" y="42672"/>
                </a:lnTo>
                <a:lnTo>
                  <a:pt x="945896" y="42672"/>
                </a:lnTo>
                <a:lnTo>
                  <a:pt x="943129" y="46024"/>
                </a:lnTo>
                <a:lnTo>
                  <a:pt x="940868" y="55168"/>
                </a:lnTo>
                <a:lnTo>
                  <a:pt x="939343" y="68732"/>
                </a:lnTo>
                <a:lnTo>
                  <a:pt x="938784" y="85344"/>
                </a:lnTo>
                <a:lnTo>
                  <a:pt x="938224" y="68732"/>
                </a:lnTo>
                <a:lnTo>
                  <a:pt x="936699" y="55168"/>
                </a:lnTo>
                <a:lnTo>
                  <a:pt x="934438" y="46024"/>
                </a:lnTo>
                <a:lnTo>
                  <a:pt x="931672" y="42672"/>
                </a:lnTo>
                <a:lnTo>
                  <a:pt x="7112" y="42672"/>
                </a:lnTo>
                <a:lnTo>
                  <a:pt x="4345" y="39319"/>
                </a:lnTo>
                <a:lnTo>
                  <a:pt x="2084" y="30175"/>
                </a:lnTo>
                <a:lnTo>
                  <a:pt x="559" y="16611"/>
                </a:lnTo>
                <a:lnTo>
                  <a:pt x="0" y="0"/>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2" name="Google Shape;362;p35"/>
          <p:cNvSpPr/>
          <p:nvPr/>
        </p:nvSpPr>
        <p:spPr>
          <a:xfrm>
            <a:off x="6484673" y="3802101"/>
            <a:ext cx="1567875" cy="85725"/>
          </a:xfrm>
          <a:custGeom>
            <a:rect b="b" l="l" r="r" t="t"/>
            <a:pathLst>
              <a:path extrusionOk="0" h="85725" w="1877695">
                <a:moveTo>
                  <a:pt x="1877568" y="0"/>
                </a:moveTo>
                <a:lnTo>
                  <a:pt x="1877008" y="16611"/>
                </a:lnTo>
                <a:lnTo>
                  <a:pt x="1875483" y="30175"/>
                </a:lnTo>
                <a:lnTo>
                  <a:pt x="1873222" y="39319"/>
                </a:lnTo>
                <a:lnTo>
                  <a:pt x="1870456" y="42672"/>
                </a:lnTo>
                <a:lnTo>
                  <a:pt x="945896" y="42672"/>
                </a:lnTo>
                <a:lnTo>
                  <a:pt x="943129" y="46024"/>
                </a:lnTo>
                <a:lnTo>
                  <a:pt x="940868" y="55168"/>
                </a:lnTo>
                <a:lnTo>
                  <a:pt x="939343" y="68732"/>
                </a:lnTo>
                <a:lnTo>
                  <a:pt x="938784" y="85344"/>
                </a:lnTo>
                <a:lnTo>
                  <a:pt x="938224" y="68732"/>
                </a:lnTo>
                <a:lnTo>
                  <a:pt x="936699" y="55168"/>
                </a:lnTo>
                <a:lnTo>
                  <a:pt x="934438" y="46024"/>
                </a:lnTo>
                <a:lnTo>
                  <a:pt x="931672" y="42672"/>
                </a:lnTo>
                <a:lnTo>
                  <a:pt x="7112" y="42672"/>
                </a:lnTo>
                <a:lnTo>
                  <a:pt x="4345" y="39319"/>
                </a:lnTo>
                <a:lnTo>
                  <a:pt x="2084" y="30175"/>
                </a:lnTo>
                <a:lnTo>
                  <a:pt x="559" y="16611"/>
                </a:lnTo>
                <a:lnTo>
                  <a:pt x="0" y="0"/>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3" name="Google Shape;363;p35"/>
          <p:cNvSpPr/>
          <p:nvPr/>
        </p:nvSpPr>
        <p:spPr>
          <a:xfrm>
            <a:off x="4520458" y="4448651"/>
            <a:ext cx="4437583" cy="175260"/>
          </a:xfrm>
          <a:custGeom>
            <a:rect b="b" l="l" r="r" t="t"/>
            <a:pathLst>
              <a:path extrusionOk="0" h="175260" w="4287520">
                <a:moveTo>
                  <a:pt x="4287012" y="0"/>
                </a:moveTo>
                <a:lnTo>
                  <a:pt x="4285864" y="34110"/>
                </a:lnTo>
                <a:lnTo>
                  <a:pt x="4282733" y="61964"/>
                </a:lnTo>
                <a:lnTo>
                  <a:pt x="4278091" y="80744"/>
                </a:lnTo>
                <a:lnTo>
                  <a:pt x="4272407" y="87630"/>
                </a:lnTo>
                <a:lnTo>
                  <a:pt x="2158111" y="87630"/>
                </a:lnTo>
                <a:lnTo>
                  <a:pt x="2152426" y="94515"/>
                </a:lnTo>
                <a:lnTo>
                  <a:pt x="2147784" y="113295"/>
                </a:lnTo>
                <a:lnTo>
                  <a:pt x="2144653" y="141149"/>
                </a:lnTo>
                <a:lnTo>
                  <a:pt x="2143506" y="175260"/>
                </a:lnTo>
                <a:lnTo>
                  <a:pt x="2142358" y="141149"/>
                </a:lnTo>
                <a:lnTo>
                  <a:pt x="2139227" y="113295"/>
                </a:lnTo>
                <a:lnTo>
                  <a:pt x="2134585" y="94515"/>
                </a:lnTo>
                <a:lnTo>
                  <a:pt x="2128901" y="87630"/>
                </a:lnTo>
                <a:lnTo>
                  <a:pt x="14604" y="87630"/>
                </a:lnTo>
                <a:lnTo>
                  <a:pt x="8920" y="80744"/>
                </a:lnTo>
                <a:lnTo>
                  <a:pt x="4278" y="61964"/>
                </a:lnTo>
                <a:lnTo>
                  <a:pt x="1147" y="34110"/>
                </a:lnTo>
                <a:lnTo>
                  <a:pt x="0" y="0"/>
                </a:lnTo>
              </a:path>
            </a:pathLst>
          </a:custGeom>
          <a:noFill/>
          <a:ln cap="flat" cmpd="sng" w="19025">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nvGrpSpPr>
          <p:cNvPr id="364" name="Google Shape;364;p35"/>
          <p:cNvGrpSpPr/>
          <p:nvPr/>
        </p:nvGrpSpPr>
        <p:grpSpPr>
          <a:xfrm rot="-2952043">
            <a:off x="9381137" y="3432897"/>
            <a:ext cx="78928" cy="1353341"/>
            <a:chOff x="10624570" y="3806190"/>
            <a:chExt cx="76200" cy="803591"/>
          </a:xfrm>
        </p:grpSpPr>
        <p:sp>
          <p:nvSpPr>
            <p:cNvPr id="365" name="Google Shape;365;p35"/>
            <p:cNvSpPr/>
            <p:nvPr/>
          </p:nvSpPr>
          <p:spPr>
            <a:xfrm>
              <a:off x="10662666" y="3806190"/>
              <a:ext cx="0" cy="740410"/>
            </a:xfrm>
            <a:custGeom>
              <a:rect b="b" l="l" r="r" t="t"/>
              <a:pathLst>
                <a:path extrusionOk="0" h="740410" w="120000">
                  <a:moveTo>
                    <a:pt x="0" y="0"/>
                  </a:moveTo>
                  <a:lnTo>
                    <a:pt x="0" y="740092"/>
                  </a:lnTo>
                </a:path>
              </a:pathLst>
            </a:custGeom>
            <a:noFill/>
            <a:ln cap="flat" cmpd="sng" w="19050">
              <a:solidFill>
                <a:srgbClr val="134262"/>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6" name="Google Shape;366;p35"/>
            <p:cNvSpPr/>
            <p:nvPr/>
          </p:nvSpPr>
          <p:spPr>
            <a:xfrm>
              <a:off x="10624570" y="4533581"/>
              <a:ext cx="76200" cy="76200"/>
            </a:xfrm>
            <a:custGeom>
              <a:rect b="b" l="l" r="r" t="t"/>
              <a:pathLst>
                <a:path extrusionOk="0" h="76200" w="76200">
                  <a:moveTo>
                    <a:pt x="76200" y="0"/>
                  </a:moveTo>
                  <a:lnTo>
                    <a:pt x="0" y="0"/>
                  </a:lnTo>
                  <a:lnTo>
                    <a:pt x="38100" y="76200"/>
                  </a:lnTo>
                  <a:lnTo>
                    <a:pt x="76200" y="0"/>
                  </a:lnTo>
                  <a:close/>
                </a:path>
              </a:pathLst>
            </a:custGeom>
            <a:solidFill>
              <a:srgbClr val="13426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367" name="Google Shape;367;p35"/>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368" name="Google Shape;368;p35"/>
          <p:cNvSpPr txBox="1"/>
          <p:nvPr>
            <p:ph type="title"/>
          </p:nvPr>
        </p:nvSpPr>
        <p:spPr>
          <a:xfrm>
            <a:off x="5551986" y="371600"/>
            <a:ext cx="9327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Joins</a:t>
            </a:r>
            <a:endParaRPr/>
          </a:p>
        </p:txBody>
      </p:sp>
      <p:sp>
        <p:nvSpPr>
          <p:cNvPr id="369" name="Google Shape;369;p35"/>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6"/>
          <p:cNvSpPr txBox="1"/>
          <p:nvPr>
            <p:ph type="title"/>
          </p:nvPr>
        </p:nvSpPr>
        <p:spPr>
          <a:xfrm>
            <a:off x="4815475" y="353800"/>
            <a:ext cx="2563200" cy="998700"/>
          </a:xfrm>
          <a:prstGeom prst="rect">
            <a:avLst/>
          </a:prstGeom>
          <a:noFill/>
          <a:ln>
            <a:noFill/>
          </a:ln>
        </p:spPr>
        <p:txBody>
          <a:bodyPr anchorCtr="0" anchor="t" bIns="0" lIns="0" spcFirstLastPara="1" rIns="0" wrap="square" tIns="13325">
            <a:spAutoFit/>
          </a:bodyPr>
          <a:lstStyle/>
          <a:p>
            <a:pPr indent="0" lvl="0" marL="0" rtl="0" algn="l">
              <a:spcBef>
                <a:spcPts val="0"/>
              </a:spcBef>
              <a:spcAft>
                <a:spcPts val="0"/>
              </a:spcAft>
              <a:buClr>
                <a:schemeClr val="dk1"/>
              </a:buClr>
              <a:buFont typeface="Arial"/>
              <a:buNone/>
            </a:pPr>
            <a:r>
              <a:rPr lang="en-US">
                <a:latin typeface="Candara"/>
                <a:ea typeface="Candara"/>
                <a:cs typeface="Candara"/>
                <a:sym typeface="Candara"/>
              </a:rPr>
              <a:t>Tipos de </a:t>
            </a:r>
            <a:r>
              <a:rPr lang="en-US">
                <a:latin typeface="Candara"/>
                <a:ea typeface="Candara"/>
                <a:cs typeface="Candara"/>
                <a:sym typeface="Candara"/>
              </a:rPr>
              <a:t>Join</a:t>
            </a:r>
            <a:endParaRPr/>
          </a:p>
          <a:p>
            <a:pPr indent="0" lvl="0" marL="12700" rtl="0" algn="l">
              <a:lnSpc>
                <a:spcPct val="100000"/>
              </a:lnSpc>
              <a:spcBef>
                <a:spcPts val="0"/>
              </a:spcBef>
              <a:spcAft>
                <a:spcPts val="0"/>
              </a:spcAft>
              <a:buNone/>
            </a:pPr>
            <a:r>
              <a:t/>
            </a:r>
            <a:endParaRPr/>
          </a:p>
        </p:txBody>
      </p:sp>
      <p:sp>
        <p:nvSpPr>
          <p:cNvPr id="375" name="Google Shape;375;p36"/>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pic>
        <p:nvPicPr>
          <p:cNvPr id="376" name="Google Shape;376;p36"/>
          <p:cNvPicPr preferRelativeResize="0"/>
          <p:nvPr/>
        </p:nvPicPr>
        <p:blipFill>
          <a:blip r:embed="rId3">
            <a:alphaModFix/>
          </a:blip>
          <a:stretch>
            <a:fillRect/>
          </a:stretch>
        </p:blipFill>
        <p:spPr>
          <a:xfrm>
            <a:off x="1219200" y="1147700"/>
            <a:ext cx="9753600" cy="4667250"/>
          </a:xfrm>
          <a:prstGeom prst="rect">
            <a:avLst/>
          </a:prstGeom>
          <a:noFill/>
          <a:ln>
            <a:noFill/>
          </a:ln>
        </p:spPr>
      </p:pic>
      <p:sp>
        <p:nvSpPr>
          <p:cNvPr id="377" name="Google Shape;377;p36"/>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7"/>
          <p:cNvSpPr txBox="1"/>
          <p:nvPr>
            <p:ph type="title"/>
          </p:nvPr>
        </p:nvSpPr>
        <p:spPr>
          <a:xfrm>
            <a:off x="4638298" y="384300"/>
            <a:ext cx="29154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Ejemplo de Joins</a:t>
            </a:r>
            <a:endParaRPr>
              <a:latin typeface="Candara"/>
              <a:ea typeface="Candara"/>
              <a:cs typeface="Candara"/>
              <a:sym typeface="Candara"/>
            </a:endParaRPr>
          </a:p>
        </p:txBody>
      </p:sp>
      <p:sp>
        <p:nvSpPr>
          <p:cNvPr id="383" name="Google Shape;383;p37"/>
          <p:cNvSpPr txBox="1"/>
          <p:nvPr/>
        </p:nvSpPr>
        <p:spPr>
          <a:xfrm>
            <a:off x="2806097" y="1675523"/>
            <a:ext cx="5666700" cy="567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Candara"/>
                <a:ea typeface="Candara"/>
                <a:cs typeface="Candara"/>
                <a:sym typeface="Candara"/>
              </a:rPr>
              <a:t>joined_df1 = df1.join(df2, </a:t>
            </a:r>
            <a:r>
              <a:rPr lang="en-US" sz="1800">
                <a:solidFill>
                  <a:srgbClr val="A21414"/>
                </a:solidFill>
                <a:latin typeface="Candara"/>
                <a:ea typeface="Candara"/>
                <a:cs typeface="Candara"/>
                <a:sym typeface="Candara"/>
              </a:rPr>
              <a:t>'letter'</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'inner'</a:t>
            </a:r>
            <a:r>
              <a:rPr lang="en-US" sz="1800">
                <a:latin typeface="Candara"/>
                <a:ea typeface="Candara"/>
                <a:cs typeface="Candara"/>
                <a:sym typeface="Candara"/>
              </a:rPr>
              <a:t>) </a:t>
            </a:r>
            <a:endParaRPr sz="1800">
              <a:latin typeface="Candara"/>
              <a:ea typeface="Candara"/>
              <a:cs typeface="Candara"/>
              <a:sym typeface="Candara"/>
            </a:endParaRPr>
          </a:p>
          <a:p>
            <a:pPr indent="0" lvl="0" marL="12700" marR="5080" rtl="0" algn="l">
              <a:lnSpc>
                <a:spcPct val="100000"/>
              </a:lnSpc>
              <a:spcBef>
                <a:spcPts val="0"/>
              </a:spcBef>
              <a:spcAft>
                <a:spcPts val="0"/>
              </a:spcAft>
              <a:buNone/>
            </a:pPr>
            <a:r>
              <a:rPr lang="en-US" sz="1800">
                <a:latin typeface="Candara"/>
                <a:ea typeface="Candara"/>
                <a:cs typeface="Candara"/>
                <a:sym typeface="Candara"/>
              </a:rPr>
              <a:t>joined_df1.show()</a:t>
            </a:r>
            <a:endParaRPr sz="1800">
              <a:latin typeface="Candara"/>
              <a:ea typeface="Candara"/>
              <a:cs typeface="Candara"/>
              <a:sym typeface="Candara"/>
            </a:endParaRPr>
          </a:p>
        </p:txBody>
      </p:sp>
      <p:pic>
        <p:nvPicPr>
          <p:cNvPr id="384" name="Google Shape;384;p37"/>
          <p:cNvPicPr preferRelativeResize="0"/>
          <p:nvPr/>
        </p:nvPicPr>
        <p:blipFill rotWithShape="1">
          <a:blip r:embed="rId3">
            <a:alphaModFix/>
          </a:blip>
          <a:srcRect b="0" l="0" r="0" t="0"/>
          <a:stretch/>
        </p:blipFill>
        <p:spPr>
          <a:xfrm>
            <a:off x="560441" y="1774705"/>
            <a:ext cx="1104546" cy="2962641"/>
          </a:xfrm>
          <a:prstGeom prst="rect">
            <a:avLst/>
          </a:prstGeom>
          <a:noFill/>
          <a:ln>
            <a:noFill/>
          </a:ln>
        </p:spPr>
      </p:pic>
      <p:sp>
        <p:nvSpPr>
          <p:cNvPr id="385" name="Google Shape;385;p37"/>
          <p:cNvSpPr txBox="1"/>
          <p:nvPr/>
        </p:nvSpPr>
        <p:spPr>
          <a:xfrm>
            <a:off x="2874265" y="3123313"/>
            <a:ext cx="5541000" cy="567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Candara"/>
                <a:ea typeface="Candara"/>
                <a:cs typeface="Candara"/>
                <a:sym typeface="Candara"/>
              </a:rPr>
              <a:t>joined_df2 = df1.join(df2, </a:t>
            </a:r>
            <a:r>
              <a:rPr lang="en-US" sz="1800">
                <a:solidFill>
                  <a:srgbClr val="A21414"/>
                </a:solidFill>
                <a:latin typeface="Candara"/>
                <a:ea typeface="Candara"/>
                <a:cs typeface="Candara"/>
                <a:sym typeface="Candara"/>
              </a:rPr>
              <a:t>'letter'</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'left'</a:t>
            </a:r>
            <a:r>
              <a:rPr lang="en-US" sz="1800">
                <a:latin typeface="Candara"/>
                <a:ea typeface="Candara"/>
                <a:cs typeface="Candara"/>
                <a:sym typeface="Candara"/>
              </a:rPr>
              <a:t>) </a:t>
            </a:r>
            <a:endParaRPr sz="1800">
              <a:latin typeface="Candara"/>
              <a:ea typeface="Candara"/>
              <a:cs typeface="Candara"/>
              <a:sym typeface="Candara"/>
            </a:endParaRPr>
          </a:p>
          <a:p>
            <a:pPr indent="0" lvl="0" marL="12700" marR="5080" rtl="0" algn="l">
              <a:lnSpc>
                <a:spcPct val="100000"/>
              </a:lnSpc>
              <a:spcBef>
                <a:spcPts val="0"/>
              </a:spcBef>
              <a:spcAft>
                <a:spcPts val="0"/>
              </a:spcAft>
              <a:buNone/>
            </a:pPr>
            <a:r>
              <a:rPr lang="en-US" sz="1800">
                <a:latin typeface="Candara"/>
                <a:ea typeface="Candara"/>
                <a:cs typeface="Candara"/>
                <a:sym typeface="Candara"/>
              </a:rPr>
              <a:t>joined_df2.show()</a:t>
            </a:r>
            <a:endParaRPr sz="1800">
              <a:latin typeface="Candara"/>
              <a:ea typeface="Candara"/>
              <a:cs typeface="Candara"/>
              <a:sym typeface="Candara"/>
            </a:endParaRPr>
          </a:p>
        </p:txBody>
      </p:sp>
      <p:sp>
        <p:nvSpPr>
          <p:cNvPr id="386" name="Google Shape;386;p37"/>
          <p:cNvSpPr txBox="1"/>
          <p:nvPr/>
        </p:nvSpPr>
        <p:spPr>
          <a:xfrm>
            <a:off x="2886627" y="4767835"/>
            <a:ext cx="5666700" cy="567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1800">
                <a:latin typeface="Candara"/>
                <a:ea typeface="Candara"/>
                <a:cs typeface="Candara"/>
                <a:sym typeface="Candara"/>
              </a:rPr>
              <a:t>joined_df3 = df1.join(df2, </a:t>
            </a:r>
            <a:r>
              <a:rPr lang="en-US" sz="1800">
                <a:solidFill>
                  <a:srgbClr val="A21414"/>
                </a:solidFill>
                <a:latin typeface="Candara"/>
                <a:ea typeface="Candara"/>
                <a:cs typeface="Candara"/>
                <a:sym typeface="Candara"/>
              </a:rPr>
              <a:t>'letter'</a:t>
            </a:r>
            <a:r>
              <a:rPr lang="en-US" sz="1800">
                <a:latin typeface="Candara"/>
                <a:ea typeface="Candara"/>
                <a:cs typeface="Candara"/>
                <a:sym typeface="Candara"/>
              </a:rPr>
              <a:t>, </a:t>
            </a:r>
            <a:r>
              <a:rPr lang="en-US" sz="1800">
                <a:solidFill>
                  <a:srgbClr val="A21414"/>
                </a:solidFill>
                <a:latin typeface="Candara"/>
                <a:ea typeface="Candara"/>
                <a:cs typeface="Candara"/>
                <a:sym typeface="Candara"/>
              </a:rPr>
              <a:t>'right'</a:t>
            </a:r>
            <a:r>
              <a:rPr lang="en-US" sz="1800">
                <a:latin typeface="Candara"/>
                <a:ea typeface="Candara"/>
                <a:cs typeface="Candara"/>
                <a:sym typeface="Candara"/>
              </a:rPr>
              <a:t>) joined_df3.show()</a:t>
            </a:r>
            <a:endParaRPr sz="1800">
              <a:latin typeface="Candara"/>
              <a:ea typeface="Candara"/>
              <a:cs typeface="Candara"/>
              <a:sym typeface="Candara"/>
            </a:endParaRPr>
          </a:p>
        </p:txBody>
      </p:sp>
      <p:pic>
        <p:nvPicPr>
          <p:cNvPr id="387" name="Google Shape;387;p37"/>
          <p:cNvPicPr preferRelativeResize="0"/>
          <p:nvPr/>
        </p:nvPicPr>
        <p:blipFill rotWithShape="1">
          <a:blip r:embed="rId4">
            <a:alphaModFix/>
          </a:blip>
          <a:srcRect b="0" l="0" r="0" t="0"/>
          <a:stretch/>
        </p:blipFill>
        <p:spPr>
          <a:xfrm>
            <a:off x="9555084" y="1390669"/>
            <a:ext cx="1542708" cy="971876"/>
          </a:xfrm>
          <a:prstGeom prst="rect">
            <a:avLst/>
          </a:prstGeom>
          <a:noFill/>
          <a:ln>
            <a:noFill/>
          </a:ln>
        </p:spPr>
      </p:pic>
      <p:pic>
        <p:nvPicPr>
          <p:cNvPr id="388" name="Google Shape;388;p37"/>
          <p:cNvPicPr preferRelativeResize="0"/>
          <p:nvPr/>
        </p:nvPicPr>
        <p:blipFill rotWithShape="1">
          <a:blip r:embed="rId5">
            <a:alphaModFix/>
          </a:blip>
          <a:srcRect b="0" l="0" r="0" t="0"/>
          <a:stretch/>
        </p:blipFill>
        <p:spPr>
          <a:xfrm>
            <a:off x="9540993" y="2690607"/>
            <a:ext cx="1542340" cy="1333151"/>
          </a:xfrm>
          <a:prstGeom prst="rect">
            <a:avLst/>
          </a:prstGeom>
          <a:noFill/>
          <a:ln>
            <a:noFill/>
          </a:ln>
        </p:spPr>
      </p:pic>
      <p:pic>
        <p:nvPicPr>
          <p:cNvPr id="389" name="Google Shape;389;p37"/>
          <p:cNvPicPr preferRelativeResize="0"/>
          <p:nvPr/>
        </p:nvPicPr>
        <p:blipFill rotWithShape="1">
          <a:blip r:embed="rId6">
            <a:alphaModFix/>
          </a:blip>
          <a:srcRect b="0" l="0" r="0" t="0"/>
          <a:stretch/>
        </p:blipFill>
        <p:spPr>
          <a:xfrm>
            <a:off x="9578357" y="4481306"/>
            <a:ext cx="1543763" cy="1333139"/>
          </a:xfrm>
          <a:prstGeom prst="rect">
            <a:avLst/>
          </a:prstGeom>
          <a:noFill/>
          <a:ln>
            <a:noFill/>
          </a:ln>
        </p:spPr>
      </p:pic>
      <p:sp>
        <p:nvSpPr>
          <p:cNvPr id="390" name="Google Shape;390;p37"/>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grpSp>
        <p:nvGrpSpPr>
          <p:cNvPr id="391" name="Google Shape;391;p37"/>
          <p:cNvGrpSpPr/>
          <p:nvPr/>
        </p:nvGrpSpPr>
        <p:grpSpPr>
          <a:xfrm rot="-5400000">
            <a:off x="8275520" y="1639002"/>
            <a:ext cx="241300" cy="314326"/>
            <a:chOff x="5341620" y="1863852"/>
            <a:chExt cx="241300" cy="314326"/>
          </a:xfrm>
        </p:grpSpPr>
        <p:sp>
          <p:nvSpPr>
            <p:cNvPr id="392" name="Google Shape;392;p37"/>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3" name="Google Shape;393;p37"/>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94" name="Google Shape;394;p37"/>
          <p:cNvGrpSpPr/>
          <p:nvPr/>
        </p:nvGrpSpPr>
        <p:grpSpPr>
          <a:xfrm rot="-5400000">
            <a:off x="8275520" y="3249652"/>
            <a:ext cx="241300" cy="314326"/>
            <a:chOff x="5341620" y="1863852"/>
            <a:chExt cx="241300" cy="314326"/>
          </a:xfrm>
        </p:grpSpPr>
        <p:sp>
          <p:nvSpPr>
            <p:cNvPr id="395" name="Google Shape;395;p37"/>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6" name="Google Shape;396;p37"/>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397" name="Google Shape;397;p37"/>
          <p:cNvGrpSpPr/>
          <p:nvPr/>
        </p:nvGrpSpPr>
        <p:grpSpPr>
          <a:xfrm rot="-5400000">
            <a:off x="8275520" y="4990702"/>
            <a:ext cx="241300" cy="314326"/>
            <a:chOff x="5341620" y="1863852"/>
            <a:chExt cx="241300" cy="314326"/>
          </a:xfrm>
        </p:grpSpPr>
        <p:sp>
          <p:nvSpPr>
            <p:cNvPr id="398" name="Google Shape;398;p37"/>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99" name="Google Shape;399;p37"/>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00" name="Google Shape;400;p37"/>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8"/>
          <p:cNvSpPr txBox="1"/>
          <p:nvPr/>
        </p:nvSpPr>
        <p:spPr>
          <a:xfrm>
            <a:off x="2488371" y="1396772"/>
            <a:ext cx="3472200" cy="5046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latin typeface="Candara"/>
                <a:ea typeface="Candara"/>
                <a:cs typeface="Candara"/>
                <a:sym typeface="Candara"/>
              </a:rPr>
              <a:t>joined_df4 = df1.crossJoin(df2) joined_df4.show()</a:t>
            </a:r>
            <a:endParaRPr sz="1600">
              <a:latin typeface="Candara"/>
              <a:ea typeface="Candara"/>
              <a:cs typeface="Candara"/>
              <a:sym typeface="Candara"/>
            </a:endParaRPr>
          </a:p>
        </p:txBody>
      </p:sp>
      <p:pic>
        <p:nvPicPr>
          <p:cNvPr id="406" name="Google Shape;406;p38"/>
          <p:cNvPicPr preferRelativeResize="0"/>
          <p:nvPr/>
        </p:nvPicPr>
        <p:blipFill rotWithShape="1">
          <a:blip r:embed="rId3">
            <a:alphaModFix/>
          </a:blip>
          <a:srcRect b="0" l="0" r="0" t="0"/>
          <a:stretch/>
        </p:blipFill>
        <p:spPr>
          <a:xfrm>
            <a:off x="560441" y="1774705"/>
            <a:ext cx="1104546" cy="2962641"/>
          </a:xfrm>
          <a:prstGeom prst="rect">
            <a:avLst/>
          </a:prstGeom>
          <a:noFill/>
          <a:ln>
            <a:noFill/>
          </a:ln>
        </p:spPr>
      </p:pic>
      <p:pic>
        <p:nvPicPr>
          <p:cNvPr id="407" name="Google Shape;407;p38"/>
          <p:cNvPicPr preferRelativeResize="0"/>
          <p:nvPr/>
        </p:nvPicPr>
        <p:blipFill rotWithShape="1">
          <a:blip r:embed="rId4">
            <a:alphaModFix/>
          </a:blip>
          <a:srcRect b="0" l="0" r="0" t="0"/>
          <a:stretch/>
        </p:blipFill>
        <p:spPr>
          <a:xfrm>
            <a:off x="2839395" y="2527943"/>
            <a:ext cx="2057768" cy="3506303"/>
          </a:xfrm>
          <a:prstGeom prst="rect">
            <a:avLst/>
          </a:prstGeom>
          <a:noFill/>
          <a:ln>
            <a:noFill/>
          </a:ln>
        </p:spPr>
      </p:pic>
      <p:pic>
        <p:nvPicPr>
          <p:cNvPr id="408" name="Google Shape;408;p38"/>
          <p:cNvPicPr preferRelativeResize="0"/>
          <p:nvPr/>
        </p:nvPicPr>
        <p:blipFill rotWithShape="1">
          <a:blip r:embed="rId5">
            <a:alphaModFix/>
          </a:blip>
          <a:srcRect b="0" l="0" r="0" t="0"/>
          <a:stretch/>
        </p:blipFill>
        <p:spPr>
          <a:xfrm>
            <a:off x="7731519" y="2527954"/>
            <a:ext cx="1544518" cy="1695083"/>
          </a:xfrm>
          <a:prstGeom prst="rect">
            <a:avLst/>
          </a:prstGeom>
          <a:noFill/>
          <a:ln>
            <a:noFill/>
          </a:ln>
        </p:spPr>
      </p:pic>
      <p:sp>
        <p:nvSpPr>
          <p:cNvPr id="409" name="Google Shape;409;p38"/>
          <p:cNvSpPr txBox="1"/>
          <p:nvPr/>
        </p:nvSpPr>
        <p:spPr>
          <a:xfrm>
            <a:off x="6751143" y="1396772"/>
            <a:ext cx="5028000" cy="5046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lang="en-US" sz="1600">
                <a:latin typeface="Candara"/>
                <a:ea typeface="Candara"/>
                <a:cs typeface="Candara"/>
                <a:sym typeface="Candara"/>
              </a:rPr>
              <a:t>joined_df5 = df1.join(df2, </a:t>
            </a:r>
            <a:r>
              <a:rPr lang="en-US" sz="1600">
                <a:solidFill>
                  <a:srgbClr val="A21414"/>
                </a:solidFill>
                <a:latin typeface="Candara"/>
                <a:ea typeface="Candara"/>
                <a:cs typeface="Candara"/>
                <a:sym typeface="Candara"/>
              </a:rPr>
              <a:t>'letter'</a:t>
            </a:r>
            <a:r>
              <a:rPr lang="en-US" sz="1600">
                <a:latin typeface="Candara"/>
                <a:ea typeface="Candara"/>
                <a:cs typeface="Candara"/>
                <a:sym typeface="Candara"/>
              </a:rPr>
              <a:t>, </a:t>
            </a:r>
            <a:r>
              <a:rPr lang="en-US" sz="1600">
                <a:solidFill>
                  <a:srgbClr val="A21414"/>
                </a:solidFill>
                <a:latin typeface="Candara"/>
                <a:ea typeface="Candara"/>
                <a:cs typeface="Candara"/>
                <a:sym typeface="Candara"/>
              </a:rPr>
              <a:t>'outer'</a:t>
            </a:r>
            <a:r>
              <a:rPr lang="en-US" sz="1600">
                <a:latin typeface="Candara"/>
                <a:ea typeface="Candara"/>
                <a:cs typeface="Candara"/>
                <a:sym typeface="Candara"/>
              </a:rPr>
              <a:t>) joined_df5.show()</a:t>
            </a:r>
            <a:endParaRPr sz="1600">
              <a:latin typeface="Candara"/>
              <a:ea typeface="Candara"/>
              <a:cs typeface="Candara"/>
              <a:sym typeface="Candara"/>
            </a:endParaRPr>
          </a:p>
        </p:txBody>
      </p:sp>
      <p:sp>
        <p:nvSpPr>
          <p:cNvPr id="410" name="Google Shape;410;p38"/>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grpSp>
        <p:nvGrpSpPr>
          <p:cNvPr id="411" name="Google Shape;411;p38"/>
          <p:cNvGrpSpPr/>
          <p:nvPr/>
        </p:nvGrpSpPr>
        <p:grpSpPr>
          <a:xfrm>
            <a:off x="8383120" y="1993802"/>
            <a:ext cx="241300" cy="314326"/>
            <a:chOff x="5341620" y="1863852"/>
            <a:chExt cx="241300" cy="314326"/>
          </a:xfrm>
        </p:grpSpPr>
        <p:sp>
          <p:nvSpPr>
            <p:cNvPr id="412" name="Google Shape;412;p38"/>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3" name="Google Shape;413;p38"/>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414" name="Google Shape;414;p38"/>
          <p:cNvGrpSpPr/>
          <p:nvPr/>
        </p:nvGrpSpPr>
        <p:grpSpPr>
          <a:xfrm>
            <a:off x="3747620" y="2057490"/>
            <a:ext cx="241300" cy="314326"/>
            <a:chOff x="5341620" y="1863852"/>
            <a:chExt cx="241300" cy="314326"/>
          </a:xfrm>
        </p:grpSpPr>
        <p:sp>
          <p:nvSpPr>
            <p:cNvPr id="415" name="Google Shape;415;p38"/>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6" name="Google Shape;416;p38"/>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17" name="Google Shape;417;p38"/>
          <p:cNvSpPr txBox="1"/>
          <p:nvPr>
            <p:ph type="title"/>
          </p:nvPr>
        </p:nvSpPr>
        <p:spPr>
          <a:xfrm>
            <a:off x="4638298" y="384300"/>
            <a:ext cx="2915400" cy="506100"/>
          </a:xfrm>
          <a:prstGeom prst="rect">
            <a:avLst/>
          </a:prstGeom>
          <a:noFill/>
          <a:ln>
            <a:noFill/>
          </a:ln>
        </p:spPr>
        <p:txBody>
          <a:bodyPr anchorCtr="0" anchor="t" bIns="0" lIns="0" spcFirstLastPara="1" rIns="0" wrap="square" tIns="13325">
            <a:spAutoFit/>
          </a:bodyPr>
          <a:lstStyle/>
          <a:p>
            <a:pPr indent="0" lvl="0" marL="0" rtl="0" algn="l">
              <a:lnSpc>
                <a:spcPct val="100000"/>
              </a:lnSpc>
              <a:spcBef>
                <a:spcPts val="0"/>
              </a:spcBef>
              <a:spcAft>
                <a:spcPts val="0"/>
              </a:spcAft>
              <a:buNone/>
            </a:pPr>
            <a:r>
              <a:rPr lang="en-US">
                <a:latin typeface="Candara"/>
                <a:ea typeface="Candara"/>
                <a:cs typeface="Candara"/>
                <a:sym typeface="Candara"/>
              </a:rPr>
              <a:t>Ejemplo de Joins</a:t>
            </a:r>
            <a:endParaRPr>
              <a:latin typeface="Candara"/>
              <a:ea typeface="Candara"/>
              <a:cs typeface="Candara"/>
              <a:sym typeface="Candara"/>
            </a:endParaRPr>
          </a:p>
        </p:txBody>
      </p:sp>
      <p:sp>
        <p:nvSpPr>
          <p:cNvPr id="418" name="Google Shape;418;p38"/>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9"/>
          <p:cNvSpPr txBox="1"/>
          <p:nvPr>
            <p:ph type="title"/>
          </p:nvPr>
        </p:nvSpPr>
        <p:spPr>
          <a:xfrm>
            <a:off x="4744650" y="529950"/>
            <a:ext cx="27027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EJERCICIOS II</a:t>
            </a:r>
            <a:endParaRPr/>
          </a:p>
        </p:txBody>
      </p:sp>
      <p:sp>
        <p:nvSpPr>
          <p:cNvPr id="424" name="Google Shape;424;p39"/>
          <p:cNvSpPr txBox="1"/>
          <p:nvPr/>
        </p:nvSpPr>
        <p:spPr>
          <a:xfrm>
            <a:off x="1345005" y="2288866"/>
            <a:ext cx="5410200" cy="108960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2360"/>
              </a:spcBef>
              <a:spcAft>
                <a:spcPts val="0"/>
              </a:spcAft>
              <a:buNone/>
            </a:pPr>
            <a:r>
              <a:t/>
            </a:r>
            <a:endParaRPr sz="2000">
              <a:latin typeface="Candara"/>
              <a:ea typeface="Candara"/>
              <a:cs typeface="Candara"/>
              <a:sym typeface="Candara"/>
            </a:endParaRPr>
          </a:p>
          <a:p>
            <a:pPr indent="-355600" lvl="0" marL="457200" rtl="0" algn="l">
              <a:spcBef>
                <a:spcPts val="0"/>
              </a:spcBef>
              <a:spcAft>
                <a:spcPts val="0"/>
              </a:spcAft>
              <a:buClr>
                <a:srgbClr val="134262"/>
              </a:buClr>
              <a:buSzPts val="2000"/>
              <a:buFont typeface="Candara"/>
              <a:buChar char="•"/>
            </a:pPr>
            <a:r>
              <a:rPr lang="en-US" sz="2000">
                <a:solidFill>
                  <a:srgbClr val="134262"/>
                </a:solidFill>
                <a:latin typeface="Candara"/>
                <a:ea typeface="Candara"/>
                <a:cs typeface="Candara"/>
                <a:sym typeface="Candara"/>
              </a:rPr>
              <a:t>03.AggregationsSpark</a:t>
            </a:r>
            <a:endParaRPr sz="2000">
              <a:solidFill>
                <a:schemeClr val="dk1"/>
              </a:solidFill>
              <a:latin typeface="Candara"/>
              <a:ea typeface="Candara"/>
              <a:cs typeface="Candara"/>
              <a:sym typeface="Candara"/>
            </a:endParaRPr>
          </a:p>
          <a:p>
            <a:pPr indent="-355600" lvl="0" marL="457200" rtl="0" algn="l">
              <a:spcBef>
                <a:spcPts val="1200"/>
              </a:spcBef>
              <a:spcAft>
                <a:spcPts val="0"/>
              </a:spcAft>
              <a:buClr>
                <a:srgbClr val="134262"/>
              </a:buClr>
              <a:buSzPts val="2000"/>
              <a:buFont typeface="Candara"/>
              <a:buChar char="•"/>
            </a:pPr>
            <a:r>
              <a:rPr lang="en-US" sz="2000">
                <a:solidFill>
                  <a:srgbClr val="134262"/>
                </a:solidFill>
                <a:latin typeface="Candara"/>
                <a:ea typeface="Candara"/>
                <a:cs typeface="Candara"/>
                <a:sym typeface="Candara"/>
              </a:rPr>
              <a:t>04.JoinsSpark</a:t>
            </a:r>
            <a:endParaRPr sz="2000">
              <a:solidFill>
                <a:srgbClr val="134262"/>
              </a:solidFill>
              <a:latin typeface="Candara"/>
              <a:ea typeface="Candara"/>
              <a:cs typeface="Candara"/>
              <a:sym typeface="Candara"/>
            </a:endParaRPr>
          </a:p>
        </p:txBody>
      </p:sp>
      <p:sp>
        <p:nvSpPr>
          <p:cNvPr id="425" name="Google Shape;425;p39"/>
          <p:cNvSpPr txBox="1"/>
          <p:nvPr>
            <p:ph idx="12" type="sldNum"/>
          </p:nvPr>
        </p:nvSpPr>
        <p:spPr>
          <a:xfrm>
            <a:off x="10945920" y="6574020"/>
            <a:ext cx="226200" cy="1617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pic>
        <p:nvPicPr>
          <p:cNvPr id="426" name="Google Shape;426;p39"/>
          <p:cNvPicPr preferRelativeResize="0"/>
          <p:nvPr/>
        </p:nvPicPr>
        <p:blipFill>
          <a:blip r:embed="rId3">
            <a:alphaModFix/>
          </a:blip>
          <a:stretch>
            <a:fillRect/>
          </a:stretch>
        </p:blipFill>
        <p:spPr>
          <a:xfrm>
            <a:off x="8024875" y="1510537"/>
            <a:ext cx="2877674" cy="3836926"/>
          </a:xfrm>
          <a:prstGeom prst="rect">
            <a:avLst/>
          </a:prstGeom>
          <a:noFill/>
          <a:ln>
            <a:noFill/>
          </a:ln>
        </p:spPr>
      </p:pic>
      <p:sp>
        <p:nvSpPr>
          <p:cNvPr id="427" name="Google Shape;427;p39"/>
          <p:cNvSpPr txBox="1"/>
          <p:nvPr>
            <p:ph idx="11" type="ftr"/>
          </p:nvPr>
        </p:nvSpPr>
        <p:spPr>
          <a:xfrm>
            <a:off x="5257650" y="6584675"/>
            <a:ext cx="1676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OPERACIONES CON DATAFRAMES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0"/>
          <p:cNvSpPr/>
          <p:nvPr/>
        </p:nvSpPr>
        <p:spPr>
          <a:xfrm>
            <a:off x="1207008" y="4343400"/>
            <a:ext cx="9875520" cy="0"/>
          </a:xfrm>
          <a:custGeom>
            <a:rect b="b" l="l" r="r" t="t"/>
            <a:pathLst>
              <a:path extrusionOk="0" h="120000" w="9875520">
                <a:moveTo>
                  <a:pt x="0" y="0"/>
                </a:moveTo>
                <a:lnTo>
                  <a:pt x="9875520" y="0"/>
                </a:lnTo>
              </a:path>
            </a:pathLst>
          </a:custGeom>
          <a:noFill/>
          <a:ln cap="flat" cmpd="sng" w="9525">
            <a:solidFill>
              <a:srgbClr val="7E7E7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4800">
              <a:solidFill>
                <a:schemeClr val="dk2"/>
              </a:solidFill>
              <a:latin typeface="Candara"/>
              <a:ea typeface="Candara"/>
              <a:cs typeface="Candara"/>
              <a:sym typeface="Candara"/>
            </a:endParaRPr>
          </a:p>
        </p:txBody>
      </p:sp>
      <p:sp>
        <p:nvSpPr>
          <p:cNvPr id="433" name="Google Shape;433;p40"/>
          <p:cNvSpPr txBox="1"/>
          <p:nvPr>
            <p:ph type="title"/>
          </p:nvPr>
        </p:nvSpPr>
        <p:spPr>
          <a:xfrm>
            <a:off x="1176026" y="3399475"/>
            <a:ext cx="8717400" cy="751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solidFill>
                  <a:schemeClr val="dk2"/>
                </a:solidFill>
                <a:latin typeface="Candara"/>
                <a:ea typeface="Candara"/>
                <a:cs typeface="Candara"/>
                <a:sym typeface="Candara"/>
              </a:rPr>
              <a:t>4. Transformaciones Avanzadas</a:t>
            </a:r>
            <a:endParaRPr sz="4800">
              <a:solidFill>
                <a:schemeClr val="dk2"/>
              </a:solidFill>
              <a:latin typeface="Candara"/>
              <a:ea typeface="Candara"/>
              <a:cs typeface="Candara"/>
              <a:sym typeface="Candara"/>
            </a:endParaRPr>
          </a:p>
        </p:txBody>
      </p:sp>
      <p:sp>
        <p:nvSpPr>
          <p:cNvPr id="434" name="Google Shape;434;p40"/>
          <p:cNvSpPr txBox="1"/>
          <p:nvPr>
            <p:ph idx="11" type="ftr"/>
          </p:nvPr>
        </p:nvSpPr>
        <p:spPr>
          <a:xfrm>
            <a:off x="5203657" y="6584675"/>
            <a:ext cx="1784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TRANSFORMACIONES</a:t>
            </a:r>
            <a:r>
              <a:rPr lang="en-US"/>
              <a:t> AVANZADAS</a:t>
            </a:r>
            <a:endParaRPr/>
          </a:p>
        </p:txBody>
      </p:sp>
      <p:sp>
        <p:nvSpPr>
          <p:cNvPr id="435" name="Google Shape;435;p40"/>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1"/>
          <p:cNvSpPr txBox="1"/>
          <p:nvPr>
            <p:ph type="title"/>
          </p:nvPr>
        </p:nvSpPr>
        <p:spPr>
          <a:xfrm>
            <a:off x="2240846" y="333510"/>
            <a:ext cx="7633800" cy="506100"/>
          </a:xfrm>
          <a:prstGeom prst="rect">
            <a:avLst/>
          </a:prstGeom>
          <a:noFill/>
          <a:ln>
            <a:noFill/>
          </a:ln>
        </p:spPr>
        <p:txBody>
          <a:bodyPr anchorCtr="0" anchor="t" bIns="0" lIns="0" spcFirstLastPara="1" rIns="0" wrap="square" tIns="13325">
            <a:spAutoFit/>
          </a:bodyPr>
          <a:lstStyle/>
          <a:p>
            <a:pPr indent="0" lvl="0" marL="2192020" rtl="0" algn="l">
              <a:lnSpc>
                <a:spcPct val="100000"/>
              </a:lnSpc>
              <a:spcBef>
                <a:spcPts val="0"/>
              </a:spcBef>
              <a:spcAft>
                <a:spcPts val="0"/>
              </a:spcAft>
              <a:buNone/>
            </a:pPr>
            <a:r>
              <a:rPr lang="en-US">
                <a:latin typeface="Candara"/>
                <a:ea typeface="Candara"/>
                <a:cs typeface="Candara"/>
                <a:sym typeface="Candara"/>
              </a:rPr>
              <a:t>Creaci</a:t>
            </a:r>
            <a:r>
              <a:rPr lang="en-US">
                <a:latin typeface="Candara"/>
                <a:ea typeface="Candara"/>
                <a:cs typeface="Candara"/>
                <a:sym typeface="Candara"/>
              </a:rPr>
              <a:t>ón de Ventanas</a:t>
            </a:r>
            <a:endParaRPr>
              <a:latin typeface="Candara"/>
              <a:ea typeface="Candara"/>
              <a:cs typeface="Candara"/>
              <a:sym typeface="Candara"/>
            </a:endParaRPr>
          </a:p>
        </p:txBody>
      </p:sp>
      <p:sp>
        <p:nvSpPr>
          <p:cNvPr id="441" name="Google Shape;441;p41"/>
          <p:cNvSpPr txBox="1"/>
          <p:nvPr/>
        </p:nvSpPr>
        <p:spPr>
          <a:xfrm>
            <a:off x="600113" y="1044698"/>
            <a:ext cx="10572000" cy="3379800"/>
          </a:xfrm>
          <a:prstGeom prst="rect">
            <a:avLst/>
          </a:prstGeom>
          <a:noFill/>
          <a:ln>
            <a:noFill/>
          </a:ln>
        </p:spPr>
        <p:txBody>
          <a:bodyPr anchorCtr="0" anchor="t" bIns="0" lIns="0" spcFirstLastPara="1" rIns="0" wrap="square" tIns="12050">
            <a:spAutoFit/>
          </a:bodyPr>
          <a:lstStyle/>
          <a:p>
            <a:pPr indent="-330200" lvl="0" marL="354965" marR="5080" rtl="0" algn="l">
              <a:lnSpc>
                <a:spcPct val="150000"/>
              </a:lnSpc>
              <a:spcBef>
                <a:spcPts val="0"/>
              </a:spcBef>
              <a:spcAft>
                <a:spcPts val="0"/>
              </a:spcAft>
              <a:buClr>
                <a:schemeClr val="dk1"/>
              </a:buClr>
              <a:buSzPts val="1800"/>
              <a:buFont typeface="Arial"/>
              <a:buChar char="•"/>
            </a:pPr>
            <a:r>
              <a:rPr lang="en-US" sz="1800">
                <a:solidFill>
                  <a:schemeClr val="dk1"/>
                </a:solidFill>
                <a:latin typeface="Candara"/>
                <a:ea typeface="Candara"/>
                <a:cs typeface="Candara"/>
                <a:sym typeface="Candara"/>
              </a:rPr>
              <a:t>Permiten realizar cálculos complejos (rankings, promedios móviles, sumas acumuladas) sobre un conjunto de filas relacionadas.</a:t>
            </a:r>
            <a:endParaRPr sz="1800">
              <a:solidFill>
                <a:schemeClr val="dk1"/>
              </a:solidFill>
              <a:latin typeface="Candara"/>
              <a:ea typeface="Candara"/>
              <a:cs typeface="Candara"/>
              <a:sym typeface="Candara"/>
            </a:endParaRPr>
          </a:p>
          <a:p>
            <a:pPr indent="-328930" lvl="0" marL="353695" marR="7620" rtl="0" algn="l">
              <a:lnSpc>
                <a:spcPct val="150000"/>
              </a:lnSpc>
              <a:spcBef>
                <a:spcPts val="100"/>
              </a:spcBef>
              <a:spcAft>
                <a:spcPts val="0"/>
              </a:spcAft>
              <a:buClr>
                <a:schemeClr val="dk1"/>
              </a:buClr>
              <a:buSzPts val="1800"/>
              <a:buFont typeface="Arial"/>
              <a:buChar char="•"/>
            </a:pPr>
            <a:r>
              <a:rPr lang="en-US" sz="1800">
                <a:solidFill>
                  <a:schemeClr val="dk1"/>
                </a:solidFill>
                <a:latin typeface="Candara"/>
                <a:ea typeface="Candara"/>
                <a:cs typeface="Candara"/>
                <a:sym typeface="Candara"/>
              </a:rPr>
              <a:t>A diferencia de groupBy(), mantienen todas las filas originales en el DataFrame; solo añaden una nueva columna con el resultado.</a:t>
            </a:r>
            <a:endParaRPr sz="1800">
              <a:solidFill>
                <a:schemeClr val="dk1"/>
              </a:solidFill>
              <a:latin typeface="Candara"/>
              <a:ea typeface="Candara"/>
              <a:cs typeface="Candara"/>
              <a:sym typeface="Candara"/>
            </a:endParaRPr>
          </a:p>
          <a:p>
            <a:pPr indent="-328930" lvl="0" marL="353695" marR="7620" rtl="0" algn="l">
              <a:lnSpc>
                <a:spcPct val="150000"/>
              </a:lnSpc>
              <a:spcBef>
                <a:spcPts val="100"/>
              </a:spcBef>
              <a:spcAft>
                <a:spcPts val="0"/>
              </a:spcAft>
              <a:buClr>
                <a:schemeClr val="dk1"/>
              </a:buClr>
              <a:buSzPts val="1800"/>
              <a:buChar char="•"/>
            </a:pPr>
            <a:r>
              <a:rPr lang="en-US" sz="1800">
                <a:solidFill>
                  <a:schemeClr val="dk1"/>
                </a:solidFill>
                <a:latin typeface="Candara"/>
                <a:ea typeface="Candara"/>
                <a:cs typeface="Candara"/>
                <a:sym typeface="Candara"/>
              </a:rPr>
              <a:t>Definición Clave: Se definen con Window.partitionBy() (la agrupación donde el cálculo se reinicia) y orderBy() (el criterio de ordenación dentro de esa agrupación).</a:t>
            </a:r>
            <a:endParaRPr sz="1800">
              <a:solidFill>
                <a:schemeClr val="dk1"/>
              </a:solidFill>
              <a:latin typeface="Candara"/>
              <a:ea typeface="Candara"/>
              <a:cs typeface="Candara"/>
              <a:sym typeface="Candara"/>
            </a:endParaRPr>
          </a:p>
          <a:p>
            <a:pPr indent="0" lvl="0" marL="0" rtl="0" algn="l">
              <a:lnSpc>
                <a:spcPct val="100000"/>
              </a:lnSpc>
              <a:spcBef>
                <a:spcPts val="135"/>
              </a:spcBef>
              <a:spcAft>
                <a:spcPts val="0"/>
              </a:spcAft>
              <a:buNone/>
            </a:pPr>
            <a:r>
              <a:t/>
            </a:r>
            <a:endParaRPr sz="1800">
              <a:solidFill>
                <a:schemeClr val="dk1"/>
              </a:solidFill>
              <a:latin typeface="Candara"/>
              <a:ea typeface="Candara"/>
              <a:cs typeface="Candara"/>
              <a:sym typeface="Candara"/>
            </a:endParaRPr>
          </a:p>
          <a:p>
            <a:pPr indent="-457833" lvl="0" marL="549275" marR="614045" rtl="0" algn="l">
              <a:lnSpc>
                <a:spcPct val="100000"/>
              </a:lnSpc>
              <a:spcBef>
                <a:spcPts val="0"/>
              </a:spcBef>
              <a:spcAft>
                <a:spcPts val="0"/>
              </a:spcAft>
              <a:buNone/>
            </a:pPr>
            <a:r>
              <a:rPr lang="en-US" sz="1800">
                <a:solidFill>
                  <a:schemeClr val="dk1"/>
                </a:solidFill>
                <a:latin typeface="Candara"/>
                <a:ea typeface="Candara"/>
                <a:cs typeface="Candara"/>
                <a:sym typeface="Candara"/>
              </a:rPr>
              <a:t>windowDF = df.withColumn("ranking", row_number().over(Window.partitionBy("Category").orderBy(col("Sales").desc()))</a:t>
            </a:r>
            <a:r>
              <a:rPr lang="en-US" sz="1800">
                <a:solidFill>
                  <a:schemeClr val="dk1"/>
                </a:solidFill>
                <a:latin typeface="Candara"/>
                <a:ea typeface="Candara"/>
                <a:cs typeface="Candara"/>
                <a:sym typeface="Candara"/>
              </a:rPr>
              <a:t>)</a:t>
            </a:r>
            <a:endParaRPr sz="1800">
              <a:solidFill>
                <a:schemeClr val="dk1"/>
              </a:solidFill>
              <a:latin typeface="Candara"/>
              <a:ea typeface="Candara"/>
              <a:cs typeface="Candara"/>
              <a:sym typeface="Candara"/>
            </a:endParaRPr>
          </a:p>
        </p:txBody>
      </p:sp>
      <p:sp>
        <p:nvSpPr>
          <p:cNvPr id="442" name="Google Shape;442;p41"/>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443" name="Google Shape;443;p41"/>
          <p:cNvSpPr txBox="1"/>
          <p:nvPr/>
        </p:nvSpPr>
        <p:spPr>
          <a:xfrm>
            <a:off x="3022600" y="4775200"/>
            <a:ext cx="59688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solidFill>
                  <a:schemeClr val="dk1"/>
                </a:solidFill>
                <a:latin typeface="Candara"/>
                <a:ea typeface="Candara"/>
                <a:cs typeface="Candara"/>
                <a:sym typeface="Candara"/>
              </a:rPr>
              <a:t>Aquí, se crea un ranking de ventas, pero el ranking se reinicia cada vez que cambia el valor de la columna "Category"</a:t>
            </a:r>
            <a:endParaRPr/>
          </a:p>
        </p:txBody>
      </p:sp>
      <p:sp>
        <p:nvSpPr>
          <p:cNvPr id="444" name="Google Shape;444;p41"/>
          <p:cNvSpPr/>
          <p:nvPr/>
        </p:nvSpPr>
        <p:spPr>
          <a:xfrm>
            <a:off x="3124200" y="4699000"/>
            <a:ext cx="5867100" cy="1092000"/>
          </a:xfrm>
          <a:prstGeom prst="rect">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5" name="Google Shape;445;p41"/>
          <p:cNvSpPr txBox="1"/>
          <p:nvPr>
            <p:ph idx="11" type="ftr"/>
          </p:nvPr>
        </p:nvSpPr>
        <p:spPr>
          <a:xfrm>
            <a:off x="5203657" y="6584675"/>
            <a:ext cx="1784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TRANSFORMACIONES AVANZADAS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2"/>
          <p:cNvSpPr txBox="1"/>
          <p:nvPr>
            <p:ph type="title"/>
          </p:nvPr>
        </p:nvSpPr>
        <p:spPr>
          <a:xfrm>
            <a:off x="2279046" y="371610"/>
            <a:ext cx="7633800" cy="506100"/>
          </a:xfrm>
          <a:prstGeom prst="rect">
            <a:avLst/>
          </a:prstGeom>
          <a:noFill/>
          <a:ln>
            <a:noFill/>
          </a:ln>
        </p:spPr>
        <p:txBody>
          <a:bodyPr anchorCtr="0" anchor="t" bIns="0" lIns="0" spcFirstLastPara="1" rIns="0" wrap="square" tIns="13325">
            <a:spAutoFit/>
          </a:bodyPr>
          <a:lstStyle/>
          <a:p>
            <a:pPr indent="0" lvl="0" marL="2126615" rtl="0" algn="l">
              <a:lnSpc>
                <a:spcPct val="100000"/>
              </a:lnSpc>
              <a:spcBef>
                <a:spcPts val="0"/>
              </a:spcBef>
              <a:spcAft>
                <a:spcPts val="0"/>
              </a:spcAft>
              <a:buNone/>
            </a:pPr>
            <a:r>
              <a:rPr lang="en-US">
                <a:latin typeface="Candara"/>
                <a:ea typeface="Candara"/>
                <a:cs typeface="Candara"/>
                <a:sym typeface="Candara"/>
              </a:rPr>
              <a:t>Ejemplo de Ventanas</a:t>
            </a:r>
            <a:endParaRPr/>
          </a:p>
        </p:txBody>
      </p:sp>
      <p:sp>
        <p:nvSpPr>
          <p:cNvPr id="451" name="Google Shape;451;p42"/>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pic>
        <p:nvPicPr>
          <p:cNvPr id="452" name="Google Shape;452;p42" title="Captura de pantalla 2025-11-18 a las 17.42.59.png"/>
          <p:cNvPicPr preferRelativeResize="0"/>
          <p:nvPr/>
        </p:nvPicPr>
        <p:blipFill>
          <a:blip r:embed="rId3">
            <a:alphaModFix/>
          </a:blip>
          <a:stretch>
            <a:fillRect/>
          </a:stretch>
        </p:blipFill>
        <p:spPr>
          <a:xfrm>
            <a:off x="911303" y="1863048"/>
            <a:ext cx="2195661" cy="1949047"/>
          </a:xfrm>
          <a:prstGeom prst="rect">
            <a:avLst/>
          </a:prstGeom>
          <a:noFill/>
          <a:ln>
            <a:noFill/>
          </a:ln>
        </p:spPr>
      </p:pic>
      <p:sp>
        <p:nvSpPr>
          <p:cNvPr id="453" name="Google Shape;453;p42"/>
          <p:cNvSpPr txBox="1"/>
          <p:nvPr/>
        </p:nvSpPr>
        <p:spPr>
          <a:xfrm>
            <a:off x="911313" y="4345175"/>
            <a:ext cx="10055700" cy="1213800"/>
          </a:xfrm>
          <a:prstGeom prst="rect">
            <a:avLst/>
          </a:prstGeom>
          <a:noFill/>
          <a:ln>
            <a:noFill/>
          </a:ln>
        </p:spPr>
        <p:txBody>
          <a:bodyPr anchorCtr="0" anchor="t" bIns="91425" lIns="91425" spcFirstLastPara="1" rIns="91425" wrap="square" tIns="91425">
            <a:spAutoFit/>
          </a:bodyPr>
          <a:lstStyle/>
          <a:p>
            <a:pPr indent="0" lvl="0" marL="0" rtl="0" algn="just">
              <a:lnSpc>
                <a:spcPct val="135714"/>
              </a:lnSpc>
              <a:spcBef>
                <a:spcPts val="0"/>
              </a:spcBef>
              <a:spcAft>
                <a:spcPts val="0"/>
              </a:spcAft>
              <a:buNone/>
            </a:pPr>
            <a:r>
              <a:rPr lang="en-US" sz="1800">
                <a:solidFill>
                  <a:schemeClr val="dk1"/>
                </a:solidFill>
                <a:highlight>
                  <a:srgbClr val="FFFFFF"/>
                </a:highlight>
                <a:latin typeface="Candara"/>
                <a:ea typeface="Candara"/>
                <a:cs typeface="Candara"/>
                <a:sym typeface="Candara"/>
              </a:rPr>
              <a:t>ventana_ranking= Window.partitionBy(</a:t>
            </a:r>
            <a:r>
              <a:rPr lang="en-US" sz="1800">
                <a:solidFill>
                  <a:srgbClr val="A31515"/>
                </a:solidFill>
                <a:highlight>
                  <a:srgbClr val="FFFFFF"/>
                </a:highlight>
                <a:latin typeface="Candara"/>
                <a:ea typeface="Candara"/>
                <a:cs typeface="Candara"/>
                <a:sym typeface="Candara"/>
              </a:rPr>
              <a:t>"Departamento"</a:t>
            </a:r>
            <a:r>
              <a:rPr lang="en-US" sz="1800">
                <a:solidFill>
                  <a:schemeClr val="dk1"/>
                </a:solidFill>
                <a:highlight>
                  <a:srgbClr val="FFFFFF"/>
                </a:highlight>
                <a:latin typeface="Candara"/>
                <a:ea typeface="Candara"/>
                <a:cs typeface="Candara"/>
                <a:sym typeface="Candara"/>
              </a:rPr>
              <a:t>).orderBy(col(</a:t>
            </a:r>
            <a:r>
              <a:rPr lang="en-US" sz="1800">
                <a:solidFill>
                  <a:srgbClr val="A31515"/>
                </a:solidFill>
                <a:highlight>
                  <a:srgbClr val="FFFFFF"/>
                </a:highlight>
                <a:latin typeface="Candara"/>
                <a:ea typeface="Candara"/>
                <a:cs typeface="Candara"/>
                <a:sym typeface="Candara"/>
              </a:rPr>
              <a:t>"Ventas"</a:t>
            </a:r>
            <a:r>
              <a:rPr lang="en-US" sz="1800">
                <a:solidFill>
                  <a:schemeClr val="dk1"/>
                </a:solidFill>
                <a:highlight>
                  <a:srgbClr val="FFFFFF"/>
                </a:highlight>
                <a:latin typeface="Candara"/>
                <a:ea typeface="Candara"/>
                <a:cs typeface="Candara"/>
                <a:sym typeface="Candara"/>
              </a:rPr>
              <a:t>).desc())</a:t>
            </a:r>
            <a:endParaRPr sz="1800">
              <a:solidFill>
                <a:schemeClr val="dk1"/>
              </a:solidFill>
              <a:highlight>
                <a:srgbClr val="FFFFFF"/>
              </a:highlight>
              <a:latin typeface="Candara"/>
              <a:ea typeface="Candara"/>
              <a:cs typeface="Candara"/>
              <a:sym typeface="Candara"/>
            </a:endParaRPr>
          </a:p>
          <a:p>
            <a:pPr indent="0" lvl="0" marL="0" rtl="0" algn="just">
              <a:lnSpc>
                <a:spcPct val="135714"/>
              </a:lnSpc>
              <a:spcBef>
                <a:spcPts val="0"/>
              </a:spcBef>
              <a:spcAft>
                <a:spcPts val="0"/>
              </a:spcAft>
              <a:buNone/>
            </a:pPr>
            <a:r>
              <a:rPr lang="en-US" sz="1800">
                <a:solidFill>
                  <a:schemeClr val="dk1"/>
                </a:solidFill>
                <a:highlight>
                  <a:srgbClr val="FFFFFF"/>
                </a:highlight>
                <a:latin typeface="Candara"/>
                <a:ea typeface="Candara"/>
                <a:cs typeface="Candara"/>
                <a:sym typeface="Candara"/>
              </a:rPr>
              <a:t>df_resultado = </a:t>
            </a:r>
            <a:r>
              <a:rPr lang="en-US" sz="1800">
                <a:solidFill>
                  <a:schemeClr val="dk1"/>
                </a:solidFill>
                <a:highlight>
                  <a:srgbClr val="FFFFFF"/>
                </a:highlight>
                <a:latin typeface="Candara"/>
                <a:ea typeface="Candara"/>
                <a:cs typeface="Candara"/>
                <a:sym typeface="Candara"/>
              </a:rPr>
              <a:t>df_ejemplo</a:t>
            </a:r>
            <a:r>
              <a:rPr lang="en-US" sz="1800">
                <a:solidFill>
                  <a:schemeClr val="dk1"/>
                </a:solidFill>
                <a:highlight>
                  <a:srgbClr val="FFFFFF"/>
                </a:highlight>
                <a:latin typeface="Candara"/>
                <a:ea typeface="Candara"/>
                <a:cs typeface="Candara"/>
                <a:sym typeface="Candara"/>
              </a:rPr>
              <a:t>.withColumn(</a:t>
            </a:r>
            <a:r>
              <a:rPr lang="en-US" sz="1800">
                <a:solidFill>
                  <a:srgbClr val="A31515"/>
                </a:solidFill>
                <a:highlight>
                  <a:srgbClr val="FFFFFF"/>
                </a:highlight>
                <a:latin typeface="Candara"/>
                <a:ea typeface="Candara"/>
                <a:cs typeface="Candara"/>
                <a:sym typeface="Candara"/>
              </a:rPr>
              <a:t>"Ranking_Ventas_Dept"</a:t>
            </a:r>
            <a:r>
              <a:rPr lang="en-US" sz="1800">
                <a:solidFill>
                  <a:schemeClr val="dk1"/>
                </a:solidFill>
                <a:highlight>
                  <a:srgbClr val="FFFFFF"/>
                </a:highlight>
                <a:latin typeface="Candara"/>
                <a:ea typeface="Candara"/>
                <a:cs typeface="Candara"/>
                <a:sym typeface="Candara"/>
              </a:rPr>
              <a:t>,rank().over(ventana_ranking))</a:t>
            </a:r>
            <a:endParaRPr sz="1800">
              <a:solidFill>
                <a:schemeClr val="dk1"/>
              </a:solidFill>
              <a:highlight>
                <a:srgbClr val="FFFFFF"/>
              </a:highlight>
              <a:latin typeface="Candara"/>
              <a:ea typeface="Candara"/>
              <a:cs typeface="Candara"/>
              <a:sym typeface="Candara"/>
            </a:endParaRPr>
          </a:p>
          <a:p>
            <a:pPr indent="0" lvl="0" marL="0" rtl="0" algn="just">
              <a:lnSpc>
                <a:spcPct val="135714"/>
              </a:lnSpc>
              <a:spcBef>
                <a:spcPts val="0"/>
              </a:spcBef>
              <a:spcAft>
                <a:spcPts val="0"/>
              </a:spcAft>
              <a:buNone/>
            </a:pPr>
            <a:r>
              <a:rPr lang="en-US" sz="1800">
                <a:solidFill>
                  <a:schemeClr val="dk1"/>
                </a:solidFill>
                <a:highlight>
                  <a:srgbClr val="FFFFFF"/>
                </a:highlight>
                <a:latin typeface="Candara"/>
                <a:ea typeface="Candara"/>
                <a:cs typeface="Candara"/>
                <a:sym typeface="Candara"/>
              </a:rPr>
              <a:t>df_resultado.orderBy(</a:t>
            </a:r>
            <a:r>
              <a:rPr lang="en-US" sz="1800">
                <a:solidFill>
                  <a:srgbClr val="A31515"/>
                </a:solidFill>
                <a:highlight>
                  <a:srgbClr val="FFFFFF"/>
                </a:highlight>
                <a:latin typeface="Candara"/>
                <a:ea typeface="Candara"/>
                <a:cs typeface="Candara"/>
                <a:sym typeface="Candara"/>
              </a:rPr>
              <a:t>"Departamento"</a:t>
            </a:r>
            <a:r>
              <a:rPr lang="en-US" sz="1800">
                <a:solidFill>
                  <a:schemeClr val="dk1"/>
                </a:solidFill>
                <a:highlight>
                  <a:srgbClr val="FFFFFF"/>
                </a:highlight>
                <a:latin typeface="Candara"/>
                <a:ea typeface="Candara"/>
                <a:cs typeface="Candara"/>
                <a:sym typeface="Candara"/>
              </a:rPr>
              <a:t>, col(</a:t>
            </a:r>
            <a:r>
              <a:rPr lang="en-US" sz="1800">
                <a:solidFill>
                  <a:srgbClr val="A31515"/>
                </a:solidFill>
                <a:highlight>
                  <a:srgbClr val="FFFFFF"/>
                </a:highlight>
                <a:latin typeface="Candara"/>
                <a:ea typeface="Candara"/>
                <a:cs typeface="Candara"/>
                <a:sym typeface="Candara"/>
              </a:rPr>
              <a:t>"Ventas"</a:t>
            </a:r>
            <a:r>
              <a:rPr lang="en-US" sz="1800">
                <a:solidFill>
                  <a:schemeClr val="dk1"/>
                </a:solidFill>
                <a:highlight>
                  <a:srgbClr val="FFFFFF"/>
                </a:highlight>
                <a:latin typeface="Candara"/>
                <a:ea typeface="Candara"/>
                <a:cs typeface="Candara"/>
                <a:sym typeface="Candara"/>
              </a:rPr>
              <a:t>).desc()).show()</a:t>
            </a:r>
            <a:endParaRPr sz="1800">
              <a:solidFill>
                <a:schemeClr val="dk1"/>
              </a:solidFill>
              <a:highlight>
                <a:srgbClr val="FFFFFF"/>
              </a:highlight>
              <a:latin typeface="Candara"/>
              <a:ea typeface="Candara"/>
              <a:cs typeface="Candara"/>
              <a:sym typeface="Candara"/>
            </a:endParaRPr>
          </a:p>
        </p:txBody>
      </p:sp>
      <p:sp>
        <p:nvSpPr>
          <p:cNvPr id="454" name="Google Shape;454;p42"/>
          <p:cNvSpPr txBox="1"/>
          <p:nvPr/>
        </p:nvSpPr>
        <p:spPr>
          <a:xfrm>
            <a:off x="1353063" y="1342725"/>
            <a:ext cx="1333500" cy="46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1800">
                <a:solidFill>
                  <a:schemeClr val="dk1"/>
                </a:solidFill>
                <a:highlight>
                  <a:srgbClr val="FFFFFF"/>
                </a:highlight>
                <a:latin typeface="Candara"/>
                <a:ea typeface="Candara"/>
                <a:cs typeface="Candara"/>
                <a:sym typeface="Candara"/>
              </a:rPr>
              <a:t>df_ejemplo</a:t>
            </a:r>
            <a:endParaRPr/>
          </a:p>
        </p:txBody>
      </p:sp>
      <p:pic>
        <p:nvPicPr>
          <p:cNvPr id="455" name="Google Shape;455;p42" title="Captura de pantalla 2025-11-18 a las 17.47.12.png"/>
          <p:cNvPicPr preferRelativeResize="0"/>
          <p:nvPr/>
        </p:nvPicPr>
        <p:blipFill>
          <a:blip r:embed="rId4">
            <a:alphaModFix/>
          </a:blip>
          <a:stretch>
            <a:fillRect/>
          </a:stretch>
        </p:blipFill>
        <p:spPr>
          <a:xfrm>
            <a:off x="6776014" y="1760735"/>
            <a:ext cx="4191000" cy="2333625"/>
          </a:xfrm>
          <a:prstGeom prst="rect">
            <a:avLst/>
          </a:prstGeom>
          <a:noFill/>
          <a:ln>
            <a:noFill/>
          </a:ln>
        </p:spPr>
      </p:pic>
      <p:sp>
        <p:nvSpPr>
          <p:cNvPr id="456" name="Google Shape;456;p42"/>
          <p:cNvSpPr txBox="1"/>
          <p:nvPr/>
        </p:nvSpPr>
        <p:spPr>
          <a:xfrm>
            <a:off x="8280588" y="129902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US" sz="1800">
                <a:solidFill>
                  <a:schemeClr val="dk1"/>
                </a:solidFill>
                <a:highlight>
                  <a:srgbClr val="FFFFFF"/>
                </a:highlight>
                <a:latin typeface="Candara"/>
                <a:ea typeface="Candara"/>
                <a:cs typeface="Candara"/>
                <a:sym typeface="Candara"/>
              </a:rPr>
              <a:t>df_resultado</a:t>
            </a:r>
            <a:endParaRPr/>
          </a:p>
        </p:txBody>
      </p:sp>
      <p:grpSp>
        <p:nvGrpSpPr>
          <p:cNvPr id="457" name="Google Shape;457;p42"/>
          <p:cNvGrpSpPr/>
          <p:nvPr/>
        </p:nvGrpSpPr>
        <p:grpSpPr>
          <a:xfrm rot="-5400000">
            <a:off x="4820845" y="2680402"/>
            <a:ext cx="241300" cy="314326"/>
            <a:chOff x="5341620" y="1863852"/>
            <a:chExt cx="241300" cy="314326"/>
          </a:xfrm>
        </p:grpSpPr>
        <p:sp>
          <p:nvSpPr>
            <p:cNvPr id="458" name="Google Shape;458;p42"/>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9" name="Google Shape;459;p42"/>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60" name="Google Shape;460;p42"/>
          <p:cNvSpPr txBox="1"/>
          <p:nvPr>
            <p:ph idx="11" type="ftr"/>
          </p:nvPr>
        </p:nvSpPr>
        <p:spPr>
          <a:xfrm>
            <a:off x="5203657" y="6584675"/>
            <a:ext cx="1784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TRANSFORMACIONES AVANZADAS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3"/>
          <p:cNvSpPr txBox="1"/>
          <p:nvPr>
            <p:ph type="title"/>
          </p:nvPr>
        </p:nvSpPr>
        <p:spPr>
          <a:xfrm>
            <a:off x="4473450" y="343025"/>
            <a:ext cx="32451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Creación de UDFs</a:t>
            </a:r>
            <a:endParaRPr/>
          </a:p>
        </p:txBody>
      </p:sp>
      <p:sp>
        <p:nvSpPr>
          <p:cNvPr id="466" name="Google Shape;466;p43"/>
          <p:cNvSpPr txBox="1"/>
          <p:nvPr/>
        </p:nvSpPr>
        <p:spPr>
          <a:xfrm>
            <a:off x="810890" y="997921"/>
            <a:ext cx="10570200" cy="5191500"/>
          </a:xfrm>
          <a:prstGeom prst="rect">
            <a:avLst/>
          </a:prstGeom>
          <a:noFill/>
          <a:ln>
            <a:noFill/>
          </a:ln>
        </p:spPr>
        <p:txBody>
          <a:bodyPr anchorCtr="0" anchor="t" bIns="0" lIns="0" spcFirstLastPara="1" rIns="0" wrap="square" tIns="12050">
            <a:spAutoFit/>
          </a:bodyPr>
          <a:lstStyle/>
          <a:p>
            <a:pPr indent="-317500" lvl="0" marL="457200" rtl="0" algn="l">
              <a:spcBef>
                <a:spcPts val="0"/>
              </a:spcBef>
              <a:spcAft>
                <a:spcPts val="0"/>
              </a:spcAft>
              <a:buClr>
                <a:schemeClr val="dk1"/>
              </a:buClr>
              <a:buSzPts val="1400"/>
              <a:buFont typeface="Candara"/>
              <a:buChar char="●"/>
            </a:pPr>
            <a:r>
              <a:rPr lang="en-US" sz="1800">
                <a:solidFill>
                  <a:schemeClr val="dk1"/>
                </a:solidFill>
                <a:latin typeface="Candara"/>
                <a:ea typeface="Candara"/>
                <a:cs typeface="Candara"/>
                <a:sym typeface="Candara"/>
              </a:rPr>
              <a:t>En spark también se nos permite generar nuestras propias funciones</a:t>
            </a:r>
            <a:endParaRPr sz="1800">
              <a:solidFill>
                <a:schemeClr val="dk1"/>
              </a:solidFill>
              <a:latin typeface="Candara"/>
              <a:ea typeface="Candara"/>
              <a:cs typeface="Candara"/>
              <a:sym typeface="Candara"/>
            </a:endParaRPr>
          </a:p>
          <a:p>
            <a:pPr indent="0" lvl="0" marL="1384300" rtl="0" algn="l">
              <a:spcBef>
                <a:spcPts val="0"/>
              </a:spcBef>
              <a:spcAft>
                <a:spcPts val="0"/>
              </a:spcAft>
              <a:buNone/>
            </a:pPr>
            <a:r>
              <a:t/>
            </a:r>
            <a:endParaRPr sz="1800">
              <a:solidFill>
                <a:schemeClr val="dk1"/>
              </a:solidFill>
              <a:latin typeface="Candara"/>
              <a:ea typeface="Candara"/>
              <a:cs typeface="Candara"/>
              <a:sym typeface="Candara"/>
            </a:endParaRPr>
          </a:p>
          <a:p>
            <a:pPr indent="0" lvl="0" marL="1384300" rtl="0" algn="l">
              <a:spcBef>
                <a:spcPts val="0"/>
              </a:spcBef>
              <a:spcAft>
                <a:spcPts val="0"/>
              </a:spcAft>
              <a:buNone/>
            </a:pPr>
            <a:r>
              <a:rPr lang="en-US" sz="1800">
                <a:solidFill>
                  <a:schemeClr val="dk1"/>
                </a:solidFill>
                <a:latin typeface="Candara"/>
                <a:ea typeface="Candara"/>
                <a:cs typeface="Candara"/>
                <a:sym typeface="Candara"/>
              </a:rPr>
              <a:t>        </a:t>
            </a:r>
            <a:r>
              <a:rPr lang="en-US">
                <a:latin typeface="Candara"/>
                <a:ea typeface="Candara"/>
                <a:cs typeface="Candara"/>
                <a:sym typeface="Candara"/>
              </a:rPr>
              <a:t>twoChar</a:t>
            </a:r>
            <a:r>
              <a:rPr lang="en-US">
                <a:solidFill>
                  <a:schemeClr val="dk1"/>
                </a:solidFill>
                <a:latin typeface="Candara"/>
                <a:ea typeface="Candara"/>
                <a:cs typeface="Candara"/>
                <a:sym typeface="Candara"/>
              </a:rPr>
              <a:t> = udf(</a:t>
            </a:r>
            <a:r>
              <a:rPr lang="en-US">
                <a:solidFill>
                  <a:schemeClr val="hlink"/>
                </a:solidFill>
                <a:latin typeface="Candara"/>
                <a:ea typeface="Candara"/>
                <a:cs typeface="Candara"/>
                <a:sym typeface="Candara"/>
              </a:rPr>
              <a:t>lambda </a:t>
            </a:r>
            <a:r>
              <a:rPr lang="en-US">
                <a:solidFill>
                  <a:schemeClr val="dk1"/>
                </a:solidFill>
                <a:latin typeface="Candara"/>
                <a:ea typeface="Candara"/>
                <a:cs typeface="Candara"/>
                <a:sym typeface="Candara"/>
              </a:rPr>
              <a:t>s: s[:</a:t>
            </a:r>
            <a:r>
              <a:rPr lang="en-US">
                <a:solidFill>
                  <a:srgbClr val="088557"/>
                </a:solidFill>
                <a:latin typeface="Candara"/>
                <a:ea typeface="Candara"/>
                <a:cs typeface="Candara"/>
                <a:sym typeface="Candara"/>
              </a:rPr>
              <a:t>2</a:t>
            </a:r>
            <a:r>
              <a:rPr lang="en-US">
                <a:solidFill>
                  <a:schemeClr val="dk1"/>
                </a:solidFill>
                <a:latin typeface="Candara"/>
                <a:ea typeface="Candara"/>
                <a:cs typeface="Candara"/>
                <a:sym typeface="Candara"/>
              </a:rPr>
              <a:t>])</a:t>
            </a:r>
            <a:endParaRPr>
              <a:latin typeface="Candara"/>
              <a:ea typeface="Candara"/>
              <a:cs typeface="Candara"/>
              <a:sym typeface="Candara"/>
            </a:endParaRPr>
          </a:p>
          <a:p>
            <a:pPr indent="0" lvl="0" marL="1785620" marR="2884170" rtl="0" algn="l">
              <a:lnSpc>
                <a:spcPct val="100000"/>
              </a:lnSpc>
              <a:spcBef>
                <a:spcPts val="0"/>
              </a:spcBef>
              <a:spcAft>
                <a:spcPts val="0"/>
              </a:spcAft>
              <a:buNone/>
            </a:pPr>
            <a:r>
              <a:rPr lang="en-US">
                <a:latin typeface="Candara"/>
                <a:ea typeface="Candara"/>
                <a:cs typeface="Candara"/>
                <a:sym typeface="Candara"/>
              </a:rPr>
              <a:t>twoDF = df.withColumn(</a:t>
            </a:r>
            <a:r>
              <a:rPr lang="en-US">
                <a:solidFill>
                  <a:srgbClr val="A21414"/>
                </a:solidFill>
                <a:latin typeface="Candara"/>
                <a:ea typeface="Candara"/>
                <a:cs typeface="Candara"/>
                <a:sym typeface="Candara"/>
              </a:rPr>
              <a:t>"two"</a:t>
            </a:r>
            <a:r>
              <a:rPr lang="en-US">
                <a:latin typeface="Candara"/>
                <a:ea typeface="Candara"/>
                <a:cs typeface="Candara"/>
                <a:sym typeface="Candara"/>
              </a:rPr>
              <a:t>, twoChar(col(</a:t>
            </a:r>
            <a:r>
              <a:rPr lang="en-US">
                <a:solidFill>
                  <a:srgbClr val="A21414"/>
                </a:solidFill>
                <a:latin typeface="Candara"/>
                <a:ea typeface="Candara"/>
                <a:cs typeface="Candara"/>
                <a:sym typeface="Candara"/>
              </a:rPr>
              <a:t>"letter"</a:t>
            </a:r>
            <a:r>
              <a:rPr lang="en-US">
                <a:latin typeface="Candara"/>
                <a:ea typeface="Candara"/>
                <a:cs typeface="Candara"/>
                <a:sym typeface="Candara"/>
              </a:rPr>
              <a:t>))) </a:t>
            </a:r>
            <a:endParaRPr>
              <a:latin typeface="Candara"/>
              <a:ea typeface="Candara"/>
              <a:cs typeface="Candara"/>
              <a:sym typeface="Candara"/>
            </a:endParaRPr>
          </a:p>
          <a:p>
            <a:pPr indent="0" lvl="0" marL="1785620" marR="2884170" rtl="0" algn="l">
              <a:lnSpc>
                <a:spcPct val="100000"/>
              </a:lnSpc>
              <a:spcBef>
                <a:spcPts val="0"/>
              </a:spcBef>
              <a:spcAft>
                <a:spcPts val="0"/>
              </a:spcAft>
              <a:buNone/>
            </a:pPr>
            <a:r>
              <a:rPr lang="en-US">
                <a:latin typeface="Candara"/>
                <a:ea typeface="Candara"/>
                <a:cs typeface="Candara"/>
                <a:sym typeface="Candara"/>
              </a:rPr>
              <a:t>twoDF.show()</a:t>
            </a:r>
            <a:endParaRPr>
              <a:latin typeface="Candara"/>
              <a:ea typeface="Candara"/>
              <a:cs typeface="Candara"/>
              <a:sym typeface="Candara"/>
            </a:endParaRPr>
          </a:p>
          <a:p>
            <a:pPr indent="0" lvl="0" marL="1785620" marR="4742180" rtl="0" algn="l">
              <a:lnSpc>
                <a:spcPct val="200000"/>
              </a:lnSpc>
              <a:spcBef>
                <a:spcPts val="1664"/>
              </a:spcBef>
              <a:spcAft>
                <a:spcPts val="0"/>
              </a:spcAft>
              <a:buNone/>
            </a:pPr>
            <a:r>
              <a:t/>
            </a:r>
            <a:endParaRPr sz="1000">
              <a:solidFill>
                <a:srgbClr val="0000FF"/>
              </a:solidFill>
              <a:latin typeface="Candara"/>
              <a:ea typeface="Candara"/>
              <a:cs typeface="Candara"/>
              <a:sym typeface="Candara"/>
            </a:endParaRPr>
          </a:p>
          <a:p>
            <a:pPr indent="0" lvl="0" marL="1785620" marR="4742180" rtl="0" algn="l">
              <a:lnSpc>
                <a:spcPct val="200000"/>
              </a:lnSpc>
              <a:spcBef>
                <a:spcPts val="1664"/>
              </a:spcBef>
              <a:spcAft>
                <a:spcPts val="0"/>
              </a:spcAft>
              <a:buNone/>
            </a:pPr>
            <a:r>
              <a:rPr lang="en-US">
                <a:solidFill>
                  <a:srgbClr val="0000FF"/>
                </a:solidFill>
                <a:latin typeface="Candara"/>
                <a:ea typeface="Candara"/>
                <a:cs typeface="Candara"/>
                <a:sym typeface="Candara"/>
              </a:rPr>
              <a:t>from </a:t>
            </a:r>
            <a:r>
              <a:rPr lang="en-US">
                <a:latin typeface="Candara"/>
                <a:ea typeface="Candara"/>
                <a:cs typeface="Candara"/>
                <a:sym typeface="Candara"/>
              </a:rPr>
              <a:t>pyspark.sql.types </a:t>
            </a:r>
            <a:r>
              <a:rPr lang="en-US">
                <a:solidFill>
                  <a:srgbClr val="0000FF"/>
                </a:solidFill>
                <a:latin typeface="Candara"/>
                <a:ea typeface="Candara"/>
                <a:cs typeface="Candara"/>
                <a:sym typeface="Candara"/>
              </a:rPr>
              <a:t>import </a:t>
            </a:r>
            <a:r>
              <a:rPr lang="en-US">
                <a:latin typeface="Candara"/>
                <a:ea typeface="Candara"/>
                <a:cs typeface="Candara"/>
                <a:sym typeface="Candara"/>
              </a:rPr>
              <a:t>IntegerType @udf(returnType=IntegerType())</a:t>
            </a:r>
            <a:endParaRPr>
              <a:latin typeface="Candara"/>
              <a:ea typeface="Candara"/>
              <a:cs typeface="Candara"/>
              <a:sym typeface="Candara"/>
            </a:endParaRPr>
          </a:p>
          <a:p>
            <a:pPr indent="0" lvl="0" marL="1785620" rtl="0" algn="l">
              <a:lnSpc>
                <a:spcPct val="100000"/>
              </a:lnSpc>
              <a:spcBef>
                <a:spcPts val="0"/>
              </a:spcBef>
              <a:spcAft>
                <a:spcPts val="0"/>
              </a:spcAft>
              <a:buNone/>
            </a:pPr>
            <a:r>
              <a:rPr lang="en-US">
                <a:solidFill>
                  <a:srgbClr val="0000FF"/>
                </a:solidFill>
                <a:latin typeface="Candara"/>
                <a:ea typeface="Candara"/>
                <a:cs typeface="Candara"/>
                <a:sym typeface="Candara"/>
              </a:rPr>
              <a:t>def </a:t>
            </a:r>
            <a:r>
              <a:rPr lang="en-US">
                <a:latin typeface="Candara"/>
                <a:ea typeface="Candara"/>
                <a:cs typeface="Candara"/>
                <a:sym typeface="Candara"/>
              </a:rPr>
              <a:t>add_one(x):</a:t>
            </a:r>
            <a:endParaRPr>
              <a:latin typeface="Candara"/>
              <a:ea typeface="Candara"/>
              <a:cs typeface="Candara"/>
              <a:sym typeface="Candara"/>
            </a:endParaRPr>
          </a:p>
          <a:p>
            <a:pPr indent="-393700" lvl="0" marL="2572385" marR="6710044" rtl="0" algn="l">
              <a:lnSpc>
                <a:spcPct val="100000"/>
              </a:lnSpc>
              <a:spcBef>
                <a:spcPts val="0"/>
              </a:spcBef>
              <a:spcAft>
                <a:spcPts val="0"/>
              </a:spcAft>
              <a:buNone/>
            </a:pPr>
            <a:r>
              <a:rPr lang="en-US">
                <a:solidFill>
                  <a:srgbClr val="0000FF"/>
                </a:solidFill>
                <a:latin typeface="Candara"/>
                <a:ea typeface="Candara"/>
                <a:cs typeface="Candara"/>
                <a:sym typeface="Candara"/>
              </a:rPr>
              <a:t>if </a:t>
            </a:r>
            <a:r>
              <a:rPr lang="en-US">
                <a:latin typeface="Candara"/>
                <a:ea typeface="Candara"/>
                <a:cs typeface="Candara"/>
                <a:sym typeface="Candara"/>
              </a:rPr>
              <a:t>x </a:t>
            </a:r>
            <a:r>
              <a:rPr lang="en-US">
                <a:solidFill>
                  <a:srgbClr val="0000FF"/>
                </a:solidFill>
                <a:latin typeface="Candara"/>
                <a:ea typeface="Candara"/>
                <a:cs typeface="Candara"/>
                <a:sym typeface="Candara"/>
              </a:rPr>
              <a:t>is not None</a:t>
            </a:r>
            <a:r>
              <a:rPr lang="en-US">
                <a:latin typeface="Candara"/>
                <a:ea typeface="Candara"/>
                <a:cs typeface="Candara"/>
                <a:sym typeface="Candara"/>
              </a:rPr>
              <a:t>: </a:t>
            </a:r>
            <a:r>
              <a:rPr lang="en-US">
                <a:solidFill>
                  <a:srgbClr val="0000FF"/>
                </a:solidFill>
                <a:latin typeface="Candara"/>
                <a:ea typeface="Candara"/>
                <a:cs typeface="Candara"/>
                <a:sym typeface="Candara"/>
              </a:rPr>
              <a:t>return </a:t>
            </a:r>
            <a:r>
              <a:rPr lang="en-US">
                <a:latin typeface="Candara"/>
                <a:ea typeface="Candara"/>
                <a:cs typeface="Candara"/>
                <a:sym typeface="Candara"/>
              </a:rPr>
              <a:t>x + </a:t>
            </a:r>
            <a:r>
              <a:rPr lang="en-US">
                <a:solidFill>
                  <a:srgbClr val="088557"/>
                </a:solidFill>
                <a:latin typeface="Candara"/>
                <a:ea typeface="Candara"/>
                <a:cs typeface="Candara"/>
                <a:sym typeface="Candara"/>
              </a:rPr>
              <a:t>1</a:t>
            </a:r>
            <a:endParaRPr>
              <a:latin typeface="Candara"/>
              <a:ea typeface="Candara"/>
              <a:cs typeface="Candara"/>
              <a:sym typeface="Candara"/>
            </a:endParaRPr>
          </a:p>
          <a:p>
            <a:pPr indent="0" lvl="0" marL="0" rtl="0" algn="l">
              <a:lnSpc>
                <a:spcPct val="100000"/>
              </a:lnSpc>
              <a:spcBef>
                <a:spcPts val="45"/>
              </a:spcBef>
              <a:spcAft>
                <a:spcPts val="0"/>
              </a:spcAft>
              <a:buNone/>
            </a:pPr>
            <a:r>
              <a:t/>
            </a:r>
            <a:endParaRPr>
              <a:latin typeface="Candara"/>
              <a:ea typeface="Candara"/>
              <a:cs typeface="Candara"/>
              <a:sym typeface="Candara"/>
            </a:endParaRPr>
          </a:p>
          <a:p>
            <a:pPr indent="-634" lvl="0" marL="1786254" marR="3264534" rtl="0" algn="l">
              <a:lnSpc>
                <a:spcPct val="100000"/>
              </a:lnSpc>
              <a:spcBef>
                <a:spcPts val="0"/>
              </a:spcBef>
              <a:spcAft>
                <a:spcPts val="0"/>
              </a:spcAft>
              <a:buNone/>
            </a:pPr>
            <a:r>
              <a:rPr lang="en-US">
                <a:latin typeface="Candara"/>
                <a:ea typeface="Candara"/>
                <a:cs typeface="Candara"/>
                <a:sym typeface="Candara"/>
              </a:rPr>
              <a:t>plus1DF = df.withColumn(</a:t>
            </a:r>
            <a:r>
              <a:rPr lang="en-US">
                <a:solidFill>
                  <a:srgbClr val="A21414"/>
                </a:solidFill>
                <a:latin typeface="Candara"/>
                <a:ea typeface="Candara"/>
                <a:cs typeface="Candara"/>
                <a:sym typeface="Candara"/>
              </a:rPr>
              <a:t>"plus1"</a:t>
            </a:r>
            <a:r>
              <a:rPr lang="en-US">
                <a:latin typeface="Candara"/>
                <a:ea typeface="Candara"/>
                <a:cs typeface="Candara"/>
                <a:sym typeface="Candara"/>
              </a:rPr>
              <a:t>, add_one(col(</a:t>
            </a:r>
            <a:r>
              <a:rPr lang="en-US">
                <a:solidFill>
                  <a:srgbClr val="A21414"/>
                </a:solidFill>
                <a:latin typeface="Candara"/>
                <a:ea typeface="Candara"/>
                <a:cs typeface="Candara"/>
                <a:sym typeface="Candara"/>
              </a:rPr>
              <a:t>"value"</a:t>
            </a:r>
            <a:r>
              <a:rPr lang="en-US">
                <a:latin typeface="Candara"/>
                <a:ea typeface="Candara"/>
                <a:cs typeface="Candara"/>
                <a:sym typeface="Candara"/>
              </a:rPr>
              <a:t>))) </a:t>
            </a:r>
            <a:endParaRPr>
              <a:latin typeface="Candara"/>
              <a:ea typeface="Candara"/>
              <a:cs typeface="Candara"/>
              <a:sym typeface="Candara"/>
            </a:endParaRPr>
          </a:p>
          <a:p>
            <a:pPr indent="-634" lvl="0" marL="1786254" marR="3264534" rtl="0" algn="l">
              <a:lnSpc>
                <a:spcPct val="100000"/>
              </a:lnSpc>
              <a:spcBef>
                <a:spcPts val="0"/>
              </a:spcBef>
              <a:spcAft>
                <a:spcPts val="0"/>
              </a:spcAft>
              <a:buNone/>
            </a:pPr>
            <a:r>
              <a:rPr lang="en-US">
                <a:latin typeface="Candara"/>
                <a:ea typeface="Candara"/>
                <a:cs typeface="Candara"/>
                <a:sym typeface="Candara"/>
              </a:rPr>
              <a:t>plus1DF.show()</a:t>
            </a:r>
            <a:endParaRPr>
              <a:latin typeface="Candara"/>
              <a:ea typeface="Candara"/>
              <a:cs typeface="Candara"/>
              <a:sym typeface="Candara"/>
            </a:endParaRPr>
          </a:p>
          <a:p>
            <a:pPr indent="-634" lvl="0" marL="1786254" marR="3264534" rtl="0" algn="l">
              <a:lnSpc>
                <a:spcPct val="100000"/>
              </a:lnSpc>
              <a:spcBef>
                <a:spcPts val="0"/>
              </a:spcBef>
              <a:spcAft>
                <a:spcPts val="0"/>
              </a:spcAft>
              <a:buNone/>
            </a:pPr>
            <a:r>
              <a:t/>
            </a:r>
            <a:endParaRPr>
              <a:latin typeface="Candara"/>
              <a:ea typeface="Candara"/>
              <a:cs typeface="Candara"/>
              <a:sym typeface="Candara"/>
            </a:endParaRPr>
          </a:p>
          <a:p>
            <a:pPr indent="-329565" lvl="0" marL="354330" marR="5080" rtl="0" algn="l">
              <a:lnSpc>
                <a:spcPct val="150000"/>
              </a:lnSpc>
              <a:spcBef>
                <a:spcPts val="885"/>
              </a:spcBef>
              <a:spcAft>
                <a:spcPts val="0"/>
              </a:spcAft>
              <a:buSzPts val="1800"/>
              <a:buFont typeface="Candara"/>
              <a:buChar char="•"/>
            </a:pPr>
            <a:r>
              <a:rPr lang="en-US" sz="1800">
                <a:latin typeface="Candara"/>
                <a:ea typeface="Candara"/>
                <a:cs typeface="Candara"/>
                <a:sym typeface="Candara"/>
              </a:rPr>
              <a:t>Sin embargo, siempre que sea posible, es preferible utilizar las transformaciones integradas de Spark, especialmente cuando se trabaja con Python.</a:t>
            </a:r>
            <a:endParaRPr sz="1800">
              <a:latin typeface="Candara"/>
              <a:ea typeface="Candara"/>
              <a:cs typeface="Candara"/>
              <a:sym typeface="Candara"/>
            </a:endParaRPr>
          </a:p>
        </p:txBody>
      </p:sp>
      <p:pic>
        <p:nvPicPr>
          <p:cNvPr id="467" name="Google Shape;467;p43"/>
          <p:cNvPicPr preferRelativeResize="0"/>
          <p:nvPr/>
        </p:nvPicPr>
        <p:blipFill rotWithShape="1">
          <a:blip r:embed="rId3">
            <a:alphaModFix/>
          </a:blip>
          <a:srcRect b="0" l="0" r="0" t="0"/>
          <a:stretch/>
        </p:blipFill>
        <p:spPr>
          <a:xfrm>
            <a:off x="772627" y="2666237"/>
            <a:ext cx="1027614" cy="1333488"/>
          </a:xfrm>
          <a:prstGeom prst="rect">
            <a:avLst/>
          </a:prstGeom>
          <a:noFill/>
          <a:ln>
            <a:noFill/>
          </a:ln>
        </p:spPr>
      </p:pic>
      <p:pic>
        <p:nvPicPr>
          <p:cNvPr id="468" name="Google Shape;468;p43"/>
          <p:cNvPicPr preferRelativeResize="0"/>
          <p:nvPr/>
        </p:nvPicPr>
        <p:blipFill rotWithShape="1">
          <a:blip r:embed="rId4">
            <a:alphaModFix/>
          </a:blip>
          <a:srcRect b="0" l="0" r="0" t="0"/>
          <a:stretch/>
        </p:blipFill>
        <p:spPr>
          <a:xfrm>
            <a:off x="9802378" y="1636029"/>
            <a:ext cx="1324322" cy="1333853"/>
          </a:xfrm>
          <a:prstGeom prst="rect">
            <a:avLst/>
          </a:prstGeom>
          <a:noFill/>
          <a:ln>
            <a:noFill/>
          </a:ln>
        </p:spPr>
      </p:pic>
      <p:pic>
        <p:nvPicPr>
          <p:cNvPr id="469" name="Google Shape;469;p43"/>
          <p:cNvPicPr preferRelativeResize="0"/>
          <p:nvPr/>
        </p:nvPicPr>
        <p:blipFill rotWithShape="1">
          <a:blip r:embed="rId5">
            <a:alphaModFix/>
          </a:blip>
          <a:srcRect b="0" l="0" r="0" t="0"/>
          <a:stretch/>
        </p:blipFill>
        <p:spPr>
          <a:xfrm>
            <a:off x="9716257" y="3708285"/>
            <a:ext cx="1466485" cy="1333488"/>
          </a:xfrm>
          <a:prstGeom prst="rect">
            <a:avLst/>
          </a:prstGeom>
          <a:noFill/>
          <a:ln>
            <a:noFill/>
          </a:ln>
        </p:spPr>
      </p:pic>
      <p:sp>
        <p:nvSpPr>
          <p:cNvPr id="470" name="Google Shape;470;p43"/>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471" name="Google Shape;471;p43"/>
          <p:cNvSpPr txBox="1"/>
          <p:nvPr>
            <p:ph idx="11" type="ftr"/>
          </p:nvPr>
        </p:nvSpPr>
        <p:spPr>
          <a:xfrm>
            <a:off x="5203657" y="6584675"/>
            <a:ext cx="1784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TRANSFORMACIONES AVANZADAS</a:t>
            </a:r>
            <a:endParaRPr/>
          </a:p>
        </p:txBody>
      </p:sp>
      <p:sp>
        <p:nvSpPr>
          <p:cNvPr id="472" name="Google Shape;472;p43"/>
          <p:cNvSpPr txBox="1"/>
          <p:nvPr/>
        </p:nvSpPr>
        <p:spPr>
          <a:xfrm>
            <a:off x="1154375" y="2298200"/>
            <a:ext cx="3245100" cy="506100"/>
          </a:xfrm>
          <a:prstGeom prst="rect">
            <a:avLst/>
          </a:prstGeom>
          <a:noFill/>
          <a:ln>
            <a:noFill/>
          </a:ln>
        </p:spPr>
        <p:txBody>
          <a:bodyPr anchorCtr="0" anchor="t" bIns="91425" lIns="91425" spcFirstLastPara="1" rIns="91425" wrap="square" tIns="91425">
            <a:noAutofit/>
          </a:bodyPr>
          <a:lstStyle/>
          <a:p>
            <a:pPr indent="0" lvl="0" marL="0" marR="2884170" rtl="0" algn="l">
              <a:spcBef>
                <a:spcPts val="0"/>
              </a:spcBef>
              <a:spcAft>
                <a:spcPts val="0"/>
              </a:spcAft>
              <a:buClr>
                <a:schemeClr val="dk1"/>
              </a:buClr>
              <a:buFont typeface="Arial"/>
              <a:buNone/>
            </a:pPr>
            <a:r>
              <a:rPr lang="en-US">
                <a:solidFill>
                  <a:schemeClr val="dk1"/>
                </a:solidFill>
                <a:latin typeface="Candara"/>
                <a:ea typeface="Candara"/>
                <a:cs typeface="Candara"/>
                <a:sym typeface="Candara"/>
              </a:rPr>
              <a:t>df</a:t>
            </a:r>
            <a:endParaRPr sz="2000">
              <a:solidFill>
                <a:schemeClr val="dk1"/>
              </a:solidFill>
              <a:latin typeface="Calibri"/>
              <a:ea typeface="Calibri"/>
              <a:cs typeface="Calibri"/>
              <a:sym typeface="Calibri"/>
            </a:endParaRPr>
          </a:p>
        </p:txBody>
      </p:sp>
      <p:sp>
        <p:nvSpPr>
          <p:cNvPr id="473" name="Google Shape;473;p43"/>
          <p:cNvSpPr txBox="1"/>
          <p:nvPr/>
        </p:nvSpPr>
        <p:spPr>
          <a:xfrm>
            <a:off x="10140950" y="1306025"/>
            <a:ext cx="3584700" cy="2617200"/>
          </a:xfrm>
          <a:prstGeom prst="rect">
            <a:avLst/>
          </a:prstGeom>
          <a:noFill/>
          <a:ln>
            <a:noFill/>
          </a:ln>
        </p:spPr>
        <p:txBody>
          <a:bodyPr anchorCtr="0" anchor="t" bIns="91425" lIns="91425" spcFirstLastPara="1" rIns="91425" wrap="square" tIns="91425">
            <a:noAutofit/>
          </a:bodyPr>
          <a:lstStyle/>
          <a:p>
            <a:pPr indent="0" lvl="0" marL="0" marR="2884170" rtl="0" algn="l">
              <a:spcBef>
                <a:spcPts val="0"/>
              </a:spcBef>
              <a:spcAft>
                <a:spcPts val="0"/>
              </a:spcAft>
              <a:buClr>
                <a:schemeClr val="dk1"/>
              </a:buClr>
              <a:buFont typeface="Arial"/>
              <a:buNone/>
            </a:pPr>
            <a:r>
              <a:rPr lang="en-US">
                <a:solidFill>
                  <a:schemeClr val="dk1"/>
                </a:solidFill>
                <a:latin typeface="Candara"/>
                <a:ea typeface="Candara"/>
                <a:cs typeface="Candara"/>
                <a:sym typeface="Candara"/>
              </a:rPr>
              <a:t>twoDF</a:t>
            </a:r>
            <a:endParaRPr sz="2000">
              <a:solidFill>
                <a:schemeClr val="dk1"/>
              </a:solidFill>
              <a:latin typeface="Calibri"/>
              <a:ea typeface="Calibri"/>
              <a:cs typeface="Calibri"/>
              <a:sym typeface="Calibri"/>
            </a:endParaRPr>
          </a:p>
        </p:txBody>
      </p:sp>
      <p:sp>
        <p:nvSpPr>
          <p:cNvPr id="474" name="Google Shape;474;p43"/>
          <p:cNvSpPr txBox="1"/>
          <p:nvPr/>
        </p:nvSpPr>
        <p:spPr>
          <a:xfrm>
            <a:off x="10140950" y="3340625"/>
            <a:ext cx="5869800" cy="506100"/>
          </a:xfrm>
          <a:prstGeom prst="rect">
            <a:avLst/>
          </a:prstGeom>
          <a:noFill/>
          <a:ln>
            <a:noFill/>
          </a:ln>
        </p:spPr>
        <p:txBody>
          <a:bodyPr anchorCtr="0" anchor="t" bIns="91425" lIns="91425" spcFirstLastPara="1" rIns="91425" wrap="square" tIns="91425">
            <a:noAutofit/>
          </a:bodyPr>
          <a:lstStyle/>
          <a:p>
            <a:pPr indent="0" lvl="0" marL="0" marR="3264534" rtl="0" algn="l">
              <a:spcBef>
                <a:spcPts val="0"/>
              </a:spcBef>
              <a:spcAft>
                <a:spcPts val="0"/>
              </a:spcAft>
              <a:buClr>
                <a:schemeClr val="dk1"/>
              </a:buClr>
              <a:buFont typeface="Arial"/>
              <a:buNone/>
            </a:pPr>
            <a:r>
              <a:rPr lang="en-US">
                <a:solidFill>
                  <a:schemeClr val="dk1"/>
                </a:solidFill>
                <a:latin typeface="Candara"/>
                <a:ea typeface="Candara"/>
                <a:cs typeface="Candara"/>
                <a:sym typeface="Candara"/>
              </a:rPr>
              <a:t>plus1DF</a:t>
            </a:r>
            <a:endParaRPr sz="2000">
              <a:solidFill>
                <a:schemeClr val="dk1"/>
              </a:solidFill>
              <a:latin typeface="Calibri"/>
              <a:ea typeface="Calibri"/>
              <a:cs typeface="Calibri"/>
              <a:sym typeface="Calibri"/>
            </a:endParaRPr>
          </a:p>
        </p:txBody>
      </p:sp>
      <p:grpSp>
        <p:nvGrpSpPr>
          <p:cNvPr id="475" name="Google Shape;475;p43"/>
          <p:cNvGrpSpPr/>
          <p:nvPr/>
        </p:nvGrpSpPr>
        <p:grpSpPr>
          <a:xfrm rot="-5400000">
            <a:off x="8225395" y="1780352"/>
            <a:ext cx="241300" cy="314326"/>
            <a:chOff x="5341620" y="1863852"/>
            <a:chExt cx="241300" cy="314326"/>
          </a:xfrm>
        </p:grpSpPr>
        <p:sp>
          <p:nvSpPr>
            <p:cNvPr id="476" name="Google Shape;476;p43"/>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77" name="Google Shape;477;p43"/>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478" name="Google Shape;478;p43"/>
          <p:cNvGrpSpPr/>
          <p:nvPr/>
        </p:nvGrpSpPr>
        <p:grpSpPr>
          <a:xfrm rot="-5400000">
            <a:off x="8225395" y="4217852"/>
            <a:ext cx="241300" cy="314326"/>
            <a:chOff x="5341620" y="1863852"/>
            <a:chExt cx="241300" cy="314326"/>
          </a:xfrm>
        </p:grpSpPr>
        <p:sp>
          <p:nvSpPr>
            <p:cNvPr id="479" name="Google Shape;479;p43"/>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80" name="Google Shape;480;p43"/>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4"/>
          <p:cNvSpPr txBox="1"/>
          <p:nvPr>
            <p:ph type="title"/>
          </p:nvPr>
        </p:nvSpPr>
        <p:spPr>
          <a:xfrm>
            <a:off x="4744650" y="529950"/>
            <a:ext cx="27027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EJERCICIOS III</a:t>
            </a:r>
            <a:endParaRPr/>
          </a:p>
        </p:txBody>
      </p:sp>
      <p:sp>
        <p:nvSpPr>
          <p:cNvPr id="486" name="Google Shape;486;p44"/>
          <p:cNvSpPr txBox="1"/>
          <p:nvPr/>
        </p:nvSpPr>
        <p:spPr>
          <a:xfrm>
            <a:off x="1345005" y="2288866"/>
            <a:ext cx="5410200" cy="627900"/>
          </a:xfrm>
          <a:prstGeom prst="rect">
            <a:avLst/>
          </a:prstGeom>
          <a:noFill/>
          <a:ln>
            <a:noFill/>
          </a:ln>
        </p:spPr>
        <p:txBody>
          <a:bodyPr anchorCtr="0" anchor="t" bIns="0" lIns="0" spcFirstLastPara="1" rIns="0" wrap="square" tIns="12050">
            <a:spAutoFit/>
          </a:bodyPr>
          <a:lstStyle/>
          <a:p>
            <a:pPr indent="0" lvl="0" marL="0" rtl="0" algn="l">
              <a:lnSpc>
                <a:spcPct val="100000"/>
              </a:lnSpc>
              <a:spcBef>
                <a:spcPts val="2360"/>
              </a:spcBef>
              <a:spcAft>
                <a:spcPts val="0"/>
              </a:spcAft>
              <a:buNone/>
            </a:pPr>
            <a:r>
              <a:t/>
            </a:r>
            <a:endParaRPr sz="2000">
              <a:solidFill>
                <a:srgbClr val="134262"/>
              </a:solidFill>
              <a:latin typeface="Candara"/>
              <a:ea typeface="Candara"/>
              <a:cs typeface="Candara"/>
              <a:sym typeface="Candara"/>
            </a:endParaRPr>
          </a:p>
          <a:p>
            <a:pPr indent="-355600" lvl="0" marL="457200" rtl="0" algn="l">
              <a:spcBef>
                <a:spcPts val="0"/>
              </a:spcBef>
              <a:spcAft>
                <a:spcPts val="0"/>
              </a:spcAft>
              <a:buClr>
                <a:srgbClr val="134262"/>
              </a:buClr>
              <a:buSzPts val="2000"/>
              <a:buFont typeface="Candara"/>
              <a:buChar char="•"/>
            </a:pPr>
            <a:r>
              <a:rPr lang="en-US" sz="2000">
                <a:solidFill>
                  <a:srgbClr val="134262"/>
                </a:solidFill>
                <a:latin typeface="Candara"/>
                <a:ea typeface="Candara"/>
                <a:cs typeface="Candara"/>
                <a:sym typeface="Candara"/>
              </a:rPr>
              <a:t>05.WindowsAndUDFsSpark</a:t>
            </a:r>
            <a:endParaRPr sz="2000">
              <a:solidFill>
                <a:srgbClr val="134262"/>
              </a:solidFill>
              <a:latin typeface="Candara"/>
              <a:ea typeface="Candara"/>
              <a:cs typeface="Candara"/>
              <a:sym typeface="Candara"/>
            </a:endParaRPr>
          </a:p>
        </p:txBody>
      </p:sp>
      <p:sp>
        <p:nvSpPr>
          <p:cNvPr id="487" name="Google Shape;487;p44"/>
          <p:cNvSpPr txBox="1"/>
          <p:nvPr>
            <p:ph idx="12" type="sldNum"/>
          </p:nvPr>
        </p:nvSpPr>
        <p:spPr>
          <a:xfrm>
            <a:off x="10945920" y="6574020"/>
            <a:ext cx="226200" cy="1617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pic>
        <p:nvPicPr>
          <p:cNvPr id="488" name="Google Shape;488;p44"/>
          <p:cNvPicPr preferRelativeResize="0"/>
          <p:nvPr/>
        </p:nvPicPr>
        <p:blipFill>
          <a:blip r:embed="rId3">
            <a:alphaModFix/>
          </a:blip>
          <a:stretch>
            <a:fillRect/>
          </a:stretch>
        </p:blipFill>
        <p:spPr>
          <a:xfrm>
            <a:off x="8024875" y="1510537"/>
            <a:ext cx="2877674" cy="3836926"/>
          </a:xfrm>
          <a:prstGeom prst="rect">
            <a:avLst/>
          </a:prstGeom>
          <a:noFill/>
          <a:ln>
            <a:noFill/>
          </a:ln>
        </p:spPr>
      </p:pic>
      <p:sp>
        <p:nvSpPr>
          <p:cNvPr id="489" name="Google Shape;489;p44"/>
          <p:cNvSpPr txBox="1"/>
          <p:nvPr>
            <p:ph idx="11" type="ftr"/>
          </p:nvPr>
        </p:nvSpPr>
        <p:spPr>
          <a:xfrm>
            <a:off x="5203657" y="6584675"/>
            <a:ext cx="17847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TRANSFORMACIONES AVANZADAS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5"/>
          <p:cNvSpPr/>
          <p:nvPr/>
        </p:nvSpPr>
        <p:spPr>
          <a:xfrm>
            <a:off x="1207008" y="4343400"/>
            <a:ext cx="9875520" cy="0"/>
          </a:xfrm>
          <a:custGeom>
            <a:rect b="b" l="l" r="r" t="t"/>
            <a:pathLst>
              <a:path extrusionOk="0" h="120000" w="9875520">
                <a:moveTo>
                  <a:pt x="0" y="0"/>
                </a:moveTo>
                <a:lnTo>
                  <a:pt x="9875520" y="0"/>
                </a:lnTo>
              </a:path>
            </a:pathLst>
          </a:custGeom>
          <a:noFill/>
          <a:ln cap="flat" cmpd="sng" w="9525">
            <a:solidFill>
              <a:srgbClr val="7E7E7E"/>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95" name="Google Shape;495;p45"/>
          <p:cNvSpPr txBox="1"/>
          <p:nvPr>
            <p:ph type="title"/>
          </p:nvPr>
        </p:nvSpPr>
        <p:spPr>
          <a:xfrm>
            <a:off x="1176019" y="3399472"/>
            <a:ext cx="3808200" cy="751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800">
                <a:solidFill>
                  <a:schemeClr val="dk2"/>
                </a:solidFill>
                <a:latin typeface="Candara"/>
                <a:ea typeface="Candara"/>
                <a:cs typeface="Candara"/>
                <a:sym typeface="Candara"/>
              </a:rPr>
              <a:t>5. DataSet API</a:t>
            </a:r>
            <a:endParaRPr sz="5400"/>
          </a:p>
        </p:txBody>
      </p:sp>
      <p:sp>
        <p:nvSpPr>
          <p:cNvPr id="496" name="Google Shape;496;p45"/>
          <p:cNvSpPr txBox="1"/>
          <p:nvPr>
            <p:ph idx="11" type="ftr"/>
          </p:nvPr>
        </p:nvSpPr>
        <p:spPr>
          <a:xfrm>
            <a:off x="5835177" y="6582025"/>
            <a:ext cx="8565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DATASET API</a:t>
            </a:r>
            <a:endParaRPr/>
          </a:p>
        </p:txBody>
      </p:sp>
      <p:sp>
        <p:nvSpPr>
          <p:cNvPr id="497" name="Google Shape;497;p45"/>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6"/>
          <p:cNvSpPr txBox="1"/>
          <p:nvPr>
            <p:ph type="title"/>
          </p:nvPr>
        </p:nvSpPr>
        <p:spPr>
          <a:xfrm>
            <a:off x="4985849" y="422975"/>
            <a:ext cx="22203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DataSet API</a:t>
            </a:r>
            <a:endParaRPr/>
          </a:p>
        </p:txBody>
      </p:sp>
      <p:sp>
        <p:nvSpPr>
          <p:cNvPr id="503" name="Google Shape;503;p46"/>
          <p:cNvSpPr txBox="1"/>
          <p:nvPr>
            <p:ph idx="1" type="body"/>
          </p:nvPr>
        </p:nvSpPr>
        <p:spPr>
          <a:xfrm>
            <a:off x="618866" y="1047626"/>
            <a:ext cx="10600200" cy="2666100"/>
          </a:xfrm>
          <a:prstGeom prst="rect">
            <a:avLst/>
          </a:prstGeom>
          <a:noFill/>
          <a:ln>
            <a:noFill/>
          </a:ln>
        </p:spPr>
        <p:txBody>
          <a:bodyPr anchorCtr="0" anchor="t" bIns="0" lIns="0" spcFirstLastPara="1" rIns="0" wrap="square" tIns="177150">
            <a:spAutoFit/>
          </a:bodyPr>
          <a:lstStyle/>
          <a:p>
            <a:pPr indent="-316230" lvl="0" marL="385445" marR="6985" rtl="0" algn="l">
              <a:lnSpc>
                <a:spcPct val="150000"/>
              </a:lnSpc>
              <a:spcBef>
                <a:spcPts val="95"/>
              </a:spcBef>
              <a:spcAft>
                <a:spcPts val="0"/>
              </a:spcAft>
              <a:buClr>
                <a:schemeClr val="dk1"/>
              </a:buClr>
              <a:buSzPts val="1600"/>
              <a:buFont typeface="Candara"/>
              <a:buChar char="•"/>
            </a:pPr>
            <a:r>
              <a:rPr lang="en-US" sz="1600">
                <a:latin typeface="Candara"/>
                <a:ea typeface="Candara"/>
                <a:cs typeface="Candara"/>
                <a:sym typeface="Candara"/>
              </a:rPr>
              <a:t>Un dataset es una colección de objetos JVM fuertemente tipados en Scala o una clase en Java y </a:t>
            </a:r>
            <a:r>
              <a:rPr lang="en-US" sz="1600">
                <a:latin typeface="Candara"/>
                <a:ea typeface="Candara"/>
                <a:cs typeface="Candara"/>
                <a:sym typeface="Candara"/>
              </a:rPr>
              <a:t>sólo</a:t>
            </a:r>
            <a:r>
              <a:rPr lang="en-US" sz="1600">
                <a:latin typeface="Candara"/>
                <a:ea typeface="Candara"/>
                <a:cs typeface="Candara"/>
                <a:sym typeface="Candara"/>
              </a:rPr>
              <a:t> tienen sentido en estos lenguajes de programación.</a:t>
            </a:r>
            <a:endParaRPr sz="1600">
              <a:latin typeface="Candara"/>
              <a:ea typeface="Candara"/>
              <a:cs typeface="Candara"/>
              <a:sym typeface="Candara"/>
            </a:endParaRPr>
          </a:p>
          <a:p>
            <a:pPr indent="-316230" lvl="0" marL="385445" marR="6985" rtl="0" algn="l">
              <a:lnSpc>
                <a:spcPct val="150000"/>
              </a:lnSpc>
              <a:spcBef>
                <a:spcPts val="95"/>
              </a:spcBef>
              <a:spcAft>
                <a:spcPts val="0"/>
              </a:spcAft>
              <a:buClr>
                <a:schemeClr val="dk1"/>
              </a:buClr>
              <a:buSzPts val="1600"/>
              <a:buFont typeface="Candara"/>
              <a:buChar char="•"/>
            </a:pPr>
            <a:r>
              <a:rPr lang="en-US" sz="1600">
                <a:latin typeface="Candara"/>
                <a:ea typeface="Candara"/>
                <a:cs typeface="Candara"/>
                <a:sym typeface="Candara"/>
              </a:rPr>
              <a:t>En cambio, en Python y R solo se utilizan DataFrames, ya que estos lenguajes son dinámicamente tipados: los tipos de datos se determinan en tiempo de ejecución, no en compilación. Por ello, los Datasets no tienen sentido en estos lenguajes.</a:t>
            </a:r>
            <a:endParaRPr sz="1600">
              <a:latin typeface="Candara"/>
              <a:ea typeface="Candara"/>
              <a:cs typeface="Candara"/>
              <a:sym typeface="Candara"/>
            </a:endParaRPr>
          </a:p>
          <a:p>
            <a:pPr indent="-316230" lvl="0" marL="385445" marR="6985" rtl="0" algn="l">
              <a:lnSpc>
                <a:spcPct val="150000"/>
              </a:lnSpc>
              <a:spcBef>
                <a:spcPts val="95"/>
              </a:spcBef>
              <a:spcAft>
                <a:spcPts val="0"/>
              </a:spcAft>
              <a:buClr>
                <a:schemeClr val="dk1"/>
              </a:buClr>
              <a:buSzPts val="1600"/>
              <a:buFont typeface="Candara"/>
              <a:buChar char="•"/>
            </a:pPr>
            <a:r>
              <a:rPr lang="en-US" sz="1600">
                <a:latin typeface="Candara"/>
                <a:ea typeface="Candara"/>
                <a:cs typeface="Candara"/>
                <a:sym typeface="Candara"/>
              </a:rPr>
              <a:t>Por último, en Scala, un DataFrame puede considerarse simplemente como un Dataset de filas, es decir, un Dataset[Row], donde cada fila es un objeto genérico sin un tipo definido más allá de su estructura interna.</a:t>
            </a:r>
            <a:endParaRPr sz="1600">
              <a:latin typeface="Candara"/>
              <a:ea typeface="Candara"/>
              <a:cs typeface="Candara"/>
              <a:sym typeface="Candara"/>
            </a:endParaRPr>
          </a:p>
        </p:txBody>
      </p:sp>
      <p:pic>
        <p:nvPicPr>
          <p:cNvPr id="504" name="Google Shape;504;p46"/>
          <p:cNvPicPr preferRelativeResize="0"/>
          <p:nvPr/>
        </p:nvPicPr>
        <p:blipFill rotWithShape="1">
          <a:blip r:embed="rId3">
            <a:alphaModFix/>
          </a:blip>
          <a:srcRect b="0" l="0" r="0" t="0"/>
          <a:stretch/>
        </p:blipFill>
        <p:spPr>
          <a:xfrm>
            <a:off x="3235835" y="3938016"/>
            <a:ext cx="6563098" cy="2238374"/>
          </a:xfrm>
          <a:prstGeom prst="rect">
            <a:avLst/>
          </a:prstGeom>
          <a:noFill/>
          <a:ln>
            <a:noFill/>
          </a:ln>
        </p:spPr>
      </p:pic>
      <p:sp>
        <p:nvSpPr>
          <p:cNvPr id="505" name="Google Shape;505;p46"/>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506" name="Google Shape;506;p46"/>
          <p:cNvSpPr txBox="1"/>
          <p:nvPr>
            <p:ph idx="11" type="ftr"/>
          </p:nvPr>
        </p:nvSpPr>
        <p:spPr>
          <a:xfrm>
            <a:off x="5835177" y="6582025"/>
            <a:ext cx="8565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DATASET API</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7"/>
          <p:cNvSpPr txBox="1"/>
          <p:nvPr>
            <p:ph idx="1" type="body"/>
          </p:nvPr>
        </p:nvSpPr>
        <p:spPr>
          <a:xfrm>
            <a:off x="609091" y="1106326"/>
            <a:ext cx="10600200" cy="2392800"/>
          </a:xfrm>
          <a:prstGeom prst="rect">
            <a:avLst/>
          </a:prstGeom>
          <a:noFill/>
          <a:ln>
            <a:noFill/>
          </a:ln>
        </p:spPr>
        <p:txBody>
          <a:bodyPr anchorCtr="0" anchor="t" bIns="0" lIns="0" spcFirstLastPara="1" rIns="0" wrap="square" tIns="12050">
            <a:spAutoFit/>
          </a:bodyPr>
          <a:lstStyle/>
          <a:p>
            <a:pPr indent="-292735" lvl="0" marL="387350" marR="6985" rtl="0" algn="l">
              <a:lnSpc>
                <a:spcPct val="150000"/>
              </a:lnSpc>
              <a:spcBef>
                <a:spcPts val="100"/>
              </a:spcBef>
              <a:spcAft>
                <a:spcPts val="0"/>
              </a:spcAft>
              <a:buClr>
                <a:schemeClr val="dk1"/>
              </a:buClr>
              <a:buSzPts val="1200"/>
              <a:buFont typeface="Candara"/>
              <a:buChar char="•"/>
            </a:pPr>
            <a:r>
              <a:rPr lang="en-US" sz="1800">
                <a:latin typeface="Candara"/>
                <a:ea typeface="Candara"/>
                <a:cs typeface="Candara"/>
                <a:sym typeface="Candara"/>
              </a:rPr>
              <a:t>Al crear un dataset en Scala, la forma más sencilla de especificar el esquema de este, es utilizar una case class, por su parte en Java, se utilizan clases JavaBean.</a:t>
            </a:r>
            <a:endParaRPr sz="1800">
              <a:latin typeface="Candara"/>
              <a:ea typeface="Candara"/>
              <a:cs typeface="Candara"/>
              <a:sym typeface="Candara"/>
            </a:endParaRPr>
          </a:p>
          <a:p>
            <a:pPr indent="-292735" lvl="0" marL="387350" marR="6985" rtl="0" algn="l">
              <a:lnSpc>
                <a:spcPct val="150000"/>
              </a:lnSpc>
              <a:spcBef>
                <a:spcPts val="100"/>
              </a:spcBef>
              <a:spcAft>
                <a:spcPts val="0"/>
              </a:spcAft>
              <a:buSzPts val="1200"/>
              <a:buFont typeface="Candara"/>
              <a:buChar char="•"/>
            </a:pPr>
            <a:r>
              <a:rPr lang="en-US" sz="1800">
                <a:latin typeface="Candara"/>
                <a:ea typeface="Candara"/>
                <a:cs typeface="Candara"/>
                <a:sym typeface="Candara"/>
              </a:rPr>
              <a:t>En este ejemplo, recibimos un .json de un dispositivo IoT con los siguientes datos y generamos la case class correspondiente especificando su esquema.</a:t>
            </a:r>
            <a:endParaRPr sz="1800">
              <a:latin typeface="Candara"/>
              <a:ea typeface="Candara"/>
              <a:cs typeface="Candara"/>
              <a:sym typeface="Candara"/>
            </a:endParaRPr>
          </a:p>
          <a:p>
            <a:pPr indent="-292735" lvl="0" marL="387350" marR="6985" rtl="0" algn="l">
              <a:lnSpc>
                <a:spcPct val="150000"/>
              </a:lnSpc>
              <a:spcBef>
                <a:spcPts val="100"/>
              </a:spcBef>
              <a:spcAft>
                <a:spcPts val="0"/>
              </a:spcAft>
              <a:buSzPts val="1200"/>
              <a:buFont typeface="Candara"/>
              <a:buChar char="•"/>
            </a:pPr>
            <a:r>
              <a:rPr lang="en-US" sz="1800">
                <a:latin typeface="Candara"/>
                <a:ea typeface="Candara"/>
                <a:cs typeface="Candara"/>
                <a:sym typeface="Candara"/>
              </a:rPr>
              <a:t>Por último podemos de esta forma generar el dataset </a:t>
            </a:r>
            <a:r>
              <a:rPr lang="en-US" sz="1800">
                <a:latin typeface="Candara"/>
                <a:ea typeface="Candara"/>
                <a:cs typeface="Candara"/>
                <a:sym typeface="Candara"/>
              </a:rPr>
              <a:t>infiriendo</a:t>
            </a:r>
            <a:r>
              <a:rPr lang="en-US" sz="1800">
                <a:latin typeface="Candara"/>
                <a:ea typeface="Candara"/>
                <a:cs typeface="Candara"/>
                <a:sym typeface="Candara"/>
              </a:rPr>
              <a:t> el esquema que hemos generado previamente</a:t>
            </a:r>
            <a:endParaRPr sz="1800">
              <a:latin typeface="Candara"/>
              <a:ea typeface="Candara"/>
              <a:cs typeface="Candara"/>
              <a:sym typeface="Candara"/>
            </a:endParaRPr>
          </a:p>
        </p:txBody>
      </p:sp>
      <p:pic>
        <p:nvPicPr>
          <p:cNvPr id="512" name="Google Shape;512;p47"/>
          <p:cNvPicPr preferRelativeResize="0"/>
          <p:nvPr/>
        </p:nvPicPr>
        <p:blipFill rotWithShape="1">
          <a:blip r:embed="rId3">
            <a:alphaModFix/>
          </a:blip>
          <a:srcRect b="0" l="0" r="0" t="0"/>
          <a:stretch/>
        </p:blipFill>
        <p:spPr>
          <a:xfrm>
            <a:off x="475133" y="3684814"/>
            <a:ext cx="5468443" cy="887187"/>
          </a:xfrm>
          <a:prstGeom prst="rect">
            <a:avLst/>
          </a:prstGeom>
          <a:noFill/>
          <a:ln>
            <a:noFill/>
          </a:ln>
        </p:spPr>
      </p:pic>
      <p:pic>
        <p:nvPicPr>
          <p:cNvPr id="513" name="Google Shape;513;p47"/>
          <p:cNvPicPr preferRelativeResize="0"/>
          <p:nvPr/>
        </p:nvPicPr>
        <p:blipFill rotWithShape="1">
          <a:blip r:embed="rId4">
            <a:alphaModFix/>
          </a:blip>
          <a:srcRect b="0" l="0" r="0" t="0"/>
          <a:stretch/>
        </p:blipFill>
        <p:spPr>
          <a:xfrm>
            <a:off x="6672852" y="3642815"/>
            <a:ext cx="5183112" cy="923559"/>
          </a:xfrm>
          <a:prstGeom prst="rect">
            <a:avLst/>
          </a:prstGeom>
          <a:noFill/>
          <a:ln>
            <a:noFill/>
          </a:ln>
        </p:spPr>
      </p:pic>
      <p:sp>
        <p:nvSpPr>
          <p:cNvPr id="514" name="Google Shape;514;p47"/>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515" name="Google Shape;515;p47"/>
          <p:cNvSpPr txBox="1"/>
          <p:nvPr>
            <p:ph type="title"/>
          </p:nvPr>
        </p:nvSpPr>
        <p:spPr>
          <a:xfrm>
            <a:off x="4048600" y="325125"/>
            <a:ext cx="37212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Creando </a:t>
            </a:r>
            <a:r>
              <a:rPr lang="en-US">
                <a:latin typeface="Candara"/>
                <a:ea typeface="Candara"/>
                <a:cs typeface="Candara"/>
                <a:sym typeface="Candara"/>
              </a:rPr>
              <a:t>DataSets</a:t>
            </a:r>
            <a:endParaRPr/>
          </a:p>
        </p:txBody>
      </p:sp>
      <p:grpSp>
        <p:nvGrpSpPr>
          <p:cNvPr id="516" name="Google Shape;516;p47"/>
          <p:cNvGrpSpPr/>
          <p:nvPr/>
        </p:nvGrpSpPr>
        <p:grpSpPr>
          <a:xfrm rot="-5400000">
            <a:off x="6187570" y="3903302"/>
            <a:ext cx="241300" cy="314326"/>
            <a:chOff x="5341620" y="1863852"/>
            <a:chExt cx="241300" cy="314326"/>
          </a:xfrm>
        </p:grpSpPr>
        <p:sp>
          <p:nvSpPr>
            <p:cNvPr id="517" name="Google Shape;517;p47"/>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18" name="Google Shape;518;p47"/>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grpSp>
        <p:nvGrpSpPr>
          <p:cNvPr id="519" name="Google Shape;519;p47"/>
          <p:cNvGrpSpPr/>
          <p:nvPr/>
        </p:nvGrpSpPr>
        <p:grpSpPr>
          <a:xfrm>
            <a:off x="9205695" y="4572002"/>
            <a:ext cx="241300" cy="314326"/>
            <a:chOff x="5341620" y="1863852"/>
            <a:chExt cx="241300" cy="314326"/>
          </a:xfrm>
        </p:grpSpPr>
        <p:sp>
          <p:nvSpPr>
            <p:cNvPr id="520" name="Google Shape;520;p47"/>
            <p:cNvSpPr/>
            <p:nvPr/>
          </p:nvSpPr>
          <p:spPr>
            <a:xfrm>
              <a:off x="5341620" y="1863852"/>
              <a:ext cx="241300" cy="314325"/>
            </a:xfrm>
            <a:custGeom>
              <a:rect b="b" l="l" r="r" t="t"/>
              <a:pathLst>
                <a:path extrusionOk="0" h="314325" w="241300">
                  <a:moveTo>
                    <a:pt x="180594" y="0"/>
                  </a:moveTo>
                  <a:lnTo>
                    <a:pt x="60198" y="0"/>
                  </a:lnTo>
                  <a:lnTo>
                    <a:pt x="60198" y="193548"/>
                  </a:lnTo>
                  <a:lnTo>
                    <a:pt x="0" y="193548"/>
                  </a:lnTo>
                  <a:lnTo>
                    <a:pt x="120396" y="313944"/>
                  </a:lnTo>
                  <a:lnTo>
                    <a:pt x="240792" y="193548"/>
                  </a:lnTo>
                  <a:lnTo>
                    <a:pt x="180594" y="193548"/>
                  </a:lnTo>
                  <a:lnTo>
                    <a:pt x="180594" y="0"/>
                  </a:lnTo>
                  <a:close/>
                </a:path>
              </a:pathLst>
            </a:custGeom>
            <a:solidFill>
              <a:srgbClr val="3493B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1" name="Google Shape;521;p47"/>
            <p:cNvSpPr/>
            <p:nvPr/>
          </p:nvSpPr>
          <p:spPr>
            <a:xfrm>
              <a:off x="5341620" y="1863853"/>
              <a:ext cx="241300" cy="314325"/>
            </a:xfrm>
            <a:custGeom>
              <a:rect b="b" l="l" r="r" t="t"/>
              <a:pathLst>
                <a:path extrusionOk="0" h="314325" w="241300">
                  <a:moveTo>
                    <a:pt x="0" y="193548"/>
                  </a:moveTo>
                  <a:lnTo>
                    <a:pt x="60198" y="193548"/>
                  </a:lnTo>
                  <a:lnTo>
                    <a:pt x="60198" y="0"/>
                  </a:lnTo>
                  <a:lnTo>
                    <a:pt x="180594" y="0"/>
                  </a:lnTo>
                  <a:lnTo>
                    <a:pt x="180594" y="193548"/>
                  </a:lnTo>
                  <a:lnTo>
                    <a:pt x="240792" y="193548"/>
                  </a:lnTo>
                  <a:lnTo>
                    <a:pt x="120396" y="313944"/>
                  </a:lnTo>
                  <a:lnTo>
                    <a:pt x="0" y="193548"/>
                  </a:lnTo>
                  <a:close/>
                </a:path>
              </a:pathLst>
            </a:custGeom>
            <a:noFill/>
            <a:ln cap="flat" cmpd="sng" w="15875">
              <a:solidFill>
                <a:srgbClr val="103A4D"/>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22" name="Google Shape;522;p47"/>
          <p:cNvSpPr txBox="1"/>
          <p:nvPr/>
        </p:nvSpPr>
        <p:spPr>
          <a:xfrm>
            <a:off x="6672850" y="5038400"/>
            <a:ext cx="5307000" cy="38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FF"/>
                </a:solidFill>
                <a:latin typeface="Candara"/>
                <a:ea typeface="Candara"/>
                <a:cs typeface="Candara"/>
                <a:sym typeface="Candara"/>
              </a:rPr>
              <a:t>val</a:t>
            </a:r>
            <a:r>
              <a:rPr lang="en-US">
                <a:solidFill>
                  <a:schemeClr val="dk1"/>
                </a:solidFill>
                <a:latin typeface="Candara"/>
                <a:ea typeface="Candara"/>
                <a:cs typeface="Candara"/>
                <a:sym typeface="Candara"/>
              </a:rPr>
              <a:t> ds = spark.read .json(</a:t>
            </a:r>
            <a:r>
              <a:rPr lang="en-US">
                <a:solidFill>
                  <a:srgbClr val="A21414"/>
                </a:solidFill>
                <a:latin typeface="Candara"/>
                <a:ea typeface="Candara"/>
                <a:cs typeface="Candara"/>
                <a:sym typeface="Candara"/>
              </a:rPr>
              <a:t>"/path/example.json"</a:t>
            </a:r>
            <a:r>
              <a:rPr lang="en-US">
                <a:solidFill>
                  <a:schemeClr val="dk1"/>
                </a:solidFill>
                <a:latin typeface="Candara"/>
                <a:ea typeface="Candara"/>
                <a:cs typeface="Candara"/>
                <a:sym typeface="Candara"/>
              </a:rPr>
              <a:t>).as[</a:t>
            </a:r>
            <a:r>
              <a:rPr lang="en-US">
                <a:solidFill>
                  <a:srgbClr val="00AF50"/>
                </a:solidFill>
                <a:latin typeface="Candara"/>
                <a:ea typeface="Candara"/>
                <a:cs typeface="Candara"/>
                <a:sym typeface="Candara"/>
              </a:rPr>
              <a:t>DeviceIoTData</a:t>
            </a:r>
            <a:r>
              <a:rPr lang="en-US">
                <a:solidFill>
                  <a:schemeClr val="dk1"/>
                </a:solidFill>
                <a:latin typeface="Candara"/>
                <a:ea typeface="Candara"/>
                <a:cs typeface="Candara"/>
                <a:sym typeface="Candara"/>
              </a:rPr>
              <a:t>]</a:t>
            </a:r>
            <a:endParaRPr>
              <a:solidFill>
                <a:schemeClr val="dk1"/>
              </a:solidFill>
              <a:latin typeface="Calibri"/>
              <a:ea typeface="Calibri"/>
              <a:cs typeface="Calibri"/>
              <a:sym typeface="Calibri"/>
            </a:endParaRPr>
          </a:p>
        </p:txBody>
      </p:sp>
      <p:sp>
        <p:nvSpPr>
          <p:cNvPr id="523" name="Google Shape;523;p47"/>
          <p:cNvSpPr txBox="1"/>
          <p:nvPr>
            <p:ph idx="11" type="ftr"/>
          </p:nvPr>
        </p:nvSpPr>
        <p:spPr>
          <a:xfrm>
            <a:off x="5835177" y="6582025"/>
            <a:ext cx="8565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DATASET API</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8"/>
          <p:cNvSpPr txBox="1"/>
          <p:nvPr>
            <p:ph idx="12" type="sldNum"/>
          </p:nvPr>
        </p:nvSpPr>
        <p:spPr>
          <a:xfrm>
            <a:off x="10945920" y="6574020"/>
            <a:ext cx="226200" cy="1599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
        <p:nvSpPr>
          <p:cNvPr id="529" name="Google Shape;529;p48"/>
          <p:cNvSpPr txBox="1"/>
          <p:nvPr/>
        </p:nvSpPr>
        <p:spPr>
          <a:xfrm>
            <a:off x="641176" y="1233501"/>
            <a:ext cx="10570800" cy="3242100"/>
          </a:xfrm>
          <a:prstGeom prst="rect">
            <a:avLst/>
          </a:prstGeom>
          <a:noFill/>
          <a:ln>
            <a:noFill/>
          </a:ln>
        </p:spPr>
        <p:txBody>
          <a:bodyPr anchorCtr="0" anchor="t" bIns="0" lIns="0" spcFirstLastPara="1" rIns="0" wrap="square" tIns="12050">
            <a:spAutoFit/>
          </a:bodyPr>
          <a:lstStyle/>
          <a:p>
            <a:pPr indent="-339725" lvl="0" marL="352425" marR="6985" rtl="0" algn="just">
              <a:lnSpc>
                <a:spcPct val="150000"/>
              </a:lnSpc>
              <a:spcBef>
                <a:spcPts val="0"/>
              </a:spcBef>
              <a:spcAft>
                <a:spcPts val="0"/>
              </a:spcAft>
              <a:buSzPts val="2000"/>
              <a:buFont typeface="Candara"/>
              <a:buChar char="•"/>
            </a:pPr>
            <a:r>
              <a:rPr lang="en-US" sz="2000">
                <a:latin typeface="Candara"/>
                <a:ea typeface="Candara"/>
                <a:cs typeface="Candara"/>
                <a:sym typeface="Candara"/>
              </a:rPr>
              <a:t>Cabe destacar que, mientras que con DataFrames se expresan las condiciones filter() como operaciones DSL similares a SQL </a:t>
            </a:r>
            <a:r>
              <a:rPr lang="en-US" sz="2000">
                <a:latin typeface="Candara"/>
                <a:ea typeface="Candara"/>
                <a:cs typeface="Candara"/>
                <a:sym typeface="Candara"/>
              </a:rPr>
              <a:t>qué</a:t>
            </a:r>
            <a:r>
              <a:rPr lang="en-US" sz="2000">
                <a:latin typeface="Candara"/>
                <a:ea typeface="Candara"/>
                <a:cs typeface="Candara"/>
                <a:sym typeface="Candara"/>
              </a:rPr>
              <a:t> son independientes del lenguaje, con Datasets utilizamos expresiones nativas del lenguaje como código Scala o Java.</a:t>
            </a:r>
            <a:endParaRPr sz="2000">
              <a:latin typeface="Candara"/>
              <a:ea typeface="Candara"/>
              <a:cs typeface="Candara"/>
              <a:sym typeface="Candara"/>
            </a:endParaRPr>
          </a:p>
          <a:p>
            <a:pPr indent="0" lvl="0" marL="0" rtl="0" algn="l">
              <a:lnSpc>
                <a:spcPct val="100000"/>
              </a:lnSpc>
              <a:spcBef>
                <a:spcPts val="940"/>
              </a:spcBef>
              <a:spcAft>
                <a:spcPts val="0"/>
              </a:spcAft>
              <a:buSzPts val="2000"/>
              <a:buFont typeface="Arial"/>
              <a:buNone/>
            </a:pPr>
            <a:r>
              <a:t/>
            </a:r>
            <a:endParaRPr sz="2000">
              <a:latin typeface="Candara"/>
              <a:ea typeface="Candara"/>
              <a:cs typeface="Candara"/>
              <a:sym typeface="Candara"/>
            </a:endParaRPr>
          </a:p>
          <a:p>
            <a:pPr indent="0" lvl="0" marL="337185" rtl="0" algn="l">
              <a:lnSpc>
                <a:spcPct val="100000"/>
              </a:lnSpc>
              <a:spcBef>
                <a:spcPts val="0"/>
              </a:spcBef>
              <a:spcAft>
                <a:spcPts val="0"/>
              </a:spcAft>
              <a:buNone/>
            </a:pPr>
            <a:r>
              <a:rPr lang="en-US" sz="1800">
                <a:solidFill>
                  <a:srgbClr val="008000"/>
                </a:solidFill>
                <a:latin typeface="Candara"/>
                <a:ea typeface="Candara"/>
                <a:cs typeface="Candara"/>
                <a:sym typeface="Candara"/>
              </a:rPr>
              <a:t>// Scala</a:t>
            </a:r>
            <a:endParaRPr sz="1800">
              <a:latin typeface="Candara"/>
              <a:ea typeface="Candara"/>
              <a:cs typeface="Candara"/>
              <a:sym typeface="Candara"/>
            </a:endParaRPr>
          </a:p>
          <a:p>
            <a:pPr indent="0" lvl="0" marL="337185" rtl="0" algn="l">
              <a:lnSpc>
                <a:spcPct val="100000"/>
              </a:lnSpc>
              <a:spcBef>
                <a:spcPts val="0"/>
              </a:spcBef>
              <a:spcAft>
                <a:spcPts val="0"/>
              </a:spcAft>
              <a:buNone/>
            </a:pPr>
            <a:r>
              <a:rPr lang="en-US" sz="1800">
                <a:solidFill>
                  <a:srgbClr val="0000FF"/>
                </a:solidFill>
                <a:latin typeface="Candara"/>
                <a:ea typeface="Candara"/>
                <a:cs typeface="Candara"/>
                <a:sym typeface="Candara"/>
              </a:rPr>
              <a:t>val </a:t>
            </a:r>
            <a:r>
              <a:rPr lang="en-US" sz="1800">
                <a:latin typeface="Candara"/>
                <a:ea typeface="Candara"/>
                <a:cs typeface="Candara"/>
                <a:sym typeface="Candara"/>
              </a:rPr>
              <a:t>filterTempDS = ds.filter({d =&gt; {d.temp &gt; </a:t>
            </a:r>
            <a:r>
              <a:rPr lang="en-US" sz="1800">
                <a:solidFill>
                  <a:srgbClr val="088557"/>
                </a:solidFill>
                <a:latin typeface="Candara"/>
                <a:ea typeface="Candara"/>
                <a:cs typeface="Candara"/>
                <a:sym typeface="Candara"/>
              </a:rPr>
              <a:t>30 </a:t>
            </a:r>
            <a:r>
              <a:rPr lang="en-US" sz="1800">
                <a:latin typeface="Candara"/>
                <a:ea typeface="Candara"/>
                <a:cs typeface="Candara"/>
                <a:sym typeface="Candara"/>
              </a:rPr>
              <a:t>&amp;&amp; d.humidity &gt; </a:t>
            </a:r>
            <a:r>
              <a:rPr lang="en-US" sz="1800">
                <a:solidFill>
                  <a:srgbClr val="088557"/>
                </a:solidFill>
                <a:latin typeface="Candara"/>
                <a:ea typeface="Candara"/>
                <a:cs typeface="Candara"/>
                <a:sym typeface="Candara"/>
              </a:rPr>
              <a:t>70</a:t>
            </a:r>
            <a:r>
              <a:rPr lang="en-US" sz="1800">
                <a:latin typeface="Candara"/>
                <a:ea typeface="Candara"/>
                <a:cs typeface="Candara"/>
                <a:sym typeface="Candara"/>
              </a:rPr>
              <a:t>})</a:t>
            </a:r>
            <a:endParaRPr sz="1800">
              <a:latin typeface="Candara"/>
              <a:ea typeface="Candara"/>
              <a:cs typeface="Candara"/>
              <a:sym typeface="Candara"/>
            </a:endParaRPr>
          </a:p>
          <a:p>
            <a:pPr indent="0" lvl="0" marL="337185" rtl="0" algn="l">
              <a:lnSpc>
                <a:spcPct val="100000"/>
              </a:lnSpc>
              <a:spcBef>
                <a:spcPts val="0"/>
              </a:spcBef>
              <a:spcAft>
                <a:spcPts val="0"/>
              </a:spcAft>
              <a:buNone/>
            </a:pPr>
            <a:r>
              <a:rPr lang="en-US" sz="1800">
                <a:solidFill>
                  <a:srgbClr val="0000FF"/>
                </a:solidFill>
                <a:latin typeface="Candara"/>
                <a:ea typeface="Candara"/>
                <a:cs typeface="Candara"/>
                <a:sym typeface="Candara"/>
              </a:rPr>
              <a:t>val</a:t>
            </a:r>
            <a:r>
              <a:rPr lang="en-US" sz="1800">
                <a:latin typeface="Candara"/>
                <a:ea typeface="Candara"/>
                <a:cs typeface="Candara"/>
                <a:sym typeface="Candara"/>
              </a:rPr>
              <a:t> total = ds.count()</a:t>
            </a:r>
            <a:endParaRPr sz="1800">
              <a:latin typeface="Candara"/>
              <a:ea typeface="Candara"/>
              <a:cs typeface="Candara"/>
              <a:sym typeface="Candara"/>
            </a:endParaRPr>
          </a:p>
          <a:p>
            <a:pPr indent="0" lvl="0" marL="337185" rtl="0" algn="l">
              <a:lnSpc>
                <a:spcPct val="100000"/>
              </a:lnSpc>
              <a:spcBef>
                <a:spcPts val="0"/>
              </a:spcBef>
              <a:spcAft>
                <a:spcPts val="0"/>
              </a:spcAft>
              <a:buNone/>
            </a:pPr>
            <a:r>
              <a:rPr lang="en-US" sz="1800">
                <a:solidFill>
                  <a:srgbClr val="0000FF"/>
                </a:solidFill>
                <a:latin typeface="Candara"/>
                <a:ea typeface="Candara"/>
                <a:cs typeface="Candara"/>
                <a:sym typeface="Candara"/>
              </a:rPr>
              <a:t>val</a:t>
            </a:r>
            <a:r>
              <a:rPr lang="en-US" sz="1800">
                <a:latin typeface="Candara"/>
                <a:ea typeface="Candara"/>
                <a:cs typeface="Candara"/>
                <a:sym typeface="Candara"/>
              </a:rPr>
              <a:t> primero = ds.first()</a:t>
            </a:r>
            <a:endParaRPr sz="1800">
              <a:latin typeface="Candara"/>
              <a:ea typeface="Candara"/>
              <a:cs typeface="Candara"/>
              <a:sym typeface="Candara"/>
            </a:endParaRPr>
          </a:p>
          <a:p>
            <a:pPr indent="0" lvl="0" marL="0" marR="5080" rtl="0" algn="just">
              <a:lnSpc>
                <a:spcPct val="150000"/>
              </a:lnSpc>
              <a:spcBef>
                <a:spcPts val="0"/>
              </a:spcBef>
              <a:spcAft>
                <a:spcPts val="0"/>
              </a:spcAft>
              <a:buNone/>
            </a:pPr>
            <a:r>
              <a:t/>
            </a:r>
            <a:endParaRPr sz="2000">
              <a:latin typeface="Candara"/>
              <a:ea typeface="Candara"/>
              <a:cs typeface="Candara"/>
              <a:sym typeface="Candara"/>
            </a:endParaRPr>
          </a:p>
        </p:txBody>
      </p:sp>
      <p:sp>
        <p:nvSpPr>
          <p:cNvPr id="530" name="Google Shape;530;p48"/>
          <p:cNvSpPr txBox="1"/>
          <p:nvPr>
            <p:ph type="title"/>
          </p:nvPr>
        </p:nvSpPr>
        <p:spPr>
          <a:xfrm>
            <a:off x="2315725" y="315350"/>
            <a:ext cx="7562700" cy="50610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latin typeface="Candara"/>
                <a:ea typeface="Candara"/>
                <a:cs typeface="Candara"/>
                <a:sym typeface="Candara"/>
              </a:rPr>
              <a:t>Transformaciones y Acciones con </a:t>
            </a:r>
            <a:r>
              <a:rPr lang="en-US">
                <a:latin typeface="Candara"/>
                <a:ea typeface="Candara"/>
                <a:cs typeface="Candara"/>
                <a:sym typeface="Candara"/>
              </a:rPr>
              <a:t> DataSets</a:t>
            </a:r>
            <a:endParaRPr/>
          </a:p>
        </p:txBody>
      </p:sp>
      <p:sp>
        <p:nvSpPr>
          <p:cNvPr id="531" name="Google Shape;531;p48"/>
          <p:cNvSpPr txBox="1"/>
          <p:nvPr>
            <p:ph idx="11" type="ftr"/>
          </p:nvPr>
        </p:nvSpPr>
        <p:spPr>
          <a:xfrm>
            <a:off x="5835177" y="6582025"/>
            <a:ext cx="8565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DATASET API</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p49" title="Código QR para PySpark - Ignacio Reyes Vázquez.png"/>
          <p:cNvPicPr preferRelativeResize="0"/>
          <p:nvPr/>
        </p:nvPicPr>
        <p:blipFill>
          <a:blip r:embed="rId3">
            <a:alphaModFix/>
          </a:blip>
          <a:stretch>
            <a:fillRect/>
          </a:stretch>
        </p:blipFill>
        <p:spPr>
          <a:xfrm>
            <a:off x="3256813" y="264125"/>
            <a:ext cx="5678373" cy="5678373"/>
          </a:xfrm>
          <a:prstGeom prst="rect">
            <a:avLst/>
          </a:prstGeom>
          <a:noFill/>
          <a:ln>
            <a:noFill/>
          </a:ln>
        </p:spPr>
      </p:pic>
      <p:sp>
        <p:nvSpPr>
          <p:cNvPr id="537" name="Google Shape;537;p49"/>
          <p:cNvSpPr txBox="1"/>
          <p:nvPr>
            <p:ph idx="11" type="ftr"/>
          </p:nvPr>
        </p:nvSpPr>
        <p:spPr>
          <a:xfrm>
            <a:off x="5835177" y="6582025"/>
            <a:ext cx="856500" cy="138600"/>
          </a:xfrm>
          <a:prstGeom prst="rect">
            <a:avLst/>
          </a:prstGeom>
          <a:noFill/>
          <a:ln>
            <a:noFill/>
          </a:ln>
        </p:spPr>
        <p:txBody>
          <a:bodyPr anchorCtr="0" anchor="t" bIns="0" lIns="0" spcFirstLastPara="1" rIns="0" wrap="square" tIns="0">
            <a:spAutoFit/>
          </a:bodyPr>
          <a:lstStyle/>
          <a:p>
            <a:pPr indent="0" lvl="0" marL="12700" rtl="0" algn="l">
              <a:lnSpc>
                <a:spcPct val="106111"/>
              </a:lnSpc>
              <a:spcBef>
                <a:spcPts val="0"/>
              </a:spcBef>
              <a:spcAft>
                <a:spcPts val="0"/>
              </a:spcAft>
              <a:buNone/>
            </a:pPr>
            <a:r>
              <a:rPr lang="en-US"/>
              <a:t>DATASET API</a:t>
            </a:r>
            <a:endParaRPr/>
          </a:p>
        </p:txBody>
      </p:sp>
      <p:sp>
        <p:nvSpPr>
          <p:cNvPr id="538" name="Google Shape;538;p49"/>
          <p:cNvSpPr txBox="1"/>
          <p:nvPr>
            <p:ph idx="12" type="sldNum"/>
          </p:nvPr>
        </p:nvSpPr>
        <p:spPr>
          <a:xfrm>
            <a:off x="10945920" y="6574020"/>
            <a:ext cx="226200" cy="161700"/>
          </a:xfrm>
          <a:prstGeom prst="rect">
            <a:avLst/>
          </a:prstGeom>
          <a:noFill/>
          <a:ln>
            <a:noFill/>
          </a:ln>
        </p:spPr>
        <p:txBody>
          <a:bodyPr anchorCtr="0" anchor="t" bIns="0" lIns="0" spcFirstLastPara="1" rIns="0" wrap="square" tIns="0">
            <a:spAutoFit/>
          </a:bodyPr>
          <a:lstStyle/>
          <a:p>
            <a:pPr indent="0" lvl="0" marL="38100" rtl="0" algn="l">
              <a:lnSpc>
                <a:spcPct val="110000"/>
              </a:lnSpc>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