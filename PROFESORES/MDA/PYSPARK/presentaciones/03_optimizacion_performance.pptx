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12192000" cy="6858000"/>
  <p:embeddedFontLst>
    <p:embeddedFont>
      <p:font typeface="Candara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jeLeFhG7riaGapXKF2mPGDgHrK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ndar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andar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andara-italic.fntdata"/><Relationship Id="rId6" Type="http://schemas.openxmlformats.org/officeDocument/2006/relationships/slide" Target="slides/slide1.xml"/><Relationship Id="rId18" Type="http://schemas.openxmlformats.org/officeDocument/2006/relationships/font" Target="fonts/Candar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59749200d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a59749200d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9749200d_0_7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9749200d_0_7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" name="Google Shape;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0396" y="2307336"/>
            <a:ext cx="4331207" cy="1167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7384" y="1205483"/>
            <a:ext cx="2237231" cy="90220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5835172" y="6582022"/>
            <a:ext cx="5238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679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>
            <a:off x="3047" y="6400800"/>
            <a:ext cx="12189460" cy="457200"/>
          </a:xfrm>
          <a:custGeom>
            <a:rect b="b" l="l" r="r" t="t"/>
            <a:pathLst>
              <a:path extrusionOk="0" h="457200" w="12189460">
                <a:moveTo>
                  <a:pt x="12188952" y="0"/>
                </a:moveTo>
                <a:lnTo>
                  <a:pt x="0" y="0"/>
                </a:lnTo>
                <a:lnTo>
                  <a:pt x="0" y="457200"/>
                </a:lnTo>
                <a:lnTo>
                  <a:pt x="12188952" y="4572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57B6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4"/>
          <p:cNvSpPr/>
          <p:nvPr/>
        </p:nvSpPr>
        <p:spPr>
          <a:xfrm>
            <a:off x="0" y="6333744"/>
            <a:ext cx="12189460" cy="64135"/>
          </a:xfrm>
          <a:custGeom>
            <a:rect b="b" l="l" r="r" t="t"/>
            <a:pathLst>
              <a:path extrusionOk="0" h="64135" w="12189460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3493B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4"/>
          <p:cNvSpPr/>
          <p:nvPr/>
        </p:nvSpPr>
        <p:spPr>
          <a:xfrm>
            <a:off x="1207008" y="4343400"/>
            <a:ext cx="9875520" cy="0"/>
          </a:xfrm>
          <a:custGeom>
            <a:rect b="b" l="l" r="r" t="t"/>
            <a:pathLst>
              <a:path extrusionOk="0" h="120000"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 txBox="1"/>
          <p:nvPr>
            <p:ph type="title"/>
          </p:nvPr>
        </p:nvSpPr>
        <p:spPr>
          <a:xfrm>
            <a:off x="4220439" y="380301"/>
            <a:ext cx="375112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1342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5835172" y="6582022"/>
            <a:ext cx="5238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679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4220439" y="380301"/>
            <a:ext cx="375112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1342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56380" y="1221206"/>
            <a:ext cx="10553065" cy="4228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>
                <a:solidFill>
                  <a:srgbClr val="1342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5835172" y="6582022"/>
            <a:ext cx="5238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679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1342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>
                <a:solidFill>
                  <a:srgbClr val="1342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5835172" y="6582022"/>
            <a:ext cx="5238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679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220439" y="380301"/>
            <a:ext cx="375112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1342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1" type="ftr"/>
          </p:nvPr>
        </p:nvSpPr>
        <p:spPr>
          <a:xfrm>
            <a:off x="5835172" y="6582022"/>
            <a:ext cx="5238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679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59749200d_0_4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a59749200d_0_4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g3a59749200d_0_4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a59749200d_0_4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a59749200d_0_49"/>
          <p:cNvSpPr txBox="1"/>
          <p:nvPr>
            <p:ph idx="12" type="sldNum"/>
          </p:nvPr>
        </p:nvSpPr>
        <p:spPr>
          <a:xfrm>
            <a:off x="8610600" y="6356350"/>
            <a:ext cx="274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3047" y="6400800"/>
            <a:ext cx="12189460" cy="457200"/>
          </a:xfrm>
          <a:custGeom>
            <a:rect b="b" l="l" r="r" t="t"/>
            <a:pathLst>
              <a:path extrusionOk="0" h="457200" w="12189460">
                <a:moveTo>
                  <a:pt x="12188952" y="0"/>
                </a:moveTo>
                <a:lnTo>
                  <a:pt x="0" y="0"/>
                </a:lnTo>
                <a:lnTo>
                  <a:pt x="0" y="457200"/>
                </a:lnTo>
                <a:lnTo>
                  <a:pt x="12188952" y="4572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57B6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2"/>
          <p:cNvSpPr/>
          <p:nvPr/>
        </p:nvSpPr>
        <p:spPr>
          <a:xfrm>
            <a:off x="0" y="6333744"/>
            <a:ext cx="12189460" cy="64135"/>
          </a:xfrm>
          <a:custGeom>
            <a:rect b="b" l="l" r="r" t="t"/>
            <a:pathLst>
              <a:path extrusionOk="0" h="64135" w="12189460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3493B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2"/>
          <p:cNvSpPr txBox="1"/>
          <p:nvPr>
            <p:ph type="title"/>
          </p:nvPr>
        </p:nvSpPr>
        <p:spPr>
          <a:xfrm>
            <a:off x="4220439" y="380301"/>
            <a:ext cx="375112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1342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2"/>
          <p:cNvSpPr txBox="1"/>
          <p:nvPr>
            <p:ph idx="1" type="body"/>
          </p:nvPr>
        </p:nvSpPr>
        <p:spPr>
          <a:xfrm>
            <a:off x="656380" y="1221206"/>
            <a:ext cx="10553065" cy="4228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1342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1" type="ftr"/>
          </p:nvPr>
        </p:nvSpPr>
        <p:spPr>
          <a:xfrm>
            <a:off x="5835172" y="6582022"/>
            <a:ext cx="5238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679">
              <a:lnSpc>
                <a:spcPct val="104761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679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9749200d_0_0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g3a59749200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0288" y="2307236"/>
            <a:ext cx="4331424" cy="116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3a59749200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7402" y="1206138"/>
            <a:ext cx="2237198" cy="90173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a59749200d_0_0"/>
          <p:cNvSpPr txBox="1"/>
          <p:nvPr/>
        </p:nvSpPr>
        <p:spPr>
          <a:xfrm>
            <a:off x="-1" y="3724635"/>
            <a:ext cx="121920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Máster en Big Data &amp; Cloud | VII Edición</a:t>
            </a:r>
            <a:endParaRPr b="0" i="0" sz="40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Pyspark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Ignacio Reyes Vázquez</a:t>
            </a:r>
            <a:endParaRPr b="0" i="0" sz="24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1176027" y="3304275"/>
            <a:ext cx="7218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1. Catalyst &amp; CBO</a:t>
            </a:r>
            <a:endParaRPr sz="6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6" name="Google Shape;66;p2"/>
          <p:cNvSpPr txBox="1"/>
          <p:nvPr>
            <p:ph idx="11" type="ftr"/>
          </p:nvPr>
        </p:nvSpPr>
        <p:spPr>
          <a:xfrm>
            <a:off x="5835178" y="6582025"/>
            <a:ext cx="104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CATALYST &amp; CBO</a:t>
            </a:r>
            <a:endParaRPr/>
          </a:p>
        </p:txBody>
      </p:sp>
      <p:sp>
        <p:nvSpPr>
          <p:cNvPr id="67" name="Google Shape;67;p2"/>
          <p:cNvSpPr txBox="1"/>
          <p:nvPr>
            <p:ph idx="12" type="sldNum"/>
          </p:nvPr>
        </p:nvSpPr>
        <p:spPr>
          <a:xfrm>
            <a:off x="10945920" y="6574020"/>
            <a:ext cx="22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/>
        </p:nvSpPr>
        <p:spPr>
          <a:xfrm>
            <a:off x="656453" y="1233501"/>
            <a:ext cx="105525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 sz="1600">
                <a:latin typeface="Candara"/>
                <a:ea typeface="Candara"/>
                <a:cs typeface="Candara"/>
                <a:sym typeface="Candara"/>
              </a:rPr>
              <a:t>El optimizador Catalyst (cerebro de spark) toma una consulta y decide la mejor manera de ejecutarla. Para ello, pasa por cuatro fases:</a:t>
            </a:r>
            <a:endParaRPr sz="1600">
              <a:latin typeface="Candara"/>
              <a:ea typeface="Candara"/>
              <a:cs typeface="Candara"/>
              <a:sym typeface="Candar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100"/>
              <a:buFont typeface="Candara"/>
              <a:buChar char="●"/>
            </a:pPr>
            <a:r>
              <a:rPr lang="en-US" sz="1600">
                <a:latin typeface="Candara"/>
                <a:ea typeface="Candara"/>
                <a:cs typeface="Candara"/>
                <a:sym typeface="Candara"/>
              </a:rPr>
              <a:t>Fase 1: Análisis</a:t>
            </a:r>
            <a:endParaRPr sz="1600">
              <a:latin typeface="Candara"/>
              <a:ea typeface="Candara"/>
              <a:cs typeface="Candara"/>
              <a:sym typeface="Candar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 sz="1600">
                <a:latin typeface="Candara"/>
                <a:ea typeface="Candara"/>
                <a:cs typeface="Candara"/>
                <a:sym typeface="Candara"/>
              </a:rPr>
              <a:t>Spark SQL interpreta la consulta y construye un árbol que representa su estructura. En esta etapa comprueba que las tablas, columnas y tipos de datos sean correctos antes de continuar.</a:t>
            </a:r>
            <a:endParaRPr sz="1600">
              <a:latin typeface="Candara"/>
              <a:ea typeface="Candara"/>
              <a:cs typeface="Candara"/>
              <a:sym typeface="Candar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100"/>
              <a:buFont typeface="Candara"/>
              <a:buChar char="●"/>
            </a:pPr>
            <a:r>
              <a:rPr lang="en-US" sz="1600">
                <a:latin typeface="Candara"/>
                <a:ea typeface="Candara"/>
                <a:cs typeface="Candara"/>
                <a:sym typeface="Candara"/>
              </a:rPr>
              <a:t>Fase 2: Optimización lógica </a:t>
            </a:r>
            <a:endParaRPr sz="1600">
              <a:latin typeface="Candara"/>
              <a:ea typeface="Candara"/>
              <a:cs typeface="Candara"/>
              <a:sym typeface="Candar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 sz="1600">
                <a:latin typeface="Candara"/>
                <a:ea typeface="Candara"/>
                <a:cs typeface="Candara"/>
                <a:sym typeface="Candara"/>
              </a:rPr>
              <a:t>Catalyst genera diferentes opciones de cómo podría resolverse la consulta. Luego, usando su optimizador basado en costes (CBO), calcula el coste de cada opción y selecciona el plan lógico más eficiente.</a:t>
            </a:r>
            <a:endParaRPr sz="1600"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3" name="Google Shape;73;p3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67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5350496" y="379800"/>
            <a:ext cx="1491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34262"/>
                </a:solidFill>
                <a:latin typeface="Candara"/>
                <a:ea typeface="Candara"/>
                <a:cs typeface="Candara"/>
                <a:sym typeface="Candara"/>
              </a:rPr>
              <a:t>Catalyst</a:t>
            </a:r>
            <a:endParaRPr sz="3200">
              <a:solidFill>
                <a:srgbClr val="13426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25" y="4078826"/>
            <a:ext cx="3038550" cy="20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>
            <p:ph idx="11" type="ftr"/>
          </p:nvPr>
        </p:nvSpPr>
        <p:spPr>
          <a:xfrm>
            <a:off x="5835178" y="6582025"/>
            <a:ext cx="104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CATALYST &amp; CBO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/>
        </p:nvSpPr>
        <p:spPr>
          <a:xfrm>
            <a:off x="757775" y="999100"/>
            <a:ext cx="10835400" cy="24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925">
            <a:sp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100"/>
              <a:buFont typeface="Candara"/>
              <a:buChar char="●"/>
            </a:pPr>
            <a:r>
              <a:rPr lang="en-US" sz="1800">
                <a:latin typeface="Candara"/>
                <a:ea typeface="Candara"/>
                <a:cs typeface="Candara"/>
                <a:sym typeface="Candara"/>
              </a:rPr>
              <a:t>Fase 3: Planificación física</a:t>
            </a:r>
            <a:endParaRPr sz="1800">
              <a:latin typeface="Candara"/>
              <a:ea typeface="Candara"/>
              <a:cs typeface="Candara"/>
              <a:sym typeface="Candar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 sz="1800">
                <a:latin typeface="Candara"/>
                <a:ea typeface="Candara"/>
                <a:cs typeface="Candara"/>
                <a:sym typeface="Candara"/>
              </a:rPr>
              <a:t>Spark SQL toma el plan lógico elegido y lo transforma en un plan físico. En esta etapa determina la mejor estrategia de ejecución posible, seleccionando operadores físicos y métodos de distribución de datos (como shuffle, broadcast o particionamiento) para obtener el máximo rendimiento.</a:t>
            </a:r>
            <a:endParaRPr sz="1800">
              <a:latin typeface="Candara"/>
              <a:ea typeface="Candara"/>
              <a:cs typeface="Candara"/>
              <a:sym typeface="Canda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Candara"/>
              <a:ea typeface="Candara"/>
              <a:cs typeface="Candara"/>
              <a:sym typeface="Candar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100"/>
              <a:buFont typeface="Candara"/>
              <a:buChar char="●"/>
            </a:pPr>
            <a:r>
              <a:rPr lang="en-US" sz="1800">
                <a:latin typeface="Candara"/>
                <a:ea typeface="Candara"/>
                <a:cs typeface="Candara"/>
                <a:sym typeface="Candara"/>
              </a:rPr>
              <a:t>Fase 4: Generación de código</a:t>
            </a:r>
            <a:endParaRPr sz="1800">
              <a:latin typeface="Candara"/>
              <a:ea typeface="Candara"/>
              <a:cs typeface="Candara"/>
              <a:sym typeface="Candara"/>
            </a:endParaRPr>
          </a:p>
          <a:p>
            <a:pPr indent="444500" lvl="0" marL="1270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 sz="1800">
                <a:latin typeface="Candara"/>
                <a:ea typeface="Candara"/>
                <a:cs typeface="Candara"/>
                <a:sym typeface="Candara"/>
              </a:rPr>
              <a:t>Finalmente, Spark SQL convierte el plan físico en código Java bytecode altamente optimizado. </a:t>
            </a:r>
            <a:endParaRPr sz="1800"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5507" y="3839433"/>
            <a:ext cx="5880990" cy="220860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67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5350496" y="379800"/>
            <a:ext cx="1491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34262"/>
                </a:solidFill>
                <a:latin typeface="Candara"/>
                <a:ea typeface="Candara"/>
                <a:cs typeface="Candara"/>
                <a:sym typeface="Candara"/>
              </a:rPr>
              <a:t>Catalyst</a:t>
            </a:r>
            <a:endParaRPr sz="3200">
              <a:solidFill>
                <a:srgbClr val="13426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5" name="Google Shape;85;p4"/>
          <p:cNvSpPr txBox="1"/>
          <p:nvPr>
            <p:ph idx="11" type="ftr"/>
          </p:nvPr>
        </p:nvSpPr>
        <p:spPr>
          <a:xfrm>
            <a:off x="5835178" y="6582025"/>
            <a:ext cx="104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CATALYST &amp; CBO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1176027" y="3304275"/>
            <a:ext cx="838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2. Cache and Persist</a:t>
            </a:r>
            <a:endParaRPr sz="6000"/>
          </a:p>
        </p:txBody>
      </p:sp>
      <p:sp>
        <p:nvSpPr>
          <p:cNvPr id="91" name="Google Shape;91;p6"/>
          <p:cNvSpPr txBox="1"/>
          <p:nvPr>
            <p:ph idx="11" type="ftr"/>
          </p:nvPr>
        </p:nvSpPr>
        <p:spPr>
          <a:xfrm>
            <a:off x="5835178" y="6582025"/>
            <a:ext cx="104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CACHE AND PERSIST</a:t>
            </a:r>
            <a:endParaRPr/>
          </a:p>
        </p:txBody>
      </p:sp>
      <p:sp>
        <p:nvSpPr>
          <p:cNvPr id="92" name="Google Shape;92;p6"/>
          <p:cNvSpPr txBox="1"/>
          <p:nvPr>
            <p:ph idx="12" type="sldNum"/>
          </p:nvPr>
        </p:nvSpPr>
        <p:spPr>
          <a:xfrm>
            <a:off x="10945920" y="6574020"/>
            <a:ext cx="22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4220439" y="380301"/>
            <a:ext cx="37512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476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ndara"/>
                <a:ea typeface="Candara"/>
                <a:cs typeface="Candara"/>
                <a:sym typeface="Candara"/>
              </a:rPr>
              <a:t>Cache and Persist</a:t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657217" y="1233501"/>
            <a:ext cx="10551900" cy="21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04138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 sz="1700">
                <a:latin typeface="Candara"/>
                <a:ea typeface="Candara"/>
                <a:cs typeface="Candara"/>
                <a:sym typeface="Candara"/>
              </a:rPr>
              <a:t>Ambos métodos ayudan a mejorar el rendimiento de DataFrames o tablas usados con frecuencia. La diferencia está en el control sobre el almacenamiento:</a:t>
            </a:r>
            <a:endParaRPr sz="1700">
              <a:latin typeface="Candara"/>
              <a:ea typeface="Candara"/>
              <a:cs typeface="Candara"/>
              <a:sym typeface="Candara"/>
            </a:endParaRPr>
          </a:p>
          <a:p>
            <a:pPr indent="0" lvl="0" marL="104138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ndara"/>
              <a:ea typeface="Candara"/>
              <a:cs typeface="Candara"/>
              <a:sym typeface="Candara"/>
            </a:endParaRPr>
          </a:p>
          <a:p>
            <a:pPr indent="0" lvl="0" marL="104138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 sz="1700">
                <a:latin typeface="Candara"/>
                <a:ea typeface="Candara"/>
                <a:cs typeface="Candara"/>
                <a:sym typeface="Candara"/>
              </a:rPr>
              <a:t>.cache() → guarda los datos </a:t>
            </a:r>
            <a:r>
              <a:rPr lang="en-US" sz="1700">
                <a:latin typeface="Candara"/>
                <a:ea typeface="Candara"/>
                <a:cs typeface="Candara"/>
                <a:sym typeface="Candara"/>
              </a:rPr>
              <a:t>sólo</a:t>
            </a:r>
            <a:r>
              <a:rPr lang="en-US" sz="1700">
                <a:latin typeface="Candara"/>
                <a:ea typeface="Candara"/>
                <a:cs typeface="Candara"/>
                <a:sym typeface="Candara"/>
              </a:rPr>
              <a:t> en memoria.</a:t>
            </a:r>
            <a:endParaRPr sz="1700">
              <a:latin typeface="Candara"/>
              <a:ea typeface="Candara"/>
              <a:cs typeface="Candara"/>
              <a:sym typeface="Candara"/>
            </a:endParaRPr>
          </a:p>
          <a:p>
            <a:pPr indent="0" lvl="0" marL="104138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 sz="1700">
                <a:latin typeface="Candara"/>
                <a:ea typeface="Candara"/>
                <a:cs typeface="Candara"/>
                <a:sym typeface="Candara"/>
              </a:rPr>
              <a:t>.persist() → permite definir el nivel de almacenamiento (memoria, disco, etc.).</a:t>
            </a:r>
            <a:endParaRPr sz="1700">
              <a:latin typeface="Candara"/>
              <a:ea typeface="Candara"/>
              <a:cs typeface="Candara"/>
              <a:sym typeface="Candara"/>
            </a:endParaRPr>
          </a:p>
          <a:p>
            <a:pPr indent="0" lvl="0" marL="104139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 sz="1700">
                <a:latin typeface="Candara"/>
                <a:ea typeface="Candara"/>
                <a:cs typeface="Candara"/>
                <a:sym typeface="Candara"/>
              </a:rPr>
              <a:t>.unpersist() → elimina el DataFrame del caché.</a:t>
            </a:r>
            <a:endParaRPr sz="1700"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852" y="4026010"/>
            <a:ext cx="7867637" cy="193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67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1" type="ftr"/>
          </p:nvPr>
        </p:nvSpPr>
        <p:spPr>
          <a:xfrm>
            <a:off x="5835178" y="6582025"/>
            <a:ext cx="104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CACHE AND PERSIST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67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8"/>
          <p:cNvSpPr txBox="1"/>
          <p:nvPr>
            <p:ph idx="1" type="body"/>
          </p:nvPr>
        </p:nvSpPr>
        <p:spPr>
          <a:xfrm>
            <a:off x="656380" y="1221206"/>
            <a:ext cx="105531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150">
            <a:spAutoFit/>
          </a:bodyPr>
          <a:lstStyle/>
          <a:p>
            <a:pPr indent="-1270" lvl="0" marL="13970" marR="5080" rtl="0" algn="l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Cuándo almacenar en caché y conservar</a:t>
            </a:r>
            <a:endParaRPr sz="180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-317500" lvl="0" marL="457200" marR="5080" rtl="0" algn="l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SzPts val="1400"/>
              <a:buChar char="●"/>
            </a:pPr>
            <a:r>
              <a:rPr b="0" lang="en-US" sz="18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Si desea acceder repetidamente a un conjunto de datos grande para realizar consultas o transformaciones. Algunos ejemplos son:</a:t>
            </a:r>
            <a:endParaRPr b="0" sz="180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-317500" lvl="0" marL="9144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0" lang="en-US" sz="18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DataFrames que se utilizan habitualmente durante el entrenamiento iterativo de aprendizaje automático.</a:t>
            </a:r>
            <a:endParaRPr b="0" sz="180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-317500" lvl="0" marL="9144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0" lang="en-US" sz="18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DataFrames a los que se accede habitualmente para realizar transformaciones frecuentes durante ETL o la creación de canalizaciones de datos.</a:t>
            </a:r>
            <a:endParaRPr b="0" sz="180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914400" marR="5080" rtl="0" algn="l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Cuándo no almacenar en caché y conservar</a:t>
            </a:r>
            <a:endParaRPr sz="180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-317500" lvl="0" marL="457200" marR="5080" rtl="0" algn="l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SzPts val="1400"/>
              <a:buChar char="●"/>
            </a:pPr>
            <a:r>
              <a:rPr b="0" lang="en-US" sz="18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Cuando los DataFrames son demasiado grandes para caber en la memoria o cuando se trata de una transformación económica en un DataFrame que no requiere un uso frecuente.</a:t>
            </a:r>
            <a:endParaRPr/>
          </a:p>
          <a:p>
            <a:pPr indent="-1270" lvl="0" marL="13970" marR="5080" rtl="0" algn="l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 txBox="1"/>
          <p:nvPr>
            <p:ph type="title"/>
          </p:nvPr>
        </p:nvSpPr>
        <p:spPr>
          <a:xfrm>
            <a:off x="4220439" y="380301"/>
            <a:ext cx="37512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476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ndara"/>
                <a:ea typeface="Candara"/>
                <a:cs typeface="Candara"/>
                <a:sym typeface="Candara"/>
              </a:rPr>
              <a:t>Cache and Persist</a:t>
            </a:r>
            <a:endParaRPr/>
          </a:p>
        </p:txBody>
      </p:sp>
      <p:sp>
        <p:nvSpPr>
          <p:cNvPr id="109" name="Google Shape;109;p8"/>
          <p:cNvSpPr txBox="1"/>
          <p:nvPr>
            <p:ph idx="11" type="ftr"/>
          </p:nvPr>
        </p:nvSpPr>
        <p:spPr>
          <a:xfrm>
            <a:off x="5835178" y="6582025"/>
            <a:ext cx="104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CACHE AND PERSIST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>
            <p:ph type="title"/>
          </p:nvPr>
        </p:nvSpPr>
        <p:spPr>
          <a:xfrm>
            <a:off x="1176027" y="3304275"/>
            <a:ext cx="90864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2. Different Spark Joins</a:t>
            </a:r>
            <a:endParaRPr sz="6000"/>
          </a:p>
        </p:txBody>
      </p:sp>
      <p:sp>
        <p:nvSpPr>
          <p:cNvPr id="115" name="Google Shape;115;p9"/>
          <p:cNvSpPr txBox="1"/>
          <p:nvPr>
            <p:ph idx="11" type="ftr"/>
          </p:nvPr>
        </p:nvSpPr>
        <p:spPr>
          <a:xfrm>
            <a:off x="5835174" y="6582025"/>
            <a:ext cx="1365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DIFFERENT</a:t>
            </a:r>
            <a:r>
              <a:rPr lang="en-US"/>
              <a:t> SPARK JOINS</a:t>
            </a:r>
            <a:endParaRPr/>
          </a:p>
        </p:txBody>
      </p:sp>
      <p:sp>
        <p:nvSpPr>
          <p:cNvPr id="116" name="Google Shape;116;p9"/>
          <p:cNvSpPr txBox="1"/>
          <p:nvPr>
            <p:ph idx="12" type="sldNum"/>
          </p:nvPr>
        </p:nvSpPr>
        <p:spPr>
          <a:xfrm>
            <a:off x="10945920" y="6574020"/>
            <a:ext cx="22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4220453" y="380300"/>
            <a:ext cx="47802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ndara"/>
                <a:ea typeface="Candara"/>
                <a:cs typeface="Candara"/>
                <a:sym typeface="Candara"/>
              </a:rPr>
              <a:t>Broadcast Hash Join</a:t>
            </a:r>
            <a:endParaRPr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122" name="Google Shape;1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525" y="3570850"/>
            <a:ext cx="4103949" cy="23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0"/>
          <p:cNvSpPr txBox="1"/>
          <p:nvPr/>
        </p:nvSpPr>
        <p:spPr>
          <a:xfrm>
            <a:off x="657227" y="1221200"/>
            <a:ext cx="10984800" cy="2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15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latin typeface="Candara"/>
                <a:ea typeface="Candara"/>
                <a:cs typeface="Candara"/>
                <a:sym typeface="Candara"/>
              </a:rPr>
              <a:t>Se usa cuando se hace un join entre un conjunto de datos grande o mediano y uno pequeño. La tabla pequeña es lo suficientemente ligera para copiarse en todos los ejecutores, evitando costosas reorganizaciones de datos (shuffle).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800">
                <a:latin typeface="Candara"/>
                <a:ea typeface="Candara"/>
                <a:cs typeface="Candara"/>
                <a:sym typeface="Candara"/>
              </a:rPr>
              <a:t>El tamaño máximo de la tabla pequeña se controla con spark.sql.autoBroadcastJoinThreshold, que por defecto es 10 MB. Se puede ajustar según la aplicación o desactivar poniéndolo en -1.</a:t>
            </a:r>
            <a:endParaRPr sz="1100">
              <a:solidFill>
                <a:schemeClr val="dk1"/>
              </a:solidFill>
            </a:endParaRPr>
          </a:p>
          <a:p>
            <a:pPr indent="0" lvl="0" marL="0" marR="341757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0"/>
          <p:cNvSpPr txBox="1"/>
          <p:nvPr/>
        </p:nvSpPr>
        <p:spPr>
          <a:xfrm>
            <a:off x="6391775" y="3832200"/>
            <a:ext cx="4780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df_grande = spark.read.parquet(</a:t>
            </a:r>
            <a:r>
              <a:rPr lang="en-US" sz="1300">
                <a:solidFill>
                  <a:srgbClr val="980000"/>
                </a:solidFill>
                <a:latin typeface="Candara"/>
                <a:ea typeface="Candara"/>
                <a:cs typeface="Candara"/>
                <a:sym typeface="Candara"/>
              </a:rPr>
              <a:t>"grande.parquet"</a:t>
            </a: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)</a:t>
            </a:r>
            <a:endParaRPr sz="1300"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df_pequeno = spark.read.parquet(</a:t>
            </a:r>
            <a:r>
              <a:rPr lang="en-US" sz="1300">
                <a:solidFill>
                  <a:srgbClr val="980000"/>
                </a:solidFill>
                <a:latin typeface="Candara"/>
                <a:ea typeface="Candara"/>
                <a:cs typeface="Candara"/>
                <a:sym typeface="Candara"/>
              </a:rPr>
              <a:t>"pequeno.parquet"</a:t>
            </a: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)</a:t>
            </a:r>
            <a:endParaRPr sz="1300"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# Join normal (puede generar shuffle)</a:t>
            </a:r>
            <a:endParaRPr sz="1300"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df_join1 = df_grande.join(df_pequeno, </a:t>
            </a:r>
            <a:r>
              <a:rPr lang="en-US" sz="1300">
                <a:solidFill>
                  <a:srgbClr val="980000"/>
                </a:solidFill>
                <a:latin typeface="Candara"/>
                <a:ea typeface="Candara"/>
                <a:cs typeface="Candara"/>
                <a:sym typeface="Candara"/>
              </a:rPr>
              <a:t>"id"</a:t>
            </a: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)</a:t>
            </a:r>
            <a:endParaRPr sz="1300"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# Broadcast join (mejora rendimiento si df_pequeno es pequeño)</a:t>
            </a:r>
            <a:endParaRPr sz="1300">
              <a:latin typeface="Candara"/>
              <a:ea typeface="Candara"/>
              <a:cs typeface="Candara"/>
              <a:sym typeface="Canda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df_join2 = df_grande.join(broadcast(df_pequeno),</a:t>
            </a:r>
            <a:r>
              <a:rPr lang="en-US" sz="1300">
                <a:solidFill>
                  <a:srgbClr val="980000"/>
                </a:solidFill>
                <a:latin typeface="Candara"/>
                <a:ea typeface="Candara"/>
                <a:cs typeface="Candara"/>
                <a:sym typeface="Candara"/>
              </a:rPr>
              <a:t> "id"</a:t>
            </a:r>
            <a:r>
              <a:rPr lang="en-US" sz="1300">
                <a:latin typeface="Candara"/>
                <a:ea typeface="Candara"/>
                <a:cs typeface="Candara"/>
                <a:sym typeface="Candara"/>
              </a:rPr>
              <a:t>)</a:t>
            </a:r>
            <a:endParaRPr sz="900"/>
          </a:p>
        </p:txBody>
      </p:sp>
      <p:sp>
        <p:nvSpPr>
          <p:cNvPr id="126" name="Google Shape;126;p10"/>
          <p:cNvSpPr txBox="1"/>
          <p:nvPr>
            <p:ph idx="11" type="ftr"/>
          </p:nvPr>
        </p:nvSpPr>
        <p:spPr>
          <a:xfrm>
            <a:off x="5835174" y="6582025"/>
            <a:ext cx="1365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DIFFERENT SPARK JOINS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/>
        </p:nvSpPr>
        <p:spPr>
          <a:xfrm>
            <a:off x="657217" y="1029200"/>
            <a:ext cx="11092500" cy="1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150">
            <a:spAutoFit/>
          </a:bodyPr>
          <a:lstStyle/>
          <a:p>
            <a:pPr indent="-335915" lvl="0" marL="354965" rtl="0" algn="l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800">
                <a:latin typeface="Candara"/>
                <a:ea typeface="Candara"/>
                <a:cs typeface="Candara"/>
                <a:sym typeface="Candara"/>
              </a:rPr>
              <a:t>El Shuffle Sort Merge Join se usa cuando se unen dos conjuntos de datos grandes. Es la estrategia de join por defecto en Spark desde la versión 2.3.</a:t>
            </a:r>
            <a:endParaRPr sz="1800">
              <a:latin typeface="Candara"/>
              <a:ea typeface="Candara"/>
              <a:cs typeface="Candara"/>
              <a:sym typeface="Candara"/>
            </a:endParaRPr>
          </a:p>
          <a:p>
            <a:pPr indent="-335915" lvl="0" marL="354965" rtl="0" algn="l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800">
                <a:latin typeface="Candara"/>
                <a:ea typeface="Candara"/>
                <a:cs typeface="Candara"/>
                <a:sym typeface="Candara"/>
              </a:rPr>
              <a:t>Funciona así: primero reorganiza (shuffle) los datos por las claves de unión, luego los ordena y combina. Para usarlo, las claves de unión deben ser ordenables.</a:t>
            </a:r>
            <a:endParaRPr sz="1800">
              <a:latin typeface="Candara"/>
              <a:ea typeface="Candara"/>
              <a:cs typeface="Candara"/>
              <a:sym typeface="Candara"/>
            </a:endParaRPr>
          </a:p>
          <a:p>
            <a:pPr indent="-304165" lvl="0" marL="354965" rtl="0" algn="l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US" sz="1800">
                <a:latin typeface="Candara"/>
                <a:ea typeface="Candara"/>
                <a:cs typeface="Candara"/>
                <a:sym typeface="Candara"/>
              </a:rPr>
              <a:t>Se puede desactivar con: spark.sql.join.preferSortMergeJoin = false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860" y="3597752"/>
            <a:ext cx="4049226" cy="240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 txBox="1"/>
          <p:nvPr>
            <p:ph idx="12" type="sldNum"/>
          </p:nvPr>
        </p:nvSpPr>
        <p:spPr>
          <a:xfrm>
            <a:off x="10945920" y="6574020"/>
            <a:ext cx="2260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1"/>
          <p:cNvSpPr txBox="1"/>
          <p:nvPr>
            <p:ph type="title"/>
          </p:nvPr>
        </p:nvSpPr>
        <p:spPr>
          <a:xfrm>
            <a:off x="3705900" y="222500"/>
            <a:ext cx="47802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ndara"/>
                <a:ea typeface="Candara"/>
                <a:cs typeface="Candara"/>
                <a:sym typeface="Candara"/>
              </a:rPr>
              <a:t>Shuffle Sort Merge Join</a:t>
            </a:r>
            <a:endParaRPr>
              <a:latin typeface="Candara"/>
              <a:ea typeface="Candara"/>
              <a:cs typeface="Candara"/>
              <a:sym typeface="Candara"/>
            </a:endParaRPr>
          </a:p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5" name="Google Shape;135;p11"/>
          <p:cNvSpPr txBox="1"/>
          <p:nvPr>
            <p:ph idx="11" type="ftr"/>
          </p:nvPr>
        </p:nvSpPr>
        <p:spPr>
          <a:xfrm>
            <a:off x="5835174" y="6582025"/>
            <a:ext cx="1365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DIFFERENT SPARK JOINS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a59749200d_0_78" title="Código QR para PySpark - Ignacio Reyes Vázquez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813" y="264125"/>
            <a:ext cx="5678373" cy="567837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a59749200d_0_78"/>
          <p:cNvSpPr txBox="1"/>
          <p:nvPr>
            <p:ph idx="11" type="ftr"/>
          </p:nvPr>
        </p:nvSpPr>
        <p:spPr>
          <a:xfrm>
            <a:off x="5835177" y="6582025"/>
            <a:ext cx="856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API</a:t>
            </a:r>
            <a:endParaRPr/>
          </a:p>
        </p:txBody>
      </p:sp>
      <p:sp>
        <p:nvSpPr>
          <p:cNvPr id="142" name="Google Shape;142;g3a59749200d_0_78"/>
          <p:cNvSpPr txBox="1"/>
          <p:nvPr>
            <p:ph idx="12" type="sldNum"/>
          </p:nvPr>
        </p:nvSpPr>
        <p:spPr>
          <a:xfrm>
            <a:off x="10945930" y="6574023"/>
            <a:ext cx="45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679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g3a59749200d_0_78"/>
          <p:cNvSpPr txBox="1"/>
          <p:nvPr>
            <p:ph idx="11" type="ftr"/>
          </p:nvPr>
        </p:nvSpPr>
        <p:spPr>
          <a:xfrm>
            <a:off x="5835174" y="6582025"/>
            <a:ext cx="1365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DIFFERENT SPARK JOINS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9F2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2025-11-18T18:39:49Z</dcterms:created>
  <dc:creator>Pablo Pons Roger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2024-01-11T00:00:00Z</vt:filetime>
  </property>
  <property fmtid="{D5CDD505-2E9C-101B-9397-08002B2CF9AE}" pid="3" name="Creator">
    <vt:lpwstr>Acrobat PDFMaker 19 para PowerPoint</vt:lpwstr>
  </property>
  <property fmtid="{D5CDD505-2E9C-101B-9397-08002B2CF9AE}" pid="4" name="LastSaved">
    <vt:filetime>2025-11-18T00:00:00Z</vt:filetime>
  </property>
  <property fmtid="{D5CDD505-2E9C-101B-9397-08002B2CF9AE}" pid="5" name="Producer">
    <vt:lpwstr>Adobe PDF Library 19.10.123</vt:lpwstr>
  </property>
</Properties>
</file>